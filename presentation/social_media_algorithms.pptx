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Hello everyone. My name is Anastasia. Today I will talk about social media algorithms. We use social media every day, but we do not always understand how it works. In my presentation, I will explain how algorithms change our behavior and our mood.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what is an algorithm? An algorithm is a list of rules that a computer follows. On social media, the algorithm chooses the posts and videos for you. It looks at what you like, what you watch, and how long you watch it. Then it shows you more of the same content.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Algorithms work in four simple steps. First, they collect data about you. Second, they analyze this data. Third, they predict what you will enjoy. Finally, they show you more videos and posts like that. A good example is the TikTok 'For You' page — it learns very fast.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Companies use algorithms for business. The main goal is to keep you in the app for a long time. When you stay longer, you see more ads. More ads mean more money for the company. Instagram and YouTube earn billions of dollars in this way every year.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Algorithms are not only bad. They have many positive sides. They help us find content that we really like very quickly. We discover new hobbies, new music, and new people. Small creators can become famous in one night. And on YouTube, we can learn almost anything for free.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But algorithms also have negative effects. People spend too many hours on the phone. The algorithm shows us only what we already like, so we live in a 'filter bubble'. We compare our real life to perfect photos on Instagram, and we feel bad. Many young people sleep less because of social media.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Algorithms prefer content with strong emotions, because it gets more clicks. This is why fake news travels very fast — six times faster than real news, according to MIT. Some companies and politicians use this to change our opinions. A famous example is the Cambridge Analytica scandal on Facebook in 2018.</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Social media can be addictive, like a game. Every like and every new video gives a small dopamine reward in the brain. Studies show that teenagers who spend more than three hours a day on social media have a higher risk of depression. TikTok and Instagram Reels are designed to keep us scrolling forever.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good news is that we can take back control. First, set a time limit on your apps — every phone has this option. Second, turn off notifications, because they break your focus. Third, follow people who inspire you, not people who make you feel bad. And try to take one day a week without social media — your brain will thank you.</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social media algorithms are very powerful. They help us, but they also influence our emotions, our time, and even our opinions. We cannot stop using social media, but we can be smart users. If we know how the system works, we are in control — not the algorithm. Thank you for your attention. I will be happy to answer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808415" y="3474720"/>
            <a:ext cx="6400800" cy="6400800"/>
          </a:xfrm>
          <a:prstGeom prst="ellipse">
            <a:avLst/>
          </a:prstGeom>
          <a:solidFill>
            <a:srgbClr val="5A8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631375" y="4297680"/>
            <a:ext cx="4754880" cy="4754880"/>
          </a:xfrm>
          <a:prstGeom prst="ellipse">
            <a:avLst/>
          </a:prstGeom>
          <a:solidFill>
            <a:srgbClr val="8DB0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0"/>
            <a:ext cx="7315200" cy="457200"/>
          </a:xfrm>
          <a:prstGeom prst="rect">
            <a:avLst/>
          </a:prstGeom>
          <a:noFill/>
        </p:spPr>
        <p:txBody>
          <a:bodyPr wrap="square" lIns="0" rIns="0" tIns="0" bIns="0" anchor="t">
            <a:spAutoFit/>
          </a:bodyPr>
          <a:lstStyle/>
          <a:p>
            <a:pPr algn="l"/>
            <a:r>
              <a:rPr sz="1400" b="1">
                <a:solidFill>
                  <a:srgbClr val="5A8DEE"/>
                </a:solidFill>
                <a:latin typeface="Inter"/>
              </a:rPr>
              <a:t>FINAL PROJECT  •  2026</a:t>
            </a:r>
          </a:p>
        </p:txBody>
      </p:sp>
      <p:sp>
        <p:nvSpPr>
          <p:cNvPr id="6" name="TextBox 5"/>
          <p:cNvSpPr txBox="1"/>
          <p:nvPr/>
        </p:nvSpPr>
        <p:spPr>
          <a:xfrm>
            <a:off x="640080" y="1645920"/>
            <a:ext cx="10058400" cy="2286000"/>
          </a:xfrm>
          <a:prstGeom prst="rect">
            <a:avLst/>
          </a:prstGeom>
          <a:noFill/>
        </p:spPr>
        <p:txBody>
          <a:bodyPr wrap="square" lIns="0" rIns="0" tIns="0" bIns="0" anchor="t">
            <a:spAutoFit/>
          </a:bodyPr>
          <a:lstStyle/>
          <a:p>
            <a:pPr algn="l"/>
            <a:r>
              <a:rPr sz="5400" b="1">
                <a:solidFill>
                  <a:srgbClr val="1E1E2E"/>
                </a:solidFill>
                <a:latin typeface="Montserrat"/>
              </a:rPr>
              <a:t>How Social Media</a:t>
            </a:r>
          </a:p>
          <a:p>
            <a:pPr algn="l"/>
            <a:r>
              <a:rPr sz="5400" b="1">
                <a:solidFill>
                  <a:srgbClr val="1E1E2E"/>
                </a:solidFill>
                <a:latin typeface="Montserrat"/>
              </a:rPr>
              <a:t>Algorithms</a:t>
            </a:r>
          </a:p>
          <a:p>
            <a:pPr algn="l"/>
            <a:r>
              <a:rPr sz="5400" b="1">
                <a:solidFill>
                  <a:srgbClr val="1E1E2E"/>
                </a:solidFill>
                <a:latin typeface="Montserrat"/>
              </a:rPr>
              <a:t>Influence People</a:t>
            </a:r>
          </a:p>
        </p:txBody>
      </p:sp>
      <p:sp>
        <p:nvSpPr>
          <p:cNvPr id="7" name="TextBox 6"/>
          <p:cNvSpPr txBox="1"/>
          <p:nvPr/>
        </p:nvSpPr>
        <p:spPr>
          <a:xfrm>
            <a:off x="640080" y="4572000"/>
            <a:ext cx="9144000" cy="457200"/>
          </a:xfrm>
          <a:prstGeom prst="rect">
            <a:avLst/>
          </a:prstGeom>
          <a:noFill/>
        </p:spPr>
        <p:txBody>
          <a:bodyPr wrap="square" lIns="0" rIns="0" tIns="0" bIns="0" anchor="t">
            <a:spAutoFit/>
          </a:bodyPr>
          <a:lstStyle/>
          <a:p>
            <a:pPr algn="l"/>
            <a:r>
              <a:rPr sz="1800" b="0">
                <a:solidFill>
                  <a:srgbClr val="222831"/>
                </a:solidFill>
                <a:latin typeface="Inter"/>
              </a:rPr>
              <a:t>Anastasia Mogileva  •  English Final Project</a:t>
            </a:r>
          </a:p>
        </p:txBody>
      </p:sp>
      <p:sp>
        <p:nvSpPr>
          <p:cNvPr id="8" name="TextBox 7"/>
          <p:cNvSpPr txBox="1"/>
          <p:nvPr/>
        </p:nvSpPr>
        <p:spPr>
          <a:xfrm>
            <a:off x="640080" y="5029200"/>
            <a:ext cx="9144000" cy="365760"/>
          </a:xfrm>
          <a:prstGeom prst="rect">
            <a:avLst/>
          </a:prstGeom>
          <a:noFill/>
        </p:spPr>
        <p:txBody>
          <a:bodyPr wrap="square" lIns="0" rIns="0" tIns="0" bIns="0" anchor="t">
            <a:spAutoFit/>
          </a:bodyPr>
          <a:lstStyle/>
          <a:p>
            <a:pPr algn="l"/>
            <a:r>
              <a:rPr sz="1400" b="0">
                <a:solidFill>
                  <a:srgbClr val="6B7280"/>
                </a:solidFill>
                <a:latin typeface="Inter"/>
              </a:rPr>
              <a:t>TikTok  ·  Instagram  ·  YouTube  ·  Facebook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271455" y="-1005840"/>
            <a:ext cx="2926080" cy="2926080"/>
          </a:xfrm>
          <a:prstGeom prst="ellipse">
            <a:avLst/>
          </a:prstGeom>
          <a:solidFill>
            <a:srgbClr val="5A8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48640"/>
            <a:ext cx="9144000" cy="365760"/>
          </a:xfrm>
          <a:prstGeom prst="rect">
            <a:avLst/>
          </a:prstGeom>
          <a:noFill/>
        </p:spPr>
        <p:txBody>
          <a:bodyPr wrap="square" lIns="0" rIns="0" tIns="0" bIns="0" anchor="t">
            <a:spAutoFit/>
          </a:bodyPr>
          <a:lstStyle/>
          <a:p>
            <a:pPr algn="l"/>
            <a:r>
              <a:rPr sz="1200" b="1">
                <a:solidFill>
                  <a:srgbClr val="5A8DEE"/>
                </a:solidFill>
                <a:latin typeface="Inter"/>
              </a:rPr>
              <a:t>01  •  DEFINITION</a:t>
            </a:r>
          </a:p>
        </p:txBody>
      </p:sp>
      <p:sp>
        <p:nvSpPr>
          <p:cNvPr id="5" name="TextBox 4"/>
          <p:cNvSpPr txBox="1"/>
          <p:nvPr/>
        </p:nvSpPr>
        <p:spPr>
          <a:xfrm>
            <a:off x="640080" y="914400"/>
            <a:ext cx="10972800" cy="914400"/>
          </a:xfrm>
          <a:prstGeom prst="rect">
            <a:avLst/>
          </a:prstGeom>
          <a:noFill/>
        </p:spPr>
        <p:txBody>
          <a:bodyPr wrap="square" lIns="0" rIns="0" tIns="0" bIns="0" anchor="t">
            <a:spAutoFit/>
          </a:bodyPr>
          <a:lstStyle/>
          <a:p>
            <a:pPr algn="l"/>
            <a:r>
              <a:rPr sz="3600" b="1">
                <a:solidFill>
                  <a:srgbClr val="1E1E2E"/>
                </a:solidFill>
                <a:latin typeface="Montserrat"/>
              </a:rPr>
              <a:t>What Are Social Media Algorithms?</a:t>
            </a:r>
          </a:p>
        </p:txBody>
      </p:sp>
      <p:sp>
        <p:nvSpPr>
          <p:cNvPr id="6" name="Rounded Rectangle 5"/>
          <p:cNvSpPr/>
          <p:nvPr/>
        </p:nvSpPr>
        <p:spPr>
          <a:xfrm>
            <a:off x="640080" y="2194560"/>
            <a:ext cx="5486400" cy="36576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468880"/>
            <a:ext cx="4937760" cy="3200400"/>
          </a:xfrm>
          <a:prstGeom prst="rect">
            <a:avLst/>
          </a:prstGeom>
          <a:noFill/>
        </p:spPr>
        <p:txBody>
          <a:bodyPr wrap="square" lIns="0" rIns="0" tIns="0" bIns="0" anchor="t">
            <a:spAutoFit/>
          </a:bodyPr>
          <a:lstStyle/>
          <a:p>
            <a:pPr algn="l"/>
            <a:r>
              <a:rPr sz="2200" b="1">
                <a:solidFill>
                  <a:srgbClr val="1E1E2E"/>
                </a:solidFill>
                <a:latin typeface="Montserrat"/>
              </a:rPr>
              <a:t>An algorithm is a set of rules</a:t>
            </a:r>
          </a:p>
          <a:p>
            <a:pPr algn="l"/>
            <a:r>
              <a:rPr sz="2200" b="1">
                <a:solidFill>
                  <a:srgbClr val="1E1E2E"/>
                </a:solidFill>
                <a:latin typeface="Montserrat"/>
              </a:rPr>
              <a:t>that a computer follows.</a:t>
            </a:r>
          </a:p>
        </p:txBody>
      </p:sp>
      <p:sp>
        <p:nvSpPr>
          <p:cNvPr id="8" name="TextBox 7"/>
          <p:cNvSpPr txBox="1"/>
          <p:nvPr/>
        </p:nvSpPr>
        <p:spPr>
          <a:xfrm>
            <a:off x="914400" y="3657600"/>
            <a:ext cx="4937760" cy="2194560"/>
          </a:xfrm>
          <a:prstGeom prst="rect">
            <a:avLst/>
          </a:prstGeom>
          <a:noFill/>
        </p:spPr>
        <p:txBody>
          <a:bodyPr wrap="square" lIns="0" rIns="0" tIns="0" bIns="0">
            <a:spAutoFit/>
          </a:bodyPr>
          <a:lstStyle/>
          <a:p>
            <a:pPr algn="l">
              <a:lnSpc>
                <a:spcPct val="125000"/>
              </a:lnSpc>
              <a:spcAft>
                <a:spcPts val="600"/>
              </a:spcAft>
            </a:pPr>
            <a:r>
              <a:rPr sz="1600" b="1">
                <a:solidFill>
                  <a:srgbClr val="5A8DEE"/>
                </a:solidFill>
                <a:latin typeface="Inter"/>
              </a:rPr>
              <a:t>•  </a:t>
            </a:r>
            <a:r>
              <a:rPr sz="1600">
                <a:solidFill>
                  <a:srgbClr val="222831"/>
                </a:solidFill>
                <a:latin typeface="Inter"/>
              </a:rPr>
              <a:t>It decides WHAT you see</a:t>
            </a:r>
          </a:p>
          <a:p>
            <a:pPr algn="l">
              <a:lnSpc>
                <a:spcPct val="125000"/>
              </a:lnSpc>
              <a:spcAft>
                <a:spcPts val="600"/>
              </a:spcAft>
            </a:pPr>
            <a:r>
              <a:rPr sz="1600" b="1">
                <a:solidFill>
                  <a:srgbClr val="5A8DEE"/>
                </a:solidFill>
                <a:latin typeface="Inter"/>
              </a:rPr>
              <a:t>•  </a:t>
            </a:r>
            <a:r>
              <a:rPr sz="1600">
                <a:solidFill>
                  <a:srgbClr val="222831"/>
                </a:solidFill>
                <a:latin typeface="Inter"/>
              </a:rPr>
              <a:t>It decides WHEN you see it</a:t>
            </a:r>
          </a:p>
          <a:p>
            <a:pPr algn="l">
              <a:lnSpc>
                <a:spcPct val="125000"/>
              </a:lnSpc>
              <a:spcAft>
                <a:spcPts val="600"/>
              </a:spcAft>
            </a:pPr>
            <a:r>
              <a:rPr sz="1600" b="1">
                <a:solidFill>
                  <a:srgbClr val="5A8DEE"/>
                </a:solidFill>
                <a:latin typeface="Inter"/>
              </a:rPr>
              <a:t>•  </a:t>
            </a:r>
            <a:r>
              <a:rPr sz="1600">
                <a:solidFill>
                  <a:srgbClr val="222831"/>
                </a:solidFill>
                <a:latin typeface="Inter"/>
              </a:rPr>
              <a:t>It learns from your actions:</a:t>
            </a:r>
          </a:p>
          <a:p>
            <a:pPr algn="l">
              <a:lnSpc>
                <a:spcPct val="125000"/>
              </a:lnSpc>
              <a:spcAft>
                <a:spcPts val="600"/>
              </a:spcAft>
            </a:pPr>
            <a:r>
              <a:rPr sz="1600" b="1">
                <a:solidFill>
                  <a:srgbClr val="5A8DEE"/>
                </a:solidFill>
                <a:latin typeface="Inter"/>
              </a:rPr>
              <a:t>•  </a:t>
            </a:r>
            <a:r>
              <a:rPr sz="1600">
                <a:solidFill>
                  <a:srgbClr val="222831"/>
                </a:solidFill>
                <a:latin typeface="Inter"/>
              </a:rPr>
              <a:t>   likes, time, clicks</a:t>
            </a:r>
          </a:p>
        </p:txBody>
      </p:sp>
      <p:sp>
        <p:nvSpPr>
          <p:cNvPr id="9" name="Rounded Rectangle 8"/>
          <p:cNvSpPr/>
          <p:nvPr/>
        </p:nvSpPr>
        <p:spPr>
          <a:xfrm>
            <a:off x="6583680" y="2743200"/>
            <a:ext cx="1097280" cy="914400"/>
          </a:xfrm>
          <a:prstGeom prst="roundRect">
            <a:avLst>
              <a:gd name="adj" fmla="val 12000"/>
            </a:avLst>
          </a:prstGeom>
          <a:solidFill>
            <a:srgbClr val="5A8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2743200"/>
            <a:ext cx="1097280" cy="914400"/>
          </a:xfrm>
          <a:prstGeom prst="rect">
            <a:avLst/>
          </a:prstGeom>
          <a:noFill/>
        </p:spPr>
        <p:txBody>
          <a:bodyPr wrap="square" lIns="0" rIns="0" tIns="0" bIns="0" anchor="ctr">
            <a:spAutoFit/>
          </a:bodyPr>
          <a:lstStyle/>
          <a:p>
            <a:pPr algn="ctr"/>
            <a:r>
              <a:rPr sz="1400" b="1">
                <a:solidFill>
                  <a:srgbClr val="FFFFFF"/>
                </a:solidFill>
                <a:latin typeface="Montserrat"/>
              </a:rPr>
              <a:t>User</a:t>
            </a:r>
          </a:p>
        </p:txBody>
      </p:sp>
      <p:sp>
        <p:nvSpPr>
          <p:cNvPr id="11" name="Right Arrow 10"/>
          <p:cNvSpPr/>
          <p:nvPr/>
        </p:nvSpPr>
        <p:spPr>
          <a:xfrm>
            <a:off x="7680960" y="3063240"/>
            <a:ext cx="228600" cy="274320"/>
          </a:xfrm>
          <a:prstGeom prst="right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909560" y="2743200"/>
            <a:ext cx="1097280" cy="914400"/>
          </a:xfrm>
          <a:prstGeom prst="roundRect">
            <a:avLst>
              <a:gd name="adj" fmla="val 12000"/>
            </a:avLst>
          </a:prstGeom>
          <a:solidFill>
            <a:srgbClr val="1E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09560" y="2743200"/>
            <a:ext cx="1097280" cy="914400"/>
          </a:xfrm>
          <a:prstGeom prst="rect">
            <a:avLst/>
          </a:prstGeom>
          <a:noFill/>
        </p:spPr>
        <p:txBody>
          <a:bodyPr wrap="square" lIns="0" rIns="0" tIns="0" bIns="0" anchor="ctr">
            <a:spAutoFit/>
          </a:bodyPr>
          <a:lstStyle/>
          <a:p>
            <a:pPr algn="ctr"/>
            <a:r>
              <a:rPr sz="1400" b="1">
                <a:solidFill>
                  <a:srgbClr val="FFFFFF"/>
                </a:solidFill>
                <a:latin typeface="Montserrat"/>
              </a:rPr>
              <a:t>Data</a:t>
            </a:r>
          </a:p>
        </p:txBody>
      </p:sp>
      <p:sp>
        <p:nvSpPr>
          <p:cNvPr id="14" name="Right Arrow 13"/>
          <p:cNvSpPr/>
          <p:nvPr/>
        </p:nvSpPr>
        <p:spPr>
          <a:xfrm>
            <a:off x="9006840" y="3063240"/>
            <a:ext cx="228600" cy="274320"/>
          </a:xfrm>
          <a:prstGeom prst="right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235440" y="2743200"/>
            <a:ext cx="1097280" cy="914400"/>
          </a:xfrm>
          <a:prstGeom prst="roundRect">
            <a:avLst>
              <a:gd name="adj" fmla="val 12000"/>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35440" y="2743200"/>
            <a:ext cx="1097280" cy="914400"/>
          </a:xfrm>
          <a:prstGeom prst="rect">
            <a:avLst/>
          </a:prstGeom>
          <a:noFill/>
        </p:spPr>
        <p:txBody>
          <a:bodyPr wrap="square" lIns="0" rIns="0" tIns="0" bIns="0" anchor="ctr">
            <a:spAutoFit/>
          </a:bodyPr>
          <a:lstStyle/>
          <a:p>
            <a:pPr algn="ctr"/>
            <a:r>
              <a:rPr sz="1400" b="1">
                <a:solidFill>
                  <a:srgbClr val="FFFFFF"/>
                </a:solidFill>
                <a:latin typeface="Montserrat"/>
              </a:rPr>
              <a:t>Algorithm</a:t>
            </a:r>
          </a:p>
        </p:txBody>
      </p:sp>
      <p:sp>
        <p:nvSpPr>
          <p:cNvPr id="17" name="Right Arrow 16"/>
          <p:cNvSpPr/>
          <p:nvPr/>
        </p:nvSpPr>
        <p:spPr>
          <a:xfrm>
            <a:off x="10332720" y="3063240"/>
            <a:ext cx="228600" cy="274320"/>
          </a:xfrm>
          <a:prstGeom prst="rightArrow">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561320" y="2743200"/>
            <a:ext cx="1097280" cy="914400"/>
          </a:xfrm>
          <a:prstGeom prst="roundRect">
            <a:avLst>
              <a:gd name="adj" fmla="val 12000"/>
            </a:avLst>
          </a:prstGeom>
          <a:solidFill>
            <a:srgbClr val="7BC4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61320" y="2743200"/>
            <a:ext cx="1097280" cy="914400"/>
          </a:xfrm>
          <a:prstGeom prst="rect">
            <a:avLst/>
          </a:prstGeom>
          <a:noFill/>
        </p:spPr>
        <p:txBody>
          <a:bodyPr wrap="square" lIns="0" rIns="0" tIns="0" bIns="0" anchor="ctr">
            <a:spAutoFit/>
          </a:bodyPr>
          <a:lstStyle/>
          <a:p>
            <a:pPr algn="ctr"/>
            <a:r>
              <a:rPr sz="1400" b="1">
                <a:solidFill>
                  <a:srgbClr val="FFFFFF"/>
                </a:solidFill>
                <a:latin typeface="Montserrat"/>
              </a:rPr>
              <a:t>Feed</a:t>
            </a:r>
          </a:p>
        </p:txBody>
      </p:sp>
      <p:sp>
        <p:nvSpPr>
          <p:cNvPr id="20" name="TextBox 19"/>
          <p:cNvSpPr txBox="1"/>
          <p:nvPr/>
        </p:nvSpPr>
        <p:spPr>
          <a:xfrm>
            <a:off x="6583680" y="3931920"/>
            <a:ext cx="5029200" cy="365760"/>
          </a:xfrm>
          <a:prstGeom prst="rect">
            <a:avLst/>
          </a:prstGeom>
          <a:noFill/>
        </p:spPr>
        <p:txBody>
          <a:bodyPr wrap="square" lIns="0" rIns="0" tIns="0" bIns="0" anchor="t">
            <a:spAutoFit/>
          </a:bodyPr>
          <a:lstStyle/>
          <a:p>
            <a:pPr algn="l"/>
            <a:r>
              <a:rPr sz="1200" b="0">
                <a:solidFill>
                  <a:srgbClr val="6B7280"/>
                </a:solidFill>
                <a:latin typeface="Inter"/>
              </a:rPr>
              <a:t>How an algorithm pipeline works</a:t>
            </a:r>
          </a:p>
        </p:txBody>
      </p:sp>
      <p:sp>
        <p:nvSpPr>
          <p:cNvPr id="21" name="TextBox 20"/>
          <p:cNvSpPr txBox="1"/>
          <p:nvPr/>
        </p:nvSpPr>
        <p:spPr>
          <a:xfrm>
            <a:off x="457200" y="6492240"/>
            <a:ext cx="5486400" cy="274320"/>
          </a:xfrm>
          <a:prstGeom prst="rect">
            <a:avLst/>
          </a:prstGeom>
          <a:noFill/>
        </p:spPr>
        <p:txBody>
          <a:bodyPr wrap="square" lIns="0" rIns="0" tIns="0" bIns="0" anchor="t">
            <a:spAutoFit/>
          </a:bodyPr>
          <a:lstStyle/>
          <a:p>
            <a:pPr algn="l"/>
            <a:r>
              <a:rPr sz="1000" b="0">
                <a:solidFill>
                  <a:srgbClr val="6B7280"/>
                </a:solidFill>
                <a:latin typeface="Inter"/>
              </a:rPr>
              <a:t>How Social Media Algorithms Influence People</a:t>
            </a:r>
          </a:p>
        </p:txBody>
      </p:sp>
      <p:sp>
        <p:nvSpPr>
          <p:cNvPr id="22" name="TextBox 21"/>
          <p:cNvSpPr txBox="1"/>
          <p:nvPr/>
        </p:nvSpPr>
        <p:spPr>
          <a:xfrm>
            <a:off x="10362895" y="6492240"/>
            <a:ext cx="1371600" cy="274320"/>
          </a:xfrm>
          <a:prstGeom prst="rect">
            <a:avLst/>
          </a:prstGeom>
          <a:noFill/>
        </p:spPr>
        <p:txBody>
          <a:bodyPr wrap="square" lIns="0" rIns="0" tIns="0" bIns="0" anchor="t">
            <a:spAutoFit/>
          </a:bodyPr>
          <a:lstStyle/>
          <a:p>
            <a:pPr algn="r"/>
            <a:r>
              <a:rPr sz="1000" b="0">
                <a:solidFill>
                  <a:srgbClr val="6B7280"/>
                </a:solidFill>
                <a:latin typeface="Inter"/>
              </a:rPr>
              <a:t>2 / 10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271455" y="-1005840"/>
            <a:ext cx="2926080" cy="2926080"/>
          </a:xfrm>
          <a:prstGeom prst="ellipse">
            <a:avLst/>
          </a:prstGeom>
          <a:solidFill>
            <a:srgbClr val="5A8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48640"/>
            <a:ext cx="9144000" cy="365760"/>
          </a:xfrm>
          <a:prstGeom prst="rect">
            <a:avLst/>
          </a:prstGeom>
          <a:noFill/>
        </p:spPr>
        <p:txBody>
          <a:bodyPr wrap="square" lIns="0" rIns="0" tIns="0" bIns="0" anchor="t">
            <a:spAutoFit/>
          </a:bodyPr>
          <a:lstStyle/>
          <a:p>
            <a:pPr algn="l"/>
            <a:r>
              <a:rPr sz="1200" b="1">
                <a:solidFill>
                  <a:srgbClr val="5A8DEE"/>
                </a:solidFill>
                <a:latin typeface="Inter"/>
              </a:rPr>
              <a:t>02  •  HOW IT WORKS</a:t>
            </a:r>
          </a:p>
        </p:txBody>
      </p:sp>
      <p:sp>
        <p:nvSpPr>
          <p:cNvPr id="5" name="TextBox 4"/>
          <p:cNvSpPr txBox="1"/>
          <p:nvPr/>
        </p:nvSpPr>
        <p:spPr>
          <a:xfrm>
            <a:off x="640080" y="914400"/>
            <a:ext cx="10972800" cy="914400"/>
          </a:xfrm>
          <a:prstGeom prst="rect">
            <a:avLst/>
          </a:prstGeom>
          <a:noFill/>
        </p:spPr>
        <p:txBody>
          <a:bodyPr wrap="square" lIns="0" rIns="0" tIns="0" bIns="0" anchor="t">
            <a:spAutoFit/>
          </a:bodyPr>
          <a:lstStyle/>
          <a:p>
            <a:pPr algn="l"/>
            <a:r>
              <a:rPr sz="3600" b="1">
                <a:solidFill>
                  <a:srgbClr val="1E1E2E"/>
                </a:solidFill>
                <a:latin typeface="Montserrat"/>
              </a:rPr>
              <a:t>How Do Algorithms Work?</a:t>
            </a:r>
          </a:p>
        </p:txBody>
      </p:sp>
      <p:sp>
        <p:nvSpPr>
          <p:cNvPr id="6" name="Rounded Rectangle 5"/>
          <p:cNvSpPr/>
          <p:nvPr/>
        </p:nvSpPr>
        <p:spPr>
          <a:xfrm>
            <a:off x="815187" y="2286000"/>
            <a:ext cx="2468880" cy="256032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43787" y="2514600"/>
            <a:ext cx="640080" cy="640080"/>
          </a:xfrm>
          <a:prstGeom prst="ellipse">
            <a:avLst/>
          </a:prstGeom>
          <a:solidFill>
            <a:srgbClr val="5A8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43787" y="2532888"/>
            <a:ext cx="640080" cy="640080"/>
          </a:xfrm>
          <a:prstGeom prst="rect">
            <a:avLst/>
          </a:prstGeom>
          <a:noFill/>
        </p:spPr>
        <p:txBody>
          <a:bodyPr wrap="square" lIns="0" rIns="0" tIns="0" bIns="0" anchor="ctr">
            <a:spAutoFit/>
          </a:bodyPr>
          <a:lstStyle/>
          <a:p>
            <a:pPr algn="ctr"/>
            <a:r>
              <a:rPr sz="2000" b="1">
                <a:solidFill>
                  <a:srgbClr val="FFFFFF"/>
                </a:solidFill>
                <a:latin typeface="Montserrat"/>
              </a:rPr>
              <a:t>1</a:t>
            </a:r>
          </a:p>
        </p:txBody>
      </p:sp>
      <p:sp>
        <p:nvSpPr>
          <p:cNvPr id="9" name="TextBox 8"/>
          <p:cNvSpPr txBox="1"/>
          <p:nvPr/>
        </p:nvSpPr>
        <p:spPr>
          <a:xfrm>
            <a:off x="1089507" y="3383280"/>
            <a:ext cx="1920240" cy="548640"/>
          </a:xfrm>
          <a:prstGeom prst="rect">
            <a:avLst/>
          </a:prstGeom>
          <a:noFill/>
        </p:spPr>
        <p:txBody>
          <a:bodyPr wrap="square" lIns="0" rIns="0" tIns="0" bIns="0" anchor="t">
            <a:spAutoFit/>
          </a:bodyPr>
          <a:lstStyle/>
          <a:p>
            <a:pPr algn="l"/>
            <a:r>
              <a:rPr sz="2200" b="1">
                <a:solidFill>
                  <a:srgbClr val="1E1E2E"/>
                </a:solidFill>
                <a:latin typeface="Montserrat"/>
              </a:rPr>
              <a:t>Collect</a:t>
            </a:r>
          </a:p>
        </p:txBody>
      </p:sp>
      <p:sp>
        <p:nvSpPr>
          <p:cNvPr id="10" name="TextBox 9"/>
          <p:cNvSpPr txBox="1"/>
          <p:nvPr/>
        </p:nvSpPr>
        <p:spPr>
          <a:xfrm>
            <a:off x="1089507" y="3931920"/>
            <a:ext cx="1920240" cy="731520"/>
          </a:xfrm>
          <a:prstGeom prst="rect">
            <a:avLst/>
          </a:prstGeom>
          <a:noFill/>
        </p:spPr>
        <p:txBody>
          <a:bodyPr wrap="square" lIns="0" rIns="0" tIns="0" bIns="0" anchor="t">
            <a:spAutoFit/>
          </a:bodyPr>
          <a:lstStyle/>
          <a:p>
            <a:pPr algn="l"/>
            <a:r>
              <a:rPr sz="1400" b="0">
                <a:solidFill>
                  <a:srgbClr val="6B7280"/>
                </a:solidFill>
                <a:latin typeface="Inter"/>
              </a:rPr>
              <a:t>data about you</a:t>
            </a:r>
          </a:p>
        </p:txBody>
      </p:sp>
      <p:sp>
        <p:nvSpPr>
          <p:cNvPr id="11" name="Rounded Rectangle 10"/>
          <p:cNvSpPr/>
          <p:nvPr/>
        </p:nvSpPr>
        <p:spPr>
          <a:xfrm>
            <a:off x="3512667" y="2286000"/>
            <a:ext cx="2468880" cy="256032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741267" y="2514600"/>
            <a:ext cx="640080" cy="640080"/>
          </a:xfrm>
          <a:prstGeom prst="ellipse">
            <a:avLst/>
          </a:prstGeom>
          <a:solidFill>
            <a:srgbClr val="1E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741267" y="2532888"/>
            <a:ext cx="640080" cy="640080"/>
          </a:xfrm>
          <a:prstGeom prst="rect">
            <a:avLst/>
          </a:prstGeom>
          <a:noFill/>
        </p:spPr>
        <p:txBody>
          <a:bodyPr wrap="square" lIns="0" rIns="0" tIns="0" bIns="0" anchor="ctr">
            <a:spAutoFit/>
          </a:bodyPr>
          <a:lstStyle/>
          <a:p>
            <a:pPr algn="ctr"/>
            <a:r>
              <a:rPr sz="2000" b="1">
                <a:solidFill>
                  <a:srgbClr val="FFFFFF"/>
                </a:solidFill>
                <a:latin typeface="Montserrat"/>
              </a:rPr>
              <a:t>2</a:t>
            </a:r>
          </a:p>
        </p:txBody>
      </p:sp>
      <p:sp>
        <p:nvSpPr>
          <p:cNvPr id="14" name="TextBox 13"/>
          <p:cNvSpPr txBox="1"/>
          <p:nvPr/>
        </p:nvSpPr>
        <p:spPr>
          <a:xfrm>
            <a:off x="3786987" y="3383280"/>
            <a:ext cx="1920240" cy="548640"/>
          </a:xfrm>
          <a:prstGeom prst="rect">
            <a:avLst/>
          </a:prstGeom>
          <a:noFill/>
        </p:spPr>
        <p:txBody>
          <a:bodyPr wrap="square" lIns="0" rIns="0" tIns="0" bIns="0" anchor="t">
            <a:spAutoFit/>
          </a:bodyPr>
          <a:lstStyle/>
          <a:p>
            <a:pPr algn="l"/>
            <a:r>
              <a:rPr sz="2200" b="1">
                <a:solidFill>
                  <a:srgbClr val="1E1E2E"/>
                </a:solidFill>
                <a:latin typeface="Montserrat"/>
              </a:rPr>
              <a:t>Analyze</a:t>
            </a:r>
          </a:p>
        </p:txBody>
      </p:sp>
      <p:sp>
        <p:nvSpPr>
          <p:cNvPr id="15" name="TextBox 14"/>
          <p:cNvSpPr txBox="1"/>
          <p:nvPr/>
        </p:nvSpPr>
        <p:spPr>
          <a:xfrm>
            <a:off x="3786987" y="3931920"/>
            <a:ext cx="1920240" cy="731520"/>
          </a:xfrm>
          <a:prstGeom prst="rect">
            <a:avLst/>
          </a:prstGeom>
          <a:noFill/>
        </p:spPr>
        <p:txBody>
          <a:bodyPr wrap="square" lIns="0" rIns="0" tIns="0" bIns="0" anchor="t">
            <a:spAutoFit/>
          </a:bodyPr>
          <a:lstStyle/>
          <a:p>
            <a:pPr algn="l"/>
            <a:r>
              <a:rPr sz="1400" b="0">
                <a:solidFill>
                  <a:srgbClr val="6B7280"/>
                </a:solidFill>
                <a:latin typeface="Inter"/>
              </a:rPr>
              <a:t>your behavior</a:t>
            </a:r>
          </a:p>
        </p:txBody>
      </p:sp>
      <p:sp>
        <p:nvSpPr>
          <p:cNvPr id="16" name="Rounded Rectangle 15"/>
          <p:cNvSpPr/>
          <p:nvPr/>
        </p:nvSpPr>
        <p:spPr>
          <a:xfrm>
            <a:off x="6210147" y="2286000"/>
            <a:ext cx="2468880" cy="256032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438747" y="2514600"/>
            <a:ext cx="640080" cy="640080"/>
          </a:xfrm>
          <a:prstGeom prst="ellipse">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38747" y="2532888"/>
            <a:ext cx="640080" cy="640080"/>
          </a:xfrm>
          <a:prstGeom prst="rect">
            <a:avLst/>
          </a:prstGeom>
          <a:noFill/>
        </p:spPr>
        <p:txBody>
          <a:bodyPr wrap="square" lIns="0" rIns="0" tIns="0" bIns="0" anchor="ctr">
            <a:spAutoFit/>
          </a:bodyPr>
          <a:lstStyle/>
          <a:p>
            <a:pPr algn="ctr"/>
            <a:r>
              <a:rPr sz="2000" b="1">
                <a:solidFill>
                  <a:srgbClr val="FFFFFF"/>
                </a:solidFill>
                <a:latin typeface="Montserrat"/>
              </a:rPr>
              <a:t>3</a:t>
            </a:r>
          </a:p>
        </p:txBody>
      </p:sp>
      <p:sp>
        <p:nvSpPr>
          <p:cNvPr id="19" name="TextBox 18"/>
          <p:cNvSpPr txBox="1"/>
          <p:nvPr/>
        </p:nvSpPr>
        <p:spPr>
          <a:xfrm>
            <a:off x="6484467" y="3383280"/>
            <a:ext cx="1920240" cy="548640"/>
          </a:xfrm>
          <a:prstGeom prst="rect">
            <a:avLst/>
          </a:prstGeom>
          <a:noFill/>
        </p:spPr>
        <p:txBody>
          <a:bodyPr wrap="square" lIns="0" rIns="0" tIns="0" bIns="0" anchor="t">
            <a:spAutoFit/>
          </a:bodyPr>
          <a:lstStyle/>
          <a:p>
            <a:pPr algn="l"/>
            <a:r>
              <a:rPr sz="2200" b="1">
                <a:solidFill>
                  <a:srgbClr val="1E1E2E"/>
                </a:solidFill>
                <a:latin typeface="Montserrat"/>
              </a:rPr>
              <a:t>Predict</a:t>
            </a:r>
          </a:p>
        </p:txBody>
      </p:sp>
      <p:sp>
        <p:nvSpPr>
          <p:cNvPr id="20" name="TextBox 19"/>
          <p:cNvSpPr txBox="1"/>
          <p:nvPr/>
        </p:nvSpPr>
        <p:spPr>
          <a:xfrm>
            <a:off x="6484467" y="3931920"/>
            <a:ext cx="1920240" cy="731520"/>
          </a:xfrm>
          <a:prstGeom prst="rect">
            <a:avLst/>
          </a:prstGeom>
          <a:noFill/>
        </p:spPr>
        <p:txBody>
          <a:bodyPr wrap="square" lIns="0" rIns="0" tIns="0" bIns="0" anchor="t">
            <a:spAutoFit/>
          </a:bodyPr>
          <a:lstStyle/>
          <a:p>
            <a:pPr algn="l"/>
            <a:r>
              <a:rPr sz="1400" b="0">
                <a:solidFill>
                  <a:srgbClr val="6B7280"/>
                </a:solidFill>
                <a:latin typeface="Inter"/>
              </a:rPr>
              <a:t>what you will like</a:t>
            </a:r>
          </a:p>
        </p:txBody>
      </p:sp>
      <p:sp>
        <p:nvSpPr>
          <p:cNvPr id="21" name="Rounded Rectangle 20"/>
          <p:cNvSpPr/>
          <p:nvPr/>
        </p:nvSpPr>
        <p:spPr>
          <a:xfrm>
            <a:off x="8907627" y="2286000"/>
            <a:ext cx="2468880" cy="256032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136227" y="2514600"/>
            <a:ext cx="640080" cy="640080"/>
          </a:xfrm>
          <a:prstGeom prst="ellipse">
            <a:avLst/>
          </a:prstGeom>
          <a:solidFill>
            <a:srgbClr val="7BC4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36227" y="2532888"/>
            <a:ext cx="640080" cy="640080"/>
          </a:xfrm>
          <a:prstGeom prst="rect">
            <a:avLst/>
          </a:prstGeom>
          <a:noFill/>
        </p:spPr>
        <p:txBody>
          <a:bodyPr wrap="square" lIns="0" rIns="0" tIns="0" bIns="0" anchor="ctr">
            <a:spAutoFit/>
          </a:bodyPr>
          <a:lstStyle/>
          <a:p>
            <a:pPr algn="ctr"/>
            <a:r>
              <a:rPr sz="2000" b="1">
                <a:solidFill>
                  <a:srgbClr val="FFFFFF"/>
                </a:solidFill>
                <a:latin typeface="Montserrat"/>
              </a:rPr>
              <a:t>4</a:t>
            </a:r>
          </a:p>
        </p:txBody>
      </p:sp>
      <p:sp>
        <p:nvSpPr>
          <p:cNvPr id="24" name="TextBox 23"/>
          <p:cNvSpPr txBox="1"/>
          <p:nvPr/>
        </p:nvSpPr>
        <p:spPr>
          <a:xfrm>
            <a:off x="9181947" y="3383280"/>
            <a:ext cx="1920240" cy="548640"/>
          </a:xfrm>
          <a:prstGeom prst="rect">
            <a:avLst/>
          </a:prstGeom>
          <a:noFill/>
        </p:spPr>
        <p:txBody>
          <a:bodyPr wrap="square" lIns="0" rIns="0" tIns="0" bIns="0" anchor="t">
            <a:spAutoFit/>
          </a:bodyPr>
          <a:lstStyle/>
          <a:p>
            <a:pPr algn="l"/>
            <a:r>
              <a:rPr sz="2200" b="1">
                <a:solidFill>
                  <a:srgbClr val="1E1E2E"/>
                </a:solidFill>
                <a:latin typeface="Montserrat"/>
              </a:rPr>
              <a:t>Show</a:t>
            </a:r>
          </a:p>
        </p:txBody>
      </p:sp>
      <p:sp>
        <p:nvSpPr>
          <p:cNvPr id="25" name="TextBox 24"/>
          <p:cNvSpPr txBox="1"/>
          <p:nvPr/>
        </p:nvSpPr>
        <p:spPr>
          <a:xfrm>
            <a:off x="9181947" y="3931920"/>
            <a:ext cx="1920240" cy="731520"/>
          </a:xfrm>
          <a:prstGeom prst="rect">
            <a:avLst/>
          </a:prstGeom>
          <a:noFill/>
        </p:spPr>
        <p:txBody>
          <a:bodyPr wrap="square" lIns="0" rIns="0" tIns="0" bIns="0" anchor="t">
            <a:spAutoFit/>
          </a:bodyPr>
          <a:lstStyle/>
          <a:p>
            <a:pPr algn="l"/>
            <a:r>
              <a:rPr sz="1400" b="0">
                <a:solidFill>
                  <a:srgbClr val="6B7280"/>
                </a:solidFill>
                <a:latin typeface="Inter"/>
              </a:rPr>
              <a:t>more of that content</a:t>
            </a:r>
          </a:p>
        </p:txBody>
      </p:sp>
      <p:sp>
        <p:nvSpPr>
          <p:cNvPr id="26" name="Rounded Rectangle 25"/>
          <p:cNvSpPr/>
          <p:nvPr/>
        </p:nvSpPr>
        <p:spPr>
          <a:xfrm>
            <a:off x="640080" y="5212080"/>
            <a:ext cx="10972800" cy="914400"/>
          </a:xfrm>
          <a:prstGeom prst="roundRect">
            <a:avLst>
              <a:gd name="adj" fmla="val 12000"/>
            </a:avLst>
          </a:prstGeom>
          <a:solidFill>
            <a:srgbClr val="1E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5349240"/>
            <a:ext cx="10972800" cy="640080"/>
          </a:xfrm>
          <a:prstGeom prst="rect">
            <a:avLst/>
          </a:prstGeom>
          <a:noFill/>
        </p:spPr>
        <p:txBody>
          <a:bodyPr wrap="square" lIns="0" rIns="0" tIns="0" bIns="0" anchor="ctr">
            <a:spAutoFit/>
          </a:bodyPr>
          <a:lstStyle/>
          <a:p>
            <a:pPr algn="l"/>
            <a:r>
              <a:rPr sz="1800" b="0">
                <a:solidFill>
                  <a:srgbClr val="FFFFFF"/>
                </a:solidFill>
                <a:latin typeface="Inter"/>
              </a:rPr>
              <a:t>Example: TikTok 'For You' page learns your taste in a few minutes.</a:t>
            </a:r>
          </a:p>
        </p:txBody>
      </p:sp>
      <p:sp>
        <p:nvSpPr>
          <p:cNvPr id="28" name="TextBox 27"/>
          <p:cNvSpPr txBox="1"/>
          <p:nvPr/>
        </p:nvSpPr>
        <p:spPr>
          <a:xfrm>
            <a:off x="457200" y="6492240"/>
            <a:ext cx="5486400" cy="274320"/>
          </a:xfrm>
          <a:prstGeom prst="rect">
            <a:avLst/>
          </a:prstGeom>
          <a:noFill/>
        </p:spPr>
        <p:txBody>
          <a:bodyPr wrap="square" lIns="0" rIns="0" tIns="0" bIns="0" anchor="t">
            <a:spAutoFit/>
          </a:bodyPr>
          <a:lstStyle/>
          <a:p>
            <a:pPr algn="l"/>
            <a:r>
              <a:rPr sz="1000" b="0">
                <a:solidFill>
                  <a:srgbClr val="6B7280"/>
                </a:solidFill>
                <a:latin typeface="Inter"/>
              </a:rPr>
              <a:t>How Social Media Algorithms Influence People</a:t>
            </a:r>
          </a:p>
        </p:txBody>
      </p:sp>
      <p:sp>
        <p:nvSpPr>
          <p:cNvPr id="29" name="TextBox 28"/>
          <p:cNvSpPr txBox="1"/>
          <p:nvPr/>
        </p:nvSpPr>
        <p:spPr>
          <a:xfrm>
            <a:off x="10362895" y="6492240"/>
            <a:ext cx="1371600" cy="274320"/>
          </a:xfrm>
          <a:prstGeom prst="rect">
            <a:avLst/>
          </a:prstGeom>
          <a:noFill/>
        </p:spPr>
        <p:txBody>
          <a:bodyPr wrap="square" lIns="0" rIns="0" tIns="0" bIns="0" anchor="t">
            <a:spAutoFit/>
          </a:bodyPr>
          <a:lstStyle/>
          <a:p>
            <a:pPr algn="r"/>
            <a:r>
              <a:rPr sz="1000" b="0">
                <a:solidFill>
                  <a:srgbClr val="6B7280"/>
                </a:solidFill>
                <a:latin typeface="Inter"/>
              </a:rPr>
              <a:t>3 / 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271455" y="-1005840"/>
            <a:ext cx="2926080" cy="2926080"/>
          </a:xfrm>
          <a:prstGeom prst="ellipse">
            <a:avLst/>
          </a:prstGeom>
          <a:solidFill>
            <a:srgbClr val="5A8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48640"/>
            <a:ext cx="9144000" cy="365760"/>
          </a:xfrm>
          <a:prstGeom prst="rect">
            <a:avLst/>
          </a:prstGeom>
          <a:noFill/>
        </p:spPr>
        <p:txBody>
          <a:bodyPr wrap="square" lIns="0" rIns="0" tIns="0" bIns="0" anchor="t">
            <a:spAutoFit/>
          </a:bodyPr>
          <a:lstStyle/>
          <a:p>
            <a:pPr algn="l"/>
            <a:r>
              <a:rPr sz="1200" b="1">
                <a:solidFill>
                  <a:srgbClr val="5A8DEE"/>
                </a:solidFill>
                <a:latin typeface="Inter"/>
              </a:rPr>
              <a:t>03  •  BUSINESS</a:t>
            </a:r>
          </a:p>
        </p:txBody>
      </p:sp>
      <p:sp>
        <p:nvSpPr>
          <p:cNvPr id="5" name="TextBox 4"/>
          <p:cNvSpPr txBox="1"/>
          <p:nvPr/>
        </p:nvSpPr>
        <p:spPr>
          <a:xfrm>
            <a:off x="640080" y="914400"/>
            <a:ext cx="10972800" cy="914400"/>
          </a:xfrm>
          <a:prstGeom prst="rect">
            <a:avLst/>
          </a:prstGeom>
          <a:noFill/>
        </p:spPr>
        <p:txBody>
          <a:bodyPr wrap="square" lIns="0" rIns="0" tIns="0" bIns="0" anchor="t">
            <a:spAutoFit/>
          </a:bodyPr>
          <a:lstStyle/>
          <a:p>
            <a:pPr algn="l"/>
            <a:r>
              <a:rPr sz="3600" b="1">
                <a:solidFill>
                  <a:srgbClr val="1E1E2E"/>
                </a:solidFill>
                <a:latin typeface="Montserrat"/>
              </a:rPr>
              <a:t>Why Companies Use Algorithms</a:t>
            </a:r>
          </a:p>
        </p:txBody>
      </p:sp>
      <p:sp>
        <p:nvSpPr>
          <p:cNvPr id="6" name="TextBox 5"/>
          <p:cNvSpPr txBox="1"/>
          <p:nvPr/>
        </p:nvSpPr>
        <p:spPr>
          <a:xfrm>
            <a:off x="640080" y="2286000"/>
            <a:ext cx="5943600" cy="3657600"/>
          </a:xfrm>
          <a:prstGeom prst="rect">
            <a:avLst/>
          </a:prstGeom>
          <a:noFill/>
        </p:spPr>
        <p:txBody>
          <a:bodyPr wrap="square" lIns="0" rIns="0" tIns="0" bIns="0">
            <a:spAutoFit/>
          </a:bodyPr>
          <a:lstStyle/>
          <a:p>
            <a:pPr algn="l">
              <a:lnSpc>
                <a:spcPct val="125000"/>
              </a:lnSpc>
              <a:spcAft>
                <a:spcPts val="600"/>
              </a:spcAft>
            </a:pPr>
            <a:r>
              <a:rPr sz="2200" b="1">
                <a:solidFill>
                  <a:srgbClr val="5A8DEE"/>
                </a:solidFill>
                <a:latin typeface="Inter"/>
              </a:rPr>
              <a:t>•  </a:t>
            </a:r>
            <a:r>
              <a:rPr sz="2200">
                <a:solidFill>
                  <a:srgbClr val="222831"/>
                </a:solidFill>
                <a:latin typeface="Inter"/>
              </a:rPr>
              <a:t>Keep users on the app LONGER</a:t>
            </a:r>
          </a:p>
          <a:p>
            <a:pPr algn="l">
              <a:lnSpc>
                <a:spcPct val="125000"/>
              </a:lnSpc>
              <a:spcAft>
                <a:spcPts val="600"/>
              </a:spcAft>
            </a:pPr>
            <a:r>
              <a:rPr sz="2200" b="1">
                <a:solidFill>
                  <a:srgbClr val="5A8DEE"/>
                </a:solidFill>
                <a:latin typeface="Inter"/>
              </a:rPr>
              <a:t>•  </a:t>
            </a:r>
            <a:r>
              <a:rPr sz="2200">
                <a:solidFill>
                  <a:srgbClr val="222831"/>
                </a:solidFill>
                <a:latin typeface="Inter"/>
              </a:rPr>
              <a:t>Show MORE ads</a:t>
            </a:r>
          </a:p>
          <a:p>
            <a:pPr algn="l">
              <a:lnSpc>
                <a:spcPct val="125000"/>
              </a:lnSpc>
              <a:spcAft>
                <a:spcPts val="600"/>
              </a:spcAft>
            </a:pPr>
            <a:r>
              <a:rPr sz="2200" b="1">
                <a:solidFill>
                  <a:srgbClr val="5A8DEE"/>
                </a:solidFill>
                <a:latin typeface="Inter"/>
              </a:rPr>
              <a:t>•  </a:t>
            </a:r>
            <a:r>
              <a:rPr sz="2200">
                <a:solidFill>
                  <a:srgbClr val="222831"/>
                </a:solidFill>
                <a:latin typeface="Inter"/>
              </a:rPr>
              <a:t>Make MORE money</a:t>
            </a:r>
          </a:p>
          <a:p>
            <a:pPr algn="l">
              <a:lnSpc>
                <a:spcPct val="125000"/>
              </a:lnSpc>
              <a:spcAft>
                <a:spcPts val="600"/>
              </a:spcAft>
            </a:pPr>
            <a:r>
              <a:rPr sz="2200" b="1">
                <a:solidFill>
                  <a:srgbClr val="5A8DEE"/>
                </a:solidFill>
                <a:latin typeface="Inter"/>
              </a:rPr>
              <a:t>•  </a:t>
            </a:r>
            <a:r>
              <a:rPr sz="2200">
                <a:solidFill>
                  <a:srgbClr val="222831"/>
                </a:solidFill>
                <a:latin typeface="Inter"/>
              </a:rPr>
              <a:t>Understand the user better</a:t>
            </a:r>
          </a:p>
          <a:p>
            <a:pPr algn="l">
              <a:lnSpc>
                <a:spcPct val="125000"/>
              </a:lnSpc>
              <a:spcAft>
                <a:spcPts val="600"/>
              </a:spcAft>
            </a:pPr>
            <a:r>
              <a:rPr sz="2200" b="1">
                <a:solidFill>
                  <a:srgbClr val="5A8DEE"/>
                </a:solidFill>
                <a:latin typeface="Inter"/>
              </a:rPr>
              <a:t>•  </a:t>
            </a:r>
            <a:r>
              <a:rPr sz="2200">
                <a:solidFill>
                  <a:srgbClr val="222831"/>
                </a:solidFill>
                <a:latin typeface="Inter"/>
              </a:rPr>
              <a:t>Example: Instagram &amp; YouTube ads</a:t>
            </a:r>
          </a:p>
        </p:txBody>
      </p:sp>
      <p:sp>
        <p:nvSpPr>
          <p:cNvPr id="7" name="Rounded Rectangle 6"/>
          <p:cNvSpPr/>
          <p:nvPr/>
        </p:nvSpPr>
        <p:spPr>
          <a:xfrm>
            <a:off x="7132320" y="2286000"/>
            <a:ext cx="4572000" cy="3657600"/>
          </a:xfrm>
          <a:prstGeom prst="roundRect">
            <a:avLst>
              <a:gd name="adj" fmla="val 12000"/>
            </a:avLst>
          </a:prstGeom>
          <a:solidFill>
            <a:srgbClr val="1E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0" y="2560320"/>
            <a:ext cx="4572000" cy="548640"/>
          </a:xfrm>
          <a:prstGeom prst="rect">
            <a:avLst/>
          </a:prstGeom>
          <a:noFill/>
        </p:spPr>
        <p:txBody>
          <a:bodyPr wrap="square" lIns="0" rIns="0" tIns="0" bIns="0" anchor="t">
            <a:spAutoFit/>
          </a:bodyPr>
          <a:lstStyle/>
          <a:p>
            <a:pPr algn="ctr"/>
            <a:r>
              <a:rPr sz="1200" b="1">
                <a:solidFill>
                  <a:srgbClr val="5A8DEE"/>
                </a:solidFill>
                <a:latin typeface="Inter"/>
              </a:rPr>
              <a:t>GLOBAL SOCIAL MEDIA AD REVENUE</a:t>
            </a:r>
          </a:p>
        </p:txBody>
      </p:sp>
      <p:sp>
        <p:nvSpPr>
          <p:cNvPr id="9" name="TextBox 8"/>
          <p:cNvSpPr txBox="1"/>
          <p:nvPr/>
        </p:nvSpPr>
        <p:spPr>
          <a:xfrm>
            <a:off x="7132320" y="3108960"/>
            <a:ext cx="4572000" cy="1645920"/>
          </a:xfrm>
          <a:prstGeom prst="rect">
            <a:avLst/>
          </a:prstGeom>
          <a:noFill/>
        </p:spPr>
        <p:txBody>
          <a:bodyPr wrap="square" lIns="0" rIns="0" tIns="0" bIns="0" anchor="ctr">
            <a:spAutoFit/>
          </a:bodyPr>
          <a:lstStyle/>
          <a:p>
            <a:pPr algn="ctr"/>
            <a:r>
              <a:rPr sz="8000" b="1">
                <a:solidFill>
                  <a:srgbClr val="FFFFFF"/>
                </a:solidFill>
                <a:latin typeface="Montserrat"/>
              </a:rPr>
              <a:t>$200B+</a:t>
            </a:r>
          </a:p>
        </p:txBody>
      </p:sp>
      <p:sp>
        <p:nvSpPr>
          <p:cNvPr id="10" name="TextBox 9"/>
          <p:cNvSpPr txBox="1"/>
          <p:nvPr/>
        </p:nvSpPr>
        <p:spPr>
          <a:xfrm>
            <a:off x="7132320" y="4937760"/>
            <a:ext cx="4572000" cy="548640"/>
          </a:xfrm>
          <a:prstGeom prst="rect">
            <a:avLst/>
          </a:prstGeom>
          <a:noFill/>
        </p:spPr>
        <p:txBody>
          <a:bodyPr wrap="square" lIns="0" rIns="0" tIns="0" bIns="0" anchor="t">
            <a:spAutoFit/>
          </a:bodyPr>
          <a:lstStyle/>
          <a:p>
            <a:pPr algn="ctr"/>
            <a:r>
              <a:rPr sz="1400" b="0">
                <a:solidFill>
                  <a:srgbClr val="6B7280"/>
                </a:solidFill>
                <a:latin typeface="Inter"/>
              </a:rPr>
              <a:t>per year (Statista, 2024)</a:t>
            </a:r>
          </a:p>
        </p:txBody>
      </p:sp>
      <p:sp>
        <p:nvSpPr>
          <p:cNvPr id="11" name="TextBox 10"/>
          <p:cNvSpPr txBox="1"/>
          <p:nvPr/>
        </p:nvSpPr>
        <p:spPr>
          <a:xfrm>
            <a:off x="457200" y="6492240"/>
            <a:ext cx="5486400" cy="274320"/>
          </a:xfrm>
          <a:prstGeom prst="rect">
            <a:avLst/>
          </a:prstGeom>
          <a:noFill/>
        </p:spPr>
        <p:txBody>
          <a:bodyPr wrap="square" lIns="0" rIns="0" tIns="0" bIns="0" anchor="t">
            <a:spAutoFit/>
          </a:bodyPr>
          <a:lstStyle/>
          <a:p>
            <a:pPr algn="l"/>
            <a:r>
              <a:rPr sz="1000" b="0">
                <a:solidFill>
                  <a:srgbClr val="6B7280"/>
                </a:solidFill>
                <a:latin typeface="Inter"/>
              </a:rPr>
              <a:t>How Social Media Algorithms Influence People</a:t>
            </a:r>
          </a:p>
        </p:txBody>
      </p:sp>
      <p:sp>
        <p:nvSpPr>
          <p:cNvPr id="12" name="TextBox 11"/>
          <p:cNvSpPr txBox="1"/>
          <p:nvPr/>
        </p:nvSpPr>
        <p:spPr>
          <a:xfrm>
            <a:off x="10362895" y="6492240"/>
            <a:ext cx="1371600" cy="274320"/>
          </a:xfrm>
          <a:prstGeom prst="rect">
            <a:avLst/>
          </a:prstGeom>
          <a:noFill/>
        </p:spPr>
        <p:txBody>
          <a:bodyPr wrap="square" lIns="0" rIns="0" tIns="0" bIns="0" anchor="t">
            <a:spAutoFit/>
          </a:bodyPr>
          <a:lstStyle/>
          <a:p>
            <a:pPr algn="r"/>
            <a:r>
              <a:rPr sz="1000" b="0">
                <a:solidFill>
                  <a:srgbClr val="6B7280"/>
                </a:solidFill>
                <a:latin typeface="Inter"/>
              </a:rPr>
              <a:t>4 / 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271455" y="-1005840"/>
            <a:ext cx="2926080" cy="2926080"/>
          </a:xfrm>
          <a:prstGeom prst="ellipse">
            <a:avLst/>
          </a:prstGeom>
          <a:solidFill>
            <a:srgbClr val="7BC4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48640"/>
            <a:ext cx="9144000" cy="365760"/>
          </a:xfrm>
          <a:prstGeom prst="rect">
            <a:avLst/>
          </a:prstGeom>
          <a:noFill/>
        </p:spPr>
        <p:txBody>
          <a:bodyPr wrap="square" lIns="0" rIns="0" tIns="0" bIns="0" anchor="t">
            <a:spAutoFit/>
          </a:bodyPr>
          <a:lstStyle/>
          <a:p>
            <a:pPr algn="l"/>
            <a:r>
              <a:rPr sz="1200" b="1">
                <a:solidFill>
                  <a:srgbClr val="7BC47F"/>
                </a:solidFill>
                <a:latin typeface="Inter"/>
              </a:rPr>
              <a:t>04  •  THE GOOD SIDE</a:t>
            </a:r>
          </a:p>
        </p:txBody>
      </p:sp>
      <p:sp>
        <p:nvSpPr>
          <p:cNvPr id="5" name="TextBox 4"/>
          <p:cNvSpPr txBox="1"/>
          <p:nvPr/>
        </p:nvSpPr>
        <p:spPr>
          <a:xfrm>
            <a:off x="640080" y="914400"/>
            <a:ext cx="10972800" cy="914400"/>
          </a:xfrm>
          <a:prstGeom prst="rect">
            <a:avLst/>
          </a:prstGeom>
          <a:noFill/>
        </p:spPr>
        <p:txBody>
          <a:bodyPr wrap="square" lIns="0" rIns="0" tIns="0" bIns="0" anchor="t">
            <a:spAutoFit/>
          </a:bodyPr>
          <a:lstStyle/>
          <a:p>
            <a:pPr algn="l"/>
            <a:r>
              <a:rPr sz="3600" b="1">
                <a:solidFill>
                  <a:srgbClr val="1E1E2E"/>
                </a:solidFill>
                <a:latin typeface="Montserrat"/>
              </a:rPr>
              <a:t>Positive Effects of Algorithms</a:t>
            </a:r>
          </a:p>
        </p:txBody>
      </p:sp>
      <p:sp>
        <p:nvSpPr>
          <p:cNvPr id="6" name="Rounded Rectangle 5"/>
          <p:cNvSpPr/>
          <p:nvPr/>
        </p:nvSpPr>
        <p:spPr>
          <a:xfrm>
            <a:off x="152247" y="2286000"/>
            <a:ext cx="2194560"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52247" y="2286000"/>
            <a:ext cx="2194560" cy="137160"/>
          </a:xfrm>
          <a:prstGeom prst="roundRect">
            <a:avLst>
              <a:gd name="adj" fmla="val 12000"/>
            </a:avLst>
          </a:prstGeom>
          <a:solidFill>
            <a:srgbClr val="7BC4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80847" y="2743200"/>
            <a:ext cx="1737360" cy="731520"/>
          </a:xfrm>
          <a:prstGeom prst="rect">
            <a:avLst/>
          </a:prstGeom>
          <a:noFill/>
        </p:spPr>
        <p:txBody>
          <a:bodyPr wrap="square" lIns="0" rIns="0" tIns="0" bIns="0" anchor="t">
            <a:spAutoFit/>
          </a:bodyPr>
          <a:lstStyle/>
          <a:p>
            <a:pPr algn="l"/>
            <a:r>
              <a:rPr sz="1600" b="1">
                <a:solidFill>
                  <a:srgbClr val="1E1E2E"/>
                </a:solidFill>
                <a:latin typeface="Montserrat"/>
              </a:rPr>
              <a:t>Find content fast</a:t>
            </a:r>
          </a:p>
        </p:txBody>
      </p:sp>
      <p:sp>
        <p:nvSpPr>
          <p:cNvPr id="9" name="TextBox 8"/>
          <p:cNvSpPr txBox="1"/>
          <p:nvPr/>
        </p:nvSpPr>
        <p:spPr>
          <a:xfrm>
            <a:off x="380847" y="3383280"/>
            <a:ext cx="1737360" cy="1097280"/>
          </a:xfrm>
          <a:prstGeom prst="rect">
            <a:avLst/>
          </a:prstGeom>
          <a:noFill/>
        </p:spPr>
        <p:txBody>
          <a:bodyPr wrap="square" lIns="0" rIns="0" tIns="0" bIns="0" anchor="t">
            <a:spAutoFit/>
          </a:bodyPr>
          <a:lstStyle/>
          <a:p>
            <a:pPr algn="l"/>
            <a:r>
              <a:rPr sz="1200" b="0">
                <a:solidFill>
                  <a:srgbClr val="6B7280"/>
                </a:solidFill>
                <a:latin typeface="Inter"/>
              </a:rPr>
              <a:t>You see what you really like</a:t>
            </a:r>
          </a:p>
        </p:txBody>
      </p:sp>
      <p:sp>
        <p:nvSpPr>
          <p:cNvPr id="10" name="Rounded Rectangle 9"/>
          <p:cNvSpPr/>
          <p:nvPr/>
        </p:nvSpPr>
        <p:spPr>
          <a:xfrm>
            <a:off x="2575407" y="2286000"/>
            <a:ext cx="2194560"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575407" y="2286000"/>
            <a:ext cx="2194560" cy="137160"/>
          </a:xfrm>
          <a:prstGeom prst="roundRect">
            <a:avLst>
              <a:gd name="adj" fmla="val 12000"/>
            </a:avLst>
          </a:prstGeom>
          <a:solidFill>
            <a:srgbClr val="7BC4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804007" y="2743200"/>
            <a:ext cx="1737360" cy="731520"/>
          </a:xfrm>
          <a:prstGeom prst="rect">
            <a:avLst/>
          </a:prstGeom>
          <a:noFill/>
        </p:spPr>
        <p:txBody>
          <a:bodyPr wrap="square" lIns="0" rIns="0" tIns="0" bIns="0" anchor="t">
            <a:spAutoFit/>
          </a:bodyPr>
          <a:lstStyle/>
          <a:p>
            <a:pPr algn="l"/>
            <a:r>
              <a:rPr sz="1600" b="1">
                <a:solidFill>
                  <a:srgbClr val="1E1E2E"/>
                </a:solidFill>
                <a:latin typeface="Montserrat"/>
              </a:rPr>
              <a:t>New hobbies</a:t>
            </a:r>
          </a:p>
        </p:txBody>
      </p:sp>
      <p:sp>
        <p:nvSpPr>
          <p:cNvPr id="13" name="TextBox 12"/>
          <p:cNvSpPr txBox="1"/>
          <p:nvPr/>
        </p:nvSpPr>
        <p:spPr>
          <a:xfrm>
            <a:off x="2804007" y="3383280"/>
            <a:ext cx="1737360" cy="1097280"/>
          </a:xfrm>
          <a:prstGeom prst="rect">
            <a:avLst/>
          </a:prstGeom>
          <a:noFill/>
        </p:spPr>
        <p:txBody>
          <a:bodyPr wrap="square" lIns="0" rIns="0" tIns="0" bIns="0" anchor="t">
            <a:spAutoFit/>
          </a:bodyPr>
          <a:lstStyle/>
          <a:p>
            <a:pPr algn="l"/>
            <a:r>
              <a:rPr sz="1200" b="0">
                <a:solidFill>
                  <a:srgbClr val="6B7280"/>
                </a:solidFill>
                <a:latin typeface="Inter"/>
              </a:rPr>
              <a:t>Music, sport, art, languages</a:t>
            </a:r>
          </a:p>
        </p:txBody>
      </p:sp>
      <p:sp>
        <p:nvSpPr>
          <p:cNvPr id="14" name="Rounded Rectangle 13"/>
          <p:cNvSpPr/>
          <p:nvPr/>
        </p:nvSpPr>
        <p:spPr>
          <a:xfrm>
            <a:off x="4998567" y="2286000"/>
            <a:ext cx="2194560"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998567" y="2286000"/>
            <a:ext cx="2194560" cy="137160"/>
          </a:xfrm>
          <a:prstGeom prst="roundRect">
            <a:avLst>
              <a:gd name="adj" fmla="val 12000"/>
            </a:avLst>
          </a:prstGeom>
          <a:solidFill>
            <a:srgbClr val="7BC4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227167" y="2743200"/>
            <a:ext cx="1737360" cy="731520"/>
          </a:xfrm>
          <a:prstGeom prst="rect">
            <a:avLst/>
          </a:prstGeom>
          <a:noFill/>
        </p:spPr>
        <p:txBody>
          <a:bodyPr wrap="square" lIns="0" rIns="0" tIns="0" bIns="0" anchor="t">
            <a:spAutoFit/>
          </a:bodyPr>
          <a:lstStyle/>
          <a:p>
            <a:pPr algn="l"/>
            <a:r>
              <a:rPr sz="1600" b="1">
                <a:solidFill>
                  <a:srgbClr val="1E1E2E"/>
                </a:solidFill>
                <a:latin typeface="Montserrat"/>
              </a:rPr>
              <a:t>Friends &amp; community</a:t>
            </a:r>
          </a:p>
        </p:txBody>
      </p:sp>
      <p:sp>
        <p:nvSpPr>
          <p:cNvPr id="17" name="TextBox 16"/>
          <p:cNvSpPr txBox="1"/>
          <p:nvPr/>
        </p:nvSpPr>
        <p:spPr>
          <a:xfrm>
            <a:off x="5227167" y="3383280"/>
            <a:ext cx="1737360" cy="1097280"/>
          </a:xfrm>
          <a:prstGeom prst="rect">
            <a:avLst/>
          </a:prstGeom>
          <a:noFill/>
        </p:spPr>
        <p:txBody>
          <a:bodyPr wrap="square" lIns="0" rIns="0" tIns="0" bIns="0" anchor="t">
            <a:spAutoFit/>
          </a:bodyPr>
          <a:lstStyle/>
          <a:p>
            <a:pPr algn="l"/>
            <a:r>
              <a:rPr sz="1200" b="0">
                <a:solidFill>
                  <a:srgbClr val="6B7280"/>
                </a:solidFill>
                <a:latin typeface="Inter"/>
              </a:rPr>
              <a:t>Connect with people like you</a:t>
            </a:r>
          </a:p>
        </p:txBody>
      </p:sp>
      <p:sp>
        <p:nvSpPr>
          <p:cNvPr id="18" name="Rounded Rectangle 17"/>
          <p:cNvSpPr/>
          <p:nvPr/>
        </p:nvSpPr>
        <p:spPr>
          <a:xfrm>
            <a:off x="7421727" y="2286000"/>
            <a:ext cx="2194560"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421727" y="2286000"/>
            <a:ext cx="2194560" cy="137160"/>
          </a:xfrm>
          <a:prstGeom prst="roundRect">
            <a:avLst>
              <a:gd name="adj" fmla="val 12000"/>
            </a:avLst>
          </a:prstGeom>
          <a:solidFill>
            <a:srgbClr val="7BC4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50327" y="2743200"/>
            <a:ext cx="1737360" cy="731520"/>
          </a:xfrm>
          <a:prstGeom prst="rect">
            <a:avLst/>
          </a:prstGeom>
          <a:noFill/>
        </p:spPr>
        <p:txBody>
          <a:bodyPr wrap="square" lIns="0" rIns="0" tIns="0" bIns="0" anchor="t">
            <a:spAutoFit/>
          </a:bodyPr>
          <a:lstStyle/>
          <a:p>
            <a:pPr algn="l"/>
            <a:r>
              <a:rPr sz="1600" b="1">
                <a:solidFill>
                  <a:srgbClr val="1E1E2E"/>
                </a:solidFill>
                <a:latin typeface="Montserrat"/>
              </a:rPr>
              <a:t>Small creators grow</a:t>
            </a:r>
          </a:p>
        </p:txBody>
      </p:sp>
      <p:sp>
        <p:nvSpPr>
          <p:cNvPr id="21" name="TextBox 20"/>
          <p:cNvSpPr txBox="1"/>
          <p:nvPr/>
        </p:nvSpPr>
        <p:spPr>
          <a:xfrm>
            <a:off x="7650327" y="3383280"/>
            <a:ext cx="1737360" cy="1097280"/>
          </a:xfrm>
          <a:prstGeom prst="rect">
            <a:avLst/>
          </a:prstGeom>
          <a:noFill/>
        </p:spPr>
        <p:txBody>
          <a:bodyPr wrap="square" lIns="0" rIns="0" tIns="0" bIns="0" anchor="t">
            <a:spAutoFit/>
          </a:bodyPr>
          <a:lstStyle/>
          <a:p>
            <a:pPr algn="l"/>
            <a:r>
              <a:rPr sz="1200" b="0">
                <a:solidFill>
                  <a:srgbClr val="6B7280"/>
                </a:solidFill>
                <a:latin typeface="Inter"/>
              </a:rPr>
              <a:t>From 0 to fame in one night</a:t>
            </a:r>
          </a:p>
        </p:txBody>
      </p:sp>
      <p:sp>
        <p:nvSpPr>
          <p:cNvPr id="22" name="Rounded Rectangle 21"/>
          <p:cNvSpPr/>
          <p:nvPr/>
        </p:nvSpPr>
        <p:spPr>
          <a:xfrm>
            <a:off x="9844887" y="2286000"/>
            <a:ext cx="2194560"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844887" y="2286000"/>
            <a:ext cx="2194560" cy="137160"/>
          </a:xfrm>
          <a:prstGeom prst="roundRect">
            <a:avLst>
              <a:gd name="adj" fmla="val 12000"/>
            </a:avLst>
          </a:prstGeom>
          <a:solidFill>
            <a:srgbClr val="7BC4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73487" y="2743200"/>
            <a:ext cx="1737360" cy="731520"/>
          </a:xfrm>
          <a:prstGeom prst="rect">
            <a:avLst/>
          </a:prstGeom>
          <a:noFill/>
        </p:spPr>
        <p:txBody>
          <a:bodyPr wrap="square" lIns="0" rIns="0" tIns="0" bIns="0" anchor="t">
            <a:spAutoFit/>
          </a:bodyPr>
          <a:lstStyle/>
          <a:p>
            <a:pPr algn="l"/>
            <a:r>
              <a:rPr sz="1600" b="1">
                <a:solidFill>
                  <a:srgbClr val="1E1E2E"/>
                </a:solidFill>
                <a:latin typeface="Montserrat"/>
              </a:rPr>
              <a:t>Free learning</a:t>
            </a:r>
          </a:p>
        </p:txBody>
      </p:sp>
      <p:sp>
        <p:nvSpPr>
          <p:cNvPr id="25" name="TextBox 24"/>
          <p:cNvSpPr txBox="1"/>
          <p:nvPr/>
        </p:nvSpPr>
        <p:spPr>
          <a:xfrm>
            <a:off x="10073487" y="3383280"/>
            <a:ext cx="1737360" cy="1097280"/>
          </a:xfrm>
          <a:prstGeom prst="rect">
            <a:avLst/>
          </a:prstGeom>
          <a:noFill/>
        </p:spPr>
        <p:txBody>
          <a:bodyPr wrap="square" lIns="0" rIns="0" tIns="0" bIns="0" anchor="t">
            <a:spAutoFit/>
          </a:bodyPr>
          <a:lstStyle/>
          <a:p>
            <a:pPr algn="l"/>
            <a:r>
              <a:rPr sz="1200" b="0">
                <a:solidFill>
                  <a:srgbClr val="6B7280"/>
                </a:solidFill>
                <a:latin typeface="Inter"/>
              </a:rPr>
              <a:t>YouTube tutorials for everything</a:t>
            </a:r>
          </a:p>
        </p:txBody>
      </p:sp>
      <p:sp>
        <p:nvSpPr>
          <p:cNvPr id="26" name="TextBox 25"/>
          <p:cNvSpPr txBox="1"/>
          <p:nvPr/>
        </p:nvSpPr>
        <p:spPr>
          <a:xfrm>
            <a:off x="640080" y="5212080"/>
            <a:ext cx="10972800" cy="548640"/>
          </a:xfrm>
          <a:prstGeom prst="rect">
            <a:avLst/>
          </a:prstGeom>
          <a:noFill/>
        </p:spPr>
        <p:txBody>
          <a:bodyPr wrap="square" lIns="0" rIns="0" tIns="0" bIns="0" anchor="t">
            <a:spAutoFit/>
          </a:bodyPr>
          <a:lstStyle/>
          <a:p>
            <a:pPr algn="l"/>
            <a:r>
              <a:rPr sz="1600" b="0">
                <a:solidFill>
                  <a:srgbClr val="222831"/>
                </a:solidFill>
                <a:latin typeface="Inter"/>
              </a:rPr>
              <a:t>Example: a student can learn Python from YouTube for free.</a:t>
            </a:r>
          </a:p>
        </p:txBody>
      </p:sp>
      <p:sp>
        <p:nvSpPr>
          <p:cNvPr id="27" name="TextBox 26"/>
          <p:cNvSpPr txBox="1"/>
          <p:nvPr/>
        </p:nvSpPr>
        <p:spPr>
          <a:xfrm>
            <a:off x="457200" y="6492240"/>
            <a:ext cx="5486400" cy="274320"/>
          </a:xfrm>
          <a:prstGeom prst="rect">
            <a:avLst/>
          </a:prstGeom>
          <a:noFill/>
        </p:spPr>
        <p:txBody>
          <a:bodyPr wrap="square" lIns="0" rIns="0" tIns="0" bIns="0" anchor="t">
            <a:spAutoFit/>
          </a:bodyPr>
          <a:lstStyle/>
          <a:p>
            <a:pPr algn="l"/>
            <a:r>
              <a:rPr sz="1000" b="0">
                <a:solidFill>
                  <a:srgbClr val="6B7280"/>
                </a:solidFill>
                <a:latin typeface="Inter"/>
              </a:rPr>
              <a:t>How Social Media Algorithms Influence People</a:t>
            </a:r>
          </a:p>
        </p:txBody>
      </p:sp>
      <p:sp>
        <p:nvSpPr>
          <p:cNvPr id="28" name="TextBox 27"/>
          <p:cNvSpPr txBox="1"/>
          <p:nvPr/>
        </p:nvSpPr>
        <p:spPr>
          <a:xfrm>
            <a:off x="10362895" y="6492240"/>
            <a:ext cx="1371600" cy="274320"/>
          </a:xfrm>
          <a:prstGeom prst="rect">
            <a:avLst/>
          </a:prstGeom>
          <a:noFill/>
        </p:spPr>
        <p:txBody>
          <a:bodyPr wrap="square" lIns="0" rIns="0" tIns="0" bIns="0" anchor="t">
            <a:spAutoFit/>
          </a:bodyPr>
          <a:lstStyle/>
          <a:p>
            <a:pPr algn="r"/>
            <a:r>
              <a:rPr sz="1000" b="0">
                <a:solidFill>
                  <a:srgbClr val="6B7280"/>
                </a:solidFill>
                <a:latin typeface="Inter"/>
              </a:rPr>
              <a:t>5 / 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271455" y="-1005840"/>
            <a:ext cx="2926080" cy="2926080"/>
          </a:xfrm>
          <a:prstGeom prst="ellipse">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48640"/>
            <a:ext cx="9144000" cy="365760"/>
          </a:xfrm>
          <a:prstGeom prst="rect">
            <a:avLst/>
          </a:prstGeom>
          <a:noFill/>
        </p:spPr>
        <p:txBody>
          <a:bodyPr wrap="square" lIns="0" rIns="0" tIns="0" bIns="0" anchor="t">
            <a:spAutoFit/>
          </a:bodyPr>
          <a:lstStyle/>
          <a:p>
            <a:pPr algn="l"/>
            <a:r>
              <a:rPr sz="1200" b="1">
                <a:solidFill>
                  <a:srgbClr val="FF6B6B"/>
                </a:solidFill>
                <a:latin typeface="Inter"/>
              </a:rPr>
              <a:t>05  •  THE DARK SIDE</a:t>
            </a:r>
          </a:p>
        </p:txBody>
      </p:sp>
      <p:sp>
        <p:nvSpPr>
          <p:cNvPr id="5" name="TextBox 4"/>
          <p:cNvSpPr txBox="1"/>
          <p:nvPr/>
        </p:nvSpPr>
        <p:spPr>
          <a:xfrm>
            <a:off x="640080" y="914400"/>
            <a:ext cx="10972800" cy="914400"/>
          </a:xfrm>
          <a:prstGeom prst="rect">
            <a:avLst/>
          </a:prstGeom>
          <a:noFill/>
        </p:spPr>
        <p:txBody>
          <a:bodyPr wrap="square" lIns="0" rIns="0" tIns="0" bIns="0" anchor="t">
            <a:spAutoFit/>
          </a:bodyPr>
          <a:lstStyle/>
          <a:p>
            <a:pPr algn="l"/>
            <a:r>
              <a:rPr sz="3600" b="1">
                <a:solidFill>
                  <a:srgbClr val="1E1E2E"/>
                </a:solidFill>
                <a:latin typeface="Montserrat"/>
              </a:rPr>
              <a:t>Negative Effects of Algorithms</a:t>
            </a:r>
          </a:p>
        </p:txBody>
      </p:sp>
      <p:sp>
        <p:nvSpPr>
          <p:cNvPr id="6" name="TextBox 5"/>
          <p:cNvSpPr txBox="1"/>
          <p:nvPr/>
        </p:nvSpPr>
        <p:spPr>
          <a:xfrm>
            <a:off x="640080" y="2286000"/>
            <a:ext cx="5943600" cy="3657600"/>
          </a:xfrm>
          <a:prstGeom prst="rect">
            <a:avLst/>
          </a:prstGeom>
          <a:noFill/>
        </p:spPr>
        <p:txBody>
          <a:bodyPr wrap="square" lIns="0" rIns="0" tIns="0" bIns="0">
            <a:spAutoFit/>
          </a:bodyPr>
          <a:lstStyle/>
          <a:p>
            <a:pPr algn="l">
              <a:lnSpc>
                <a:spcPct val="125000"/>
              </a:lnSpc>
              <a:spcAft>
                <a:spcPts val="600"/>
              </a:spcAft>
            </a:pPr>
            <a:r>
              <a:rPr sz="2000" b="1">
                <a:solidFill>
                  <a:srgbClr val="5A8DEE"/>
                </a:solidFill>
                <a:latin typeface="Inter"/>
              </a:rPr>
              <a:t>•  </a:t>
            </a:r>
            <a:r>
              <a:rPr sz="2000">
                <a:solidFill>
                  <a:srgbClr val="222831"/>
                </a:solidFill>
                <a:latin typeface="Inter"/>
              </a:rPr>
              <a:t>Too much time online</a:t>
            </a:r>
          </a:p>
          <a:p>
            <a:pPr algn="l">
              <a:lnSpc>
                <a:spcPct val="125000"/>
              </a:lnSpc>
              <a:spcAft>
                <a:spcPts val="600"/>
              </a:spcAft>
            </a:pPr>
            <a:r>
              <a:rPr sz="2000" b="1">
                <a:solidFill>
                  <a:srgbClr val="5A8DEE"/>
                </a:solidFill>
                <a:latin typeface="Inter"/>
              </a:rPr>
              <a:t>•  </a:t>
            </a:r>
            <a:r>
              <a:rPr sz="2000">
                <a:solidFill>
                  <a:srgbClr val="222831"/>
                </a:solidFill>
                <a:latin typeface="Inter"/>
              </a:rPr>
              <a:t>Only one point of view (filter bubble)</a:t>
            </a:r>
          </a:p>
          <a:p>
            <a:pPr algn="l">
              <a:lnSpc>
                <a:spcPct val="125000"/>
              </a:lnSpc>
              <a:spcAft>
                <a:spcPts val="600"/>
              </a:spcAft>
            </a:pPr>
            <a:r>
              <a:rPr sz="2000" b="1">
                <a:solidFill>
                  <a:srgbClr val="5A8DEE"/>
                </a:solidFill>
                <a:latin typeface="Inter"/>
              </a:rPr>
              <a:t>•  </a:t>
            </a:r>
            <a:r>
              <a:rPr sz="2000">
                <a:solidFill>
                  <a:srgbClr val="222831"/>
                </a:solidFill>
                <a:latin typeface="Inter"/>
              </a:rPr>
              <a:t>We compare ourselves to perfect pictures</a:t>
            </a:r>
          </a:p>
          <a:p>
            <a:pPr algn="l">
              <a:lnSpc>
                <a:spcPct val="125000"/>
              </a:lnSpc>
              <a:spcAft>
                <a:spcPts val="600"/>
              </a:spcAft>
            </a:pPr>
            <a:r>
              <a:rPr sz="2000" b="1">
                <a:solidFill>
                  <a:srgbClr val="5A8DEE"/>
                </a:solidFill>
                <a:latin typeface="Inter"/>
              </a:rPr>
              <a:t>•  </a:t>
            </a:r>
            <a:r>
              <a:rPr sz="2000">
                <a:solidFill>
                  <a:srgbClr val="222831"/>
                </a:solidFill>
                <a:latin typeface="Inter"/>
              </a:rPr>
              <a:t>Anxiety and tiredness</a:t>
            </a:r>
          </a:p>
          <a:p>
            <a:pPr algn="l">
              <a:lnSpc>
                <a:spcPct val="125000"/>
              </a:lnSpc>
              <a:spcAft>
                <a:spcPts val="600"/>
              </a:spcAft>
            </a:pPr>
            <a:r>
              <a:rPr sz="2000" b="1">
                <a:solidFill>
                  <a:srgbClr val="5A8DEE"/>
                </a:solidFill>
                <a:latin typeface="Inter"/>
              </a:rPr>
              <a:t>•  </a:t>
            </a:r>
            <a:r>
              <a:rPr sz="2000">
                <a:solidFill>
                  <a:srgbClr val="222831"/>
                </a:solidFill>
                <a:latin typeface="Inter"/>
              </a:rPr>
              <a:t>Sleep problems</a:t>
            </a:r>
          </a:p>
        </p:txBody>
      </p:sp>
      <p:sp>
        <p:nvSpPr>
          <p:cNvPr id="7" name="Rounded Rectangle 6"/>
          <p:cNvSpPr/>
          <p:nvPr/>
        </p:nvSpPr>
        <p:spPr>
          <a:xfrm>
            <a:off x="7132320" y="2286000"/>
            <a:ext cx="4572000" cy="3657600"/>
          </a:xfrm>
          <a:prstGeom prst="roundRect">
            <a:avLst>
              <a:gd name="adj" fmla="val 12000"/>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0" y="2560320"/>
            <a:ext cx="4572000" cy="548640"/>
          </a:xfrm>
          <a:prstGeom prst="rect">
            <a:avLst/>
          </a:prstGeom>
          <a:noFill/>
        </p:spPr>
        <p:txBody>
          <a:bodyPr wrap="square" lIns="0" rIns="0" tIns="0" bIns="0" anchor="t">
            <a:spAutoFit/>
          </a:bodyPr>
          <a:lstStyle/>
          <a:p>
            <a:pPr algn="ctr"/>
            <a:r>
              <a:rPr sz="1200" b="1">
                <a:solidFill>
                  <a:srgbClr val="FFFFFF"/>
                </a:solidFill>
                <a:latin typeface="Inter"/>
              </a:rPr>
              <a:t>TEEN SCREEN TIME</a:t>
            </a:r>
          </a:p>
        </p:txBody>
      </p:sp>
      <p:sp>
        <p:nvSpPr>
          <p:cNvPr id="9" name="TextBox 8"/>
          <p:cNvSpPr txBox="1"/>
          <p:nvPr/>
        </p:nvSpPr>
        <p:spPr>
          <a:xfrm>
            <a:off x="7132320" y="3108960"/>
            <a:ext cx="4572000" cy="1645920"/>
          </a:xfrm>
          <a:prstGeom prst="rect">
            <a:avLst/>
          </a:prstGeom>
          <a:noFill/>
        </p:spPr>
        <p:txBody>
          <a:bodyPr wrap="square" lIns="0" rIns="0" tIns="0" bIns="0" anchor="ctr">
            <a:spAutoFit/>
          </a:bodyPr>
          <a:lstStyle/>
          <a:p>
            <a:pPr algn="ctr"/>
            <a:r>
              <a:rPr sz="9000" b="1">
                <a:solidFill>
                  <a:srgbClr val="FFFFFF"/>
                </a:solidFill>
                <a:latin typeface="Montserrat"/>
              </a:rPr>
              <a:t>4.8 h</a:t>
            </a:r>
          </a:p>
        </p:txBody>
      </p:sp>
      <p:sp>
        <p:nvSpPr>
          <p:cNvPr id="10" name="TextBox 9"/>
          <p:cNvSpPr txBox="1"/>
          <p:nvPr/>
        </p:nvSpPr>
        <p:spPr>
          <a:xfrm>
            <a:off x="7132320" y="4937760"/>
            <a:ext cx="4572000" cy="548640"/>
          </a:xfrm>
          <a:prstGeom prst="rect">
            <a:avLst/>
          </a:prstGeom>
          <a:noFill/>
        </p:spPr>
        <p:txBody>
          <a:bodyPr wrap="square" lIns="0" rIns="0" tIns="0" bIns="0" anchor="t">
            <a:spAutoFit/>
          </a:bodyPr>
          <a:lstStyle/>
          <a:p>
            <a:pPr algn="ctr"/>
            <a:r>
              <a:rPr sz="1400" b="0">
                <a:solidFill>
                  <a:srgbClr val="FFFFFF"/>
                </a:solidFill>
                <a:latin typeface="Inter"/>
              </a:rPr>
              <a:t>per day on social media (Gallup, 2023)</a:t>
            </a:r>
          </a:p>
        </p:txBody>
      </p:sp>
      <p:sp>
        <p:nvSpPr>
          <p:cNvPr id="11" name="TextBox 10"/>
          <p:cNvSpPr txBox="1"/>
          <p:nvPr/>
        </p:nvSpPr>
        <p:spPr>
          <a:xfrm>
            <a:off x="457200" y="6492240"/>
            <a:ext cx="5486400" cy="274320"/>
          </a:xfrm>
          <a:prstGeom prst="rect">
            <a:avLst/>
          </a:prstGeom>
          <a:noFill/>
        </p:spPr>
        <p:txBody>
          <a:bodyPr wrap="square" lIns="0" rIns="0" tIns="0" bIns="0" anchor="t">
            <a:spAutoFit/>
          </a:bodyPr>
          <a:lstStyle/>
          <a:p>
            <a:pPr algn="l"/>
            <a:r>
              <a:rPr sz="1000" b="0">
                <a:solidFill>
                  <a:srgbClr val="6B7280"/>
                </a:solidFill>
                <a:latin typeface="Inter"/>
              </a:rPr>
              <a:t>How Social Media Algorithms Influence People</a:t>
            </a:r>
          </a:p>
        </p:txBody>
      </p:sp>
      <p:sp>
        <p:nvSpPr>
          <p:cNvPr id="12" name="TextBox 11"/>
          <p:cNvSpPr txBox="1"/>
          <p:nvPr/>
        </p:nvSpPr>
        <p:spPr>
          <a:xfrm>
            <a:off x="10362895" y="6492240"/>
            <a:ext cx="1371600" cy="274320"/>
          </a:xfrm>
          <a:prstGeom prst="rect">
            <a:avLst/>
          </a:prstGeom>
          <a:noFill/>
        </p:spPr>
        <p:txBody>
          <a:bodyPr wrap="square" lIns="0" rIns="0" tIns="0" bIns="0" anchor="t">
            <a:spAutoFit/>
          </a:bodyPr>
          <a:lstStyle/>
          <a:p>
            <a:pPr algn="r"/>
            <a:r>
              <a:rPr sz="1000" b="0">
                <a:solidFill>
                  <a:srgbClr val="6B7280"/>
                </a:solidFill>
                <a:latin typeface="Inter"/>
              </a:rPr>
              <a:t>6 / 10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271455" y="-1005840"/>
            <a:ext cx="2926080" cy="2926080"/>
          </a:xfrm>
          <a:prstGeom prst="ellipse">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48640"/>
            <a:ext cx="9144000" cy="365760"/>
          </a:xfrm>
          <a:prstGeom prst="rect">
            <a:avLst/>
          </a:prstGeom>
          <a:noFill/>
        </p:spPr>
        <p:txBody>
          <a:bodyPr wrap="square" lIns="0" rIns="0" tIns="0" bIns="0" anchor="t">
            <a:spAutoFit/>
          </a:bodyPr>
          <a:lstStyle/>
          <a:p>
            <a:pPr algn="l"/>
            <a:r>
              <a:rPr sz="1200" b="1">
                <a:solidFill>
                  <a:srgbClr val="FF6B6B"/>
                </a:solidFill>
                <a:latin typeface="Inter"/>
              </a:rPr>
              <a:t>06  •  MISINFORMATION</a:t>
            </a:r>
          </a:p>
        </p:txBody>
      </p:sp>
      <p:sp>
        <p:nvSpPr>
          <p:cNvPr id="5" name="TextBox 4"/>
          <p:cNvSpPr txBox="1"/>
          <p:nvPr/>
        </p:nvSpPr>
        <p:spPr>
          <a:xfrm>
            <a:off x="640080" y="914400"/>
            <a:ext cx="10972800" cy="914400"/>
          </a:xfrm>
          <a:prstGeom prst="rect">
            <a:avLst/>
          </a:prstGeom>
          <a:noFill/>
        </p:spPr>
        <p:txBody>
          <a:bodyPr wrap="square" lIns="0" rIns="0" tIns="0" bIns="0" anchor="t">
            <a:spAutoFit/>
          </a:bodyPr>
          <a:lstStyle/>
          <a:p>
            <a:pPr algn="l"/>
            <a:r>
              <a:rPr sz="3600" b="1">
                <a:solidFill>
                  <a:srgbClr val="FFFFFF"/>
                </a:solidFill>
                <a:latin typeface="Montserrat"/>
              </a:rPr>
              <a:t>Fake News and Manipulation</a:t>
            </a:r>
          </a:p>
        </p:txBody>
      </p:sp>
      <p:sp>
        <p:nvSpPr>
          <p:cNvPr id="6" name="TextBox 5"/>
          <p:cNvSpPr txBox="1"/>
          <p:nvPr/>
        </p:nvSpPr>
        <p:spPr>
          <a:xfrm>
            <a:off x="640080" y="2286000"/>
            <a:ext cx="5486400" cy="2743200"/>
          </a:xfrm>
          <a:prstGeom prst="rect">
            <a:avLst/>
          </a:prstGeom>
          <a:noFill/>
        </p:spPr>
        <p:txBody>
          <a:bodyPr wrap="square" lIns="0" rIns="0" tIns="0" bIns="0" anchor="ctr">
            <a:spAutoFit/>
          </a:bodyPr>
          <a:lstStyle/>
          <a:p>
            <a:pPr algn="ctr"/>
            <a:r>
              <a:rPr sz="18000" b="1">
                <a:solidFill>
                  <a:srgbClr val="FF6B6B"/>
                </a:solidFill>
                <a:latin typeface="Montserrat"/>
              </a:rPr>
              <a:t>6×</a:t>
            </a:r>
          </a:p>
        </p:txBody>
      </p:sp>
      <p:sp>
        <p:nvSpPr>
          <p:cNvPr id="7" name="TextBox 6"/>
          <p:cNvSpPr txBox="1"/>
          <p:nvPr/>
        </p:nvSpPr>
        <p:spPr>
          <a:xfrm>
            <a:off x="640080" y="5029200"/>
            <a:ext cx="5486400" cy="548640"/>
          </a:xfrm>
          <a:prstGeom prst="rect">
            <a:avLst/>
          </a:prstGeom>
          <a:noFill/>
        </p:spPr>
        <p:txBody>
          <a:bodyPr wrap="square" lIns="0" rIns="0" tIns="0" bIns="0" anchor="t">
            <a:spAutoFit/>
          </a:bodyPr>
          <a:lstStyle/>
          <a:p>
            <a:pPr algn="ctr"/>
            <a:r>
              <a:rPr sz="1600" b="0">
                <a:solidFill>
                  <a:srgbClr val="FFFFFF"/>
                </a:solidFill>
                <a:latin typeface="Inter"/>
              </a:rPr>
              <a:t>faster than real news (MIT, 2018)</a:t>
            </a:r>
          </a:p>
        </p:txBody>
      </p:sp>
      <p:sp>
        <p:nvSpPr>
          <p:cNvPr id="8" name="TextBox 7"/>
          <p:cNvSpPr txBox="1"/>
          <p:nvPr/>
        </p:nvSpPr>
        <p:spPr>
          <a:xfrm>
            <a:off x="6858000" y="2286000"/>
            <a:ext cx="5029200" cy="3657600"/>
          </a:xfrm>
          <a:prstGeom prst="rect">
            <a:avLst/>
          </a:prstGeom>
          <a:noFill/>
        </p:spPr>
        <p:txBody>
          <a:bodyPr wrap="square" lIns="0" rIns="0" tIns="0" bIns="0">
            <a:spAutoFit/>
          </a:bodyPr>
          <a:lstStyle/>
          <a:p>
            <a:pPr algn="l">
              <a:lnSpc>
                <a:spcPct val="125000"/>
              </a:lnSpc>
              <a:spcAft>
                <a:spcPts val="600"/>
              </a:spcAft>
            </a:pPr>
            <a:r>
              <a:rPr sz="1800" b="1">
                <a:solidFill>
                  <a:srgbClr val="5A8DEE"/>
                </a:solidFill>
                <a:latin typeface="Inter"/>
              </a:rPr>
              <a:t>•  </a:t>
            </a:r>
            <a:r>
              <a:rPr sz="1800">
                <a:solidFill>
                  <a:srgbClr val="FFFFFF"/>
                </a:solidFill>
                <a:latin typeface="Inter"/>
              </a:rPr>
              <a:t>Algorithms love strong emotions</a:t>
            </a:r>
          </a:p>
          <a:p>
            <a:pPr algn="l">
              <a:lnSpc>
                <a:spcPct val="125000"/>
              </a:lnSpc>
              <a:spcAft>
                <a:spcPts val="600"/>
              </a:spcAft>
            </a:pPr>
            <a:r>
              <a:rPr sz="1800" b="1">
                <a:solidFill>
                  <a:srgbClr val="5A8DEE"/>
                </a:solidFill>
                <a:latin typeface="Inter"/>
              </a:rPr>
              <a:t>•  </a:t>
            </a:r>
            <a:r>
              <a:rPr sz="1800">
                <a:solidFill>
                  <a:srgbClr val="FFFFFF"/>
                </a:solidFill>
                <a:latin typeface="Inter"/>
              </a:rPr>
              <a:t>Shocking news = more clicks</a:t>
            </a:r>
          </a:p>
          <a:p>
            <a:pPr algn="l">
              <a:lnSpc>
                <a:spcPct val="125000"/>
              </a:lnSpc>
              <a:spcAft>
                <a:spcPts val="600"/>
              </a:spcAft>
            </a:pPr>
            <a:r>
              <a:rPr sz="1800" b="1">
                <a:solidFill>
                  <a:srgbClr val="5A8DEE"/>
                </a:solidFill>
                <a:latin typeface="Inter"/>
              </a:rPr>
              <a:t>•  </a:t>
            </a:r>
            <a:r>
              <a:rPr sz="1800">
                <a:solidFill>
                  <a:srgbClr val="FFFFFF"/>
                </a:solidFill>
                <a:latin typeface="Inter"/>
              </a:rPr>
              <a:t>Used in politics &amp; advertising</a:t>
            </a:r>
          </a:p>
          <a:p>
            <a:pPr algn="l">
              <a:lnSpc>
                <a:spcPct val="125000"/>
              </a:lnSpc>
              <a:spcAft>
                <a:spcPts val="600"/>
              </a:spcAft>
            </a:pPr>
            <a:r>
              <a:rPr sz="1800" b="1">
                <a:solidFill>
                  <a:srgbClr val="5A8DEE"/>
                </a:solidFill>
                <a:latin typeface="Inter"/>
              </a:rPr>
              <a:t>•  </a:t>
            </a:r>
            <a:r>
              <a:rPr sz="1800">
                <a:solidFill>
                  <a:srgbClr val="FFFFFF"/>
                </a:solidFill>
                <a:latin typeface="Inter"/>
              </a:rPr>
              <a:t>Cambridge Analytica scandal (2018)</a:t>
            </a:r>
          </a:p>
        </p:txBody>
      </p:sp>
      <p:sp>
        <p:nvSpPr>
          <p:cNvPr id="9" name="TextBox 8"/>
          <p:cNvSpPr txBox="1"/>
          <p:nvPr/>
        </p:nvSpPr>
        <p:spPr>
          <a:xfrm>
            <a:off x="457200" y="6492240"/>
            <a:ext cx="5486400" cy="274320"/>
          </a:xfrm>
          <a:prstGeom prst="rect">
            <a:avLst/>
          </a:prstGeom>
          <a:noFill/>
        </p:spPr>
        <p:txBody>
          <a:bodyPr wrap="square" lIns="0" rIns="0" tIns="0" bIns="0" anchor="t">
            <a:spAutoFit/>
          </a:bodyPr>
          <a:lstStyle/>
          <a:p>
            <a:pPr algn="l"/>
            <a:r>
              <a:rPr sz="1000" b="0">
                <a:solidFill>
                  <a:srgbClr val="6B7280"/>
                </a:solidFill>
                <a:latin typeface="Inter"/>
              </a:rPr>
              <a:t>How Social Media Algorithms Influence People</a:t>
            </a:r>
          </a:p>
        </p:txBody>
      </p:sp>
      <p:sp>
        <p:nvSpPr>
          <p:cNvPr id="10" name="TextBox 9"/>
          <p:cNvSpPr txBox="1"/>
          <p:nvPr/>
        </p:nvSpPr>
        <p:spPr>
          <a:xfrm>
            <a:off x="10362895" y="6492240"/>
            <a:ext cx="1371600" cy="274320"/>
          </a:xfrm>
          <a:prstGeom prst="rect">
            <a:avLst/>
          </a:prstGeom>
          <a:noFill/>
        </p:spPr>
        <p:txBody>
          <a:bodyPr wrap="square" lIns="0" rIns="0" tIns="0" bIns="0" anchor="t">
            <a:spAutoFit/>
          </a:bodyPr>
          <a:lstStyle/>
          <a:p>
            <a:pPr algn="r"/>
            <a:r>
              <a:rPr sz="1000" b="0">
                <a:solidFill>
                  <a:srgbClr val="6B7280"/>
                </a:solidFill>
                <a:latin typeface="Inter"/>
              </a:rPr>
              <a:t>7 / 10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271455" y="-1005840"/>
            <a:ext cx="2926080" cy="2926080"/>
          </a:xfrm>
          <a:prstGeom prst="ellipse">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48640"/>
            <a:ext cx="9144000" cy="365760"/>
          </a:xfrm>
          <a:prstGeom prst="rect">
            <a:avLst/>
          </a:prstGeom>
          <a:noFill/>
        </p:spPr>
        <p:txBody>
          <a:bodyPr wrap="square" lIns="0" rIns="0" tIns="0" bIns="0" anchor="t">
            <a:spAutoFit/>
          </a:bodyPr>
          <a:lstStyle/>
          <a:p>
            <a:pPr algn="l"/>
            <a:r>
              <a:rPr sz="1200" b="1">
                <a:solidFill>
                  <a:srgbClr val="FF6B6B"/>
                </a:solidFill>
                <a:latin typeface="Inter"/>
              </a:rPr>
              <a:t>07  •  WELL-BEING</a:t>
            </a:r>
          </a:p>
        </p:txBody>
      </p:sp>
      <p:sp>
        <p:nvSpPr>
          <p:cNvPr id="5" name="TextBox 4"/>
          <p:cNvSpPr txBox="1"/>
          <p:nvPr/>
        </p:nvSpPr>
        <p:spPr>
          <a:xfrm>
            <a:off x="640080" y="914400"/>
            <a:ext cx="10972800" cy="914400"/>
          </a:xfrm>
          <a:prstGeom prst="rect">
            <a:avLst/>
          </a:prstGeom>
          <a:noFill/>
        </p:spPr>
        <p:txBody>
          <a:bodyPr wrap="square" lIns="0" rIns="0" tIns="0" bIns="0" anchor="t">
            <a:spAutoFit/>
          </a:bodyPr>
          <a:lstStyle/>
          <a:p>
            <a:pPr algn="l"/>
            <a:r>
              <a:rPr sz="3600" b="1">
                <a:solidFill>
                  <a:srgbClr val="1E1E2E"/>
                </a:solidFill>
                <a:latin typeface="Montserrat"/>
              </a:rPr>
              <a:t>Mental Health and Addiction</a:t>
            </a:r>
          </a:p>
        </p:txBody>
      </p:sp>
      <p:sp>
        <p:nvSpPr>
          <p:cNvPr id="6" name="TextBox 5"/>
          <p:cNvSpPr txBox="1"/>
          <p:nvPr/>
        </p:nvSpPr>
        <p:spPr>
          <a:xfrm>
            <a:off x="640080" y="2286000"/>
            <a:ext cx="6400800" cy="3657600"/>
          </a:xfrm>
          <a:prstGeom prst="rect">
            <a:avLst/>
          </a:prstGeom>
          <a:noFill/>
        </p:spPr>
        <p:txBody>
          <a:bodyPr wrap="square" lIns="0" rIns="0" tIns="0" bIns="0">
            <a:spAutoFit/>
          </a:bodyPr>
          <a:lstStyle/>
          <a:p>
            <a:pPr algn="l">
              <a:lnSpc>
                <a:spcPct val="125000"/>
              </a:lnSpc>
              <a:spcAft>
                <a:spcPts val="600"/>
              </a:spcAft>
            </a:pPr>
            <a:r>
              <a:rPr sz="2000" b="1">
                <a:solidFill>
                  <a:srgbClr val="5A8DEE"/>
                </a:solidFill>
                <a:latin typeface="Inter"/>
              </a:rPr>
              <a:t>•  </a:t>
            </a:r>
            <a:r>
              <a:rPr sz="2000">
                <a:solidFill>
                  <a:srgbClr val="222831"/>
                </a:solidFill>
                <a:latin typeface="Inter"/>
              </a:rPr>
              <a:t>Endless scroll = dopamine loop</a:t>
            </a:r>
          </a:p>
          <a:p>
            <a:pPr algn="l">
              <a:lnSpc>
                <a:spcPct val="125000"/>
              </a:lnSpc>
              <a:spcAft>
                <a:spcPts val="600"/>
              </a:spcAft>
            </a:pPr>
            <a:r>
              <a:rPr sz="2000" b="1">
                <a:solidFill>
                  <a:srgbClr val="5A8DEE"/>
                </a:solidFill>
                <a:latin typeface="Inter"/>
              </a:rPr>
              <a:t>•  </a:t>
            </a:r>
            <a:r>
              <a:rPr sz="2000">
                <a:solidFill>
                  <a:srgbClr val="222831"/>
                </a:solidFill>
                <a:latin typeface="Inter"/>
              </a:rPr>
              <a:t>Higher risk of anxiety &amp; depression</a:t>
            </a:r>
          </a:p>
          <a:p>
            <a:pPr algn="l">
              <a:lnSpc>
                <a:spcPct val="125000"/>
              </a:lnSpc>
              <a:spcAft>
                <a:spcPts val="600"/>
              </a:spcAft>
            </a:pPr>
            <a:r>
              <a:rPr sz="2000" b="1">
                <a:solidFill>
                  <a:srgbClr val="5A8DEE"/>
                </a:solidFill>
                <a:latin typeface="Inter"/>
              </a:rPr>
              <a:t>•  </a:t>
            </a:r>
            <a:r>
              <a:rPr sz="2000">
                <a:solidFill>
                  <a:srgbClr val="222831"/>
                </a:solidFill>
                <a:latin typeface="Inter"/>
              </a:rPr>
              <a:t>Especially for teenagers</a:t>
            </a:r>
          </a:p>
          <a:p>
            <a:pPr algn="l">
              <a:lnSpc>
                <a:spcPct val="125000"/>
              </a:lnSpc>
              <a:spcAft>
                <a:spcPts val="600"/>
              </a:spcAft>
            </a:pPr>
            <a:r>
              <a:rPr sz="2000" b="1">
                <a:solidFill>
                  <a:srgbClr val="5A8DEE"/>
                </a:solidFill>
                <a:latin typeface="Inter"/>
              </a:rPr>
              <a:t>•  </a:t>
            </a:r>
            <a:r>
              <a:rPr sz="2000">
                <a:solidFill>
                  <a:srgbClr val="222831"/>
                </a:solidFill>
                <a:latin typeface="Inter"/>
              </a:rPr>
              <a:t>TikTok &amp; Instagram Reels — most addictive</a:t>
            </a:r>
          </a:p>
          <a:p>
            <a:pPr algn="l">
              <a:lnSpc>
                <a:spcPct val="125000"/>
              </a:lnSpc>
              <a:spcAft>
                <a:spcPts val="600"/>
              </a:spcAft>
            </a:pPr>
            <a:r>
              <a:rPr sz="2000" b="1">
                <a:solidFill>
                  <a:srgbClr val="5A8DEE"/>
                </a:solidFill>
                <a:latin typeface="Inter"/>
              </a:rPr>
              <a:t>•  </a:t>
            </a:r>
            <a:r>
              <a:rPr sz="2000">
                <a:solidFill>
                  <a:srgbClr val="222831"/>
                </a:solidFill>
                <a:latin typeface="Inter"/>
              </a:rPr>
              <a:t>Many people check the phone 100+ times a day</a:t>
            </a:r>
          </a:p>
        </p:txBody>
      </p:sp>
      <p:sp>
        <p:nvSpPr>
          <p:cNvPr id="7" name="Rounded Rectangle 6"/>
          <p:cNvSpPr/>
          <p:nvPr/>
        </p:nvSpPr>
        <p:spPr>
          <a:xfrm>
            <a:off x="7589520" y="2286000"/>
            <a:ext cx="4114800" cy="3657600"/>
          </a:xfrm>
          <a:prstGeom prst="roundRect">
            <a:avLst>
              <a:gd name="adj" fmla="val 12000"/>
            </a:avLst>
          </a:prstGeom>
          <a:solidFill>
            <a:srgbClr val="1E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0" y="2560320"/>
            <a:ext cx="4114800" cy="548640"/>
          </a:xfrm>
          <a:prstGeom prst="rect">
            <a:avLst/>
          </a:prstGeom>
          <a:noFill/>
        </p:spPr>
        <p:txBody>
          <a:bodyPr wrap="square" lIns="0" rIns="0" tIns="0" bIns="0" anchor="t">
            <a:spAutoFit/>
          </a:bodyPr>
          <a:lstStyle/>
          <a:p>
            <a:pPr algn="ctr"/>
            <a:r>
              <a:rPr sz="1100" b="1">
                <a:solidFill>
                  <a:srgbClr val="5A8DEE"/>
                </a:solidFill>
                <a:latin typeface="Inter"/>
              </a:rPr>
              <a:t>TEENS, 3+ HOURS / DAY</a:t>
            </a:r>
          </a:p>
        </p:txBody>
      </p:sp>
      <p:sp>
        <p:nvSpPr>
          <p:cNvPr id="9" name="TextBox 8"/>
          <p:cNvSpPr txBox="1"/>
          <p:nvPr/>
        </p:nvSpPr>
        <p:spPr>
          <a:xfrm>
            <a:off x="7589520" y="3108960"/>
            <a:ext cx="4114800" cy="1645920"/>
          </a:xfrm>
          <a:prstGeom prst="rect">
            <a:avLst/>
          </a:prstGeom>
          <a:noFill/>
        </p:spPr>
        <p:txBody>
          <a:bodyPr wrap="square" lIns="0" rIns="0" tIns="0" bIns="0" anchor="ctr">
            <a:spAutoFit/>
          </a:bodyPr>
          <a:lstStyle/>
          <a:p>
            <a:pPr algn="ctr"/>
            <a:r>
              <a:rPr sz="12000" b="1">
                <a:solidFill>
                  <a:srgbClr val="FFFFFF"/>
                </a:solidFill>
                <a:latin typeface="Montserrat"/>
              </a:rPr>
              <a:t>2×</a:t>
            </a:r>
          </a:p>
        </p:txBody>
      </p:sp>
      <p:sp>
        <p:nvSpPr>
          <p:cNvPr id="10" name="TextBox 9"/>
          <p:cNvSpPr txBox="1"/>
          <p:nvPr/>
        </p:nvSpPr>
        <p:spPr>
          <a:xfrm>
            <a:off x="7589520" y="4937760"/>
            <a:ext cx="4114800" cy="731520"/>
          </a:xfrm>
          <a:prstGeom prst="rect">
            <a:avLst/>
          </a:prstGeom>
          <a:noFill/>
        </p:spPr>
        <p:txBody>
          <a:bodyPr wrap="square" lIns="0" rIns="0" tIns="0" bIns="0" anchor="t">
            <a:spAutoFit/>
          </a:bodyPr>
          <a:lstStyle/>
          <a:p>
            <a:pPr algn="ctr"/>
            <a:r>
              <a:rPr sz="1300" b="0">
                <a:solidFill>
                  <a:srgbClr val="FFFFFF"/>
                </a:solidFill>
                <a:latin typeface="Inter"/>
              </a:rPr>
              <a:t>higher risk of depression</a:t>
            </a:r>
          </a:p>
          <a:p>
            <a:pPr algn="ctr"/>
            <a:r>
              <a:rPr sz="1300" b="0">
                <a:solidFill>
                  <a:srgbClr val="FFFFFF"/>
                </a:solidFill>
                <a:latin typeface="Inter"/>
              </a:rPr>
              <a:t>(JAMA Psychiatry, 2019)</a:t>
            </a:r>
          </a:p>
        </p:txBody>
      </p:sp>
      <p:sp>
        <p:nvSpPr>
          <p:cNvPr id="11" name="TextBox 10"/>
          <p:cNvSpPr txBox="1"/>
          <p:nvPr/>
        </p:nvSpPr>
        <p:spPr>
          <a:xfrm>
            <a:off x="457200" y="6492240"/>
            <a:ext cx="5486400" cy="274320"/>
          </a:xfrm>
          <a:prstGeom prst="rect">
            <a:avLst/>
          </a:prstGeom>
          <a:noFill/>
        </p:spPr>
        <p:txBody>
          <a:bodyPr wrap="square" lIns="0" rIns="0" tIns="0" bIns="0" anchor="t">
            <a:spAutoFit/>
          </a:bodyPr>
          <a:lstStyle/>
          <a:p>
            <a:pPr algn="l"/>
            <a:r>
              <a:rPr sz="1000" b="0">
                <a:solidFill>
                  <a:srgbClr val="6B7280"/>
                </a:solidFill>
                <a:latin typeface="Inter"/>
              </a:rPr>
              <a:t>How Social Media Algorithms Influence People</a:t>
            </a:r>
          </a:p>
        </p:txBody>
      </p:sp>
      <p:sp>
        <p:nvSpPr>
          <p:cNvPr id="12" name="TextBox 11"/>
          <p:cNvSpPr txBox="1"/>
          <p:nvPr/>
        </p:nvSpPr>
        <p:spPr>
          <a:xfrm>
            <a:off x="10362895" y="6492240"/>
            <a:ext cx="1371600" cy="274320"/>
          </a:xfrm>
          <a:prstGeom prst="rect">
            <a:avLst/>
          </a:prstGeom>
          <a:noFill/>
        </p:spPr>
        <p:txBody>
          <a:bodyPr wrap="square" lIns="0" rIns="0" tIns="0" bIns="0" anchor="t">
            <a:spAutoFit/>
          </a:bodyPr>
          <a:lstStyle/>
          <a:p>
            <a:pPr algn="r"/>
            <a:r>
              <a:rPr sz="1000" b="0">
                <a:solidFill>
                  <a:srgbClr val="6B7280"/>
                </a:solidFill>
                <a:latin typeface="Inter"/>
              </a:rPr>
              <a:t>8 / 10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271455" y="-1005840"/>
            <a:ext cx="2926080" cy="2926080"/>
          </a:xfrm>
          <a:prstGeom prst="ellipse">
            <a:avLst/>
          </a:prstGeom>
          <a:solidFill>
            <a:srgbClr val="7BC4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548640"/>
            <a:ext cx="9144000" cy="365760"/>
          </a:xfrm>
          <a:prstGeom prst="rect">
            <a:avLst/>
          </a:prstGeom>
          <a:noFill/>
        </p:spPr>
        <p:txBody>
          <a:bodyPr wrap="square" lIns="0" rIns="0" tIns="0" bIns="0" anchor="t">
            <a:spAutoFit/>
          </a:bodyPr>
          <a:lstStyle/>
          <a:p>
            <a:pPr algn="l"/>
            <a:r>
              <a:rPr sz="1200" b="1">
                <a:solidFill>
                  <a:srgbClr val="7BC47F"/>
                </a:solidFill>
                <a:latin typeface="Inter"/>
              </a:rPr>
              <a:t>08  •  TAKE CONTROL</a:t>
            </a:r>
          </a:p>
        </p:txBody>
      </p:sp>
      <p:sp>
        <p:nvSpPr>
          <p:cNvPr id="5" name="TextBox 4"/>
          <p:cNvSpPr txBox="1"/>
          <p:nvPr/>
        </p:nvSpPr>
        <p:spPr>
          <a:xfrm>
            <a:off x="640080" y="914400"/>
            <a:ext cx="10972800" cy="914400"/>
          </a:xfrm>
          <a:prstGeom prst="rect">
            <a:avLst/>
          </a:prstGeom>
          <a:noFill/>
        </p:spPr>
        <p:txBody>
          <a:bodyPr wrap="square" lIns="0" rIns="0" tIns="0" bIns="0" anchor="t">
            <a:spAutoFit/>
          </a:bodyPr>
          <a:lstStyle/>
          <a:p>
            <a:pPr algn="l"/>
            <a:r>
              <a:rPr sz="3600" b="1">
                <a:solidFill>
                  <a:srgbClr val="1E1E2E"/>
                </a:solidFill>
                <a:latin typeface="Montserrat"/>
              </a:rPr>
              <a:t>How to Use Social Media Safely</a:t>
            </a:r>
          </a:p>
        </p:txBody>
      </p:sp>
      <p:sp>
        <p:nvSpPr>
          <p:cNvPr id="6" name="Rounded Rectangle 5"/>
          <p:cNvSpPr/>
          <p:nvPr/>
        </p:nvSpPr>
        <p:spPr>
          <a:xfrm>
            <a:off x="640080" y="2194560"/>
            <a:ext cx="7772400" cy="64008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04672" y="2313432"/>
            <a:ext cx="402336" cy="402336"/>
          </a:xfrm>
          <a:prstGeom prst="ellipse">
            <a:avLst/>
          </a:prstGeom>
          <a:solidFill>
            <a:srgbClr val="7BC4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194560"/>
            <a:ext cx="731520" cy="640080"/>
          </a:xfrm>
          <a:prstGeom prst="rect">
            <a:avLst/>
          </a:prstGeom>
          <a:noFill/>
        </p:spPr>
        <p:txBody>
          <a:bodyPr wrap="square" lIns="0" rIns="0" tIns="0" bIns="0" anchor="ctr">
            <a:spAutoFit/>
          </a:bodyPr>
          <a:lstStyle/>
          <a:p>
            <a:pPr algn="ctr"/>
            <a:r>
              <a:rPr sz="1800" b="1">
                <a:solidFill>
                  <a:srgbClr val="FFFFFF"/>
                </a:solidFill>
                <a:latin typeface="Montserrat"/>
              </a:rPr>
              <a:t>✓</a:t>
            </a:r>
          </a:p>
        </p:txBody>
      </p:sp>
      <p:sp>
        <p:nvSpPr>
          <p:cNvPr id="9" name="TextBox 8"/>
          <p:cNvSpPr txBox="1"/>
          <p:nvPr/>
        </p:nvSpPr>
        <p:spPr>
          <a:xfrm>
            <a:off x="1463040" y="2194560"/>
            <a:ext cx="6858000" cy="640080"/>
          </a:xfrm>
          <a:prstGeom prst="rect">
            <a:avLst/>
          </a:prstGeom>
          <a:noFill/>
        </p:spPr>
        <p:txBody>
          <a:bodyPr wrap="square" lIns="0" rIns="0" tIns="0" bIns="0" anchor="ctr">
            <a:spAutoFit/>
          </a:bodyPr>
          <a:lstStyle/>
          <a:p>
            <a:pPr algn="l"/>
            <a:r>
              <a:rPr sz="1600" b="0">
                <a:solidFill>
                  <a:srgbClr val="222831"/>
                </a:solidFill>
                <a:latin typeface="Inter"/>
              </a:rPr>
              <a:t>Set a daily TIME LIMIT</a:t>
            </a:r>
          </a:p>
        </p:txBody>
      </p:sp>
      <p:sp>
        <p:nvSpPr>
          <p:cNvPr id="10" name="Rounded Rectangle 9"/>
          <p:cNvSpPr/>
          <p:nvPr/>
        </p:nvSpPr>
        <p:spPr>
          <a:xfrm>
            <a:off x="640080" y="2926080"/>
            <a:ext cx="7772400" cy="64008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04672" y="3044952"/>
            <a:ext cx="402336" cy="402336"/>
          </a:xfrm>
          <a:prstGeom prst="ellipse">
            <a:avLst/>
          </a:prstGeom>
          <a:solidFill>
            <a:srgbClr val="7BC4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2926080"/>
            <a:ext cx="731520" cy="640080"/>
          </a:xfrm>
          <a:prstGeom prst="rect">
            <a:avLst/>
          </a:prstGeom>
          <a:noFill/>
        </p:spPr>
        <p:txBody>
          <a:bodyPr wrap="square" lIns="0" rIns="0" tIns="0" bIns="0" anchor="ctr">
            <a:spAutoFit/>
          </a:bodyPr>
          <a:lstStyle/>
          <a:p>
            <a:pPr algn="ctr"/>
            <a:r>
              <a:rPr sz="1800" b="1">
                <a:solidFill>
                  <a:srgbClr val="FFFFFF"/>
                </a:solidFill>
                <a:latin typeface="Montserrat"/>
              </a:rPr>
              <a:t>✓</a:t>
            </a:r>
          </a:p>
        </p:txBody>
      </p:sp>
      <p:sp>
        <p:nvSpPr>
          <p:cNvPr id="13" name="TextBox 12"/>
          <p:cNvSpPr txBox="1"/>
          <p:nvPr/>
        </p:nvSpPr>
        <p:spPr>
          <a:xfrm>
            <a:off x="1463040" y="2926080"/>
            <a:ext cx="6858000" cy="640080"/>
          </a:xfrm>
          <a:prstGeom prst="rect">
            <a:avLst/>
          </a:prstGeom>
          <a:noFill/>
        </p:spPr>
        <p:txBody>
          <a:bodyPr wrap="square" lIns="0" rIns="0" tIns="0" bIns="0" anchor="ctr">
            <a:spAutoFit/>
          </a:bodyPr>
          <a:lstStyle/>
          <a:p>
            <a:pPr algn="l"/>
            <a:r>
              <a:rPr sz="1600" b="0">
                <a:solidFill>
                  <a:srgbClr val="222831"/>
                </a:solidFill>
                <a:latin typeface="Inter"/>
              </a:rPr>
              <a:t>Turn OFF push notifications</a:t>
            </a:r>
          </a:p>
        </p:txBody>
      </p:sp>
      <p:sp>
        <p:nvSpPr>
          <p:cNvPr id="14" name="Rounded Rectangle 13"/>
          <p:cNvSpPr/>
          <p:nvPr/>
        </p:nvSpPr>
        <p:spPr>
          <a:xfrm>
            <a:off x="640080" y="3657600"/>
            <a:ext cx="7772400" cy="64008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04672" y="3776472"/>
            <a:ext cx="402336" cy="402336"/>
          </a:xfrm>
          <a:prstGeom prst="ellipse">
            <a:avLst/>
          </a:prstGeom>
          <a:solidFill>
            <a:srgbClr val="7BC4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3657600"/>
            <a:ext cx="731520" cy="640080"/>
          </a:xfrm>
          <a:prstGeom prst="rect">
            <a:avLst/>
          </a:prstGeom>
          <a:noFill/>
        </p:spPr>
        <p:txBody>
          <a:bodyPr wrap="square" lIns="0" rIns="0" tIns="0" bIns="0" anchor="ctr">
            <a:spAutoFit/>
          </a:bodyPr>
          <a:lstStyle/>
          <a:p>
            <a:pPr algn="ctr"/>
            <a:r>
              <a:rPr sz="1800" b="1">
                <a:solidFill>
                  <a:srgbClr val="FFFFFF"/>
                </a:solidFill>
                <a:latin typeface="Montserrat"/>
              </a:rPr>
              <a:t>✓</a:t>
            </a:r>
          </a:p>
        </p:txBody>
      </p:sp>
      <p:sp>
        <p:nvSpPr>
          <p:cNvPr id="17" name="TextBox 16"/>
          <p:cNvSpPr txBox="1"/>
          <p:nvPr/>
        </p:nvSpPr>
        <p:spPr>
          <a:xfrm>
            <a:off x="1463040" y="3657600"/>
            <a:ext cx="6858000" cy="640080"/>
          </a:xfrm>
          <a:prstGeom prst="rect">
            <a:avLst/>
          </a:prstGeom>
          <a:noFill/>
        </p:spPr>
        <p:txBody>
          <a:bodyPr wrap="square" lIns="0" rIns="0" tIns="0" bIns="0" anchor="ctr">
            <a:spAutoFit/>
          </a:bodyPr>
          <a:lstStyle/>
          <a:p>
            <a:pPr algn="l"/>
            <a:r>
              <a:rPr sz="1600" b="0">
                <a:solidFill>
                  <a:srgbClr val="222831"/>
                </a:solidFill>
                <a:latin typeface="Inter"/>
              </a:rPr>
              <a:t>Follow POSITIVE accounts</a:t>
            </a:r>
          </a:p>
        </p:txBody>
      </p:sp>
      <p:sp>
        <p:nvSpPr>
          <p:cNvPr id="18" name="Rounded Rectangle 17"/>
          <p:cNvSpPr/>
          <p:nvPr/>
        </p:nvSpPr>
        <p:spPr>
          <a:xfrm>
            <a:off x="640080" y="4389120"/>
            <a:ext cx="7772400" cy="64008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04672" y="4507992"/>
            <a:ext cx="402336" cy="402336"/>
          </a:xfrm>
          <a:prstGeom prst="ellipse">
            <a:avLst/>
          </a:prstGeom>
          <a:solidFill>
            <a:srgbClr val="7BC4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4389120"/>
            <a:ext cx="731520" cy="640080"/>
          </a:xfrm>
          <a:prstGeom prst="rect">
            <a:avLst/>
          </a:prstGeom>
          <a:noFill/>
        </p:spPr>
        <p:txBody>
          <a:bodyPr wrap="square" lIns="0" rIns="0" tIns="0" bIns="0" anchor="ctr">
            <a:spAutoFit/>
          </a:bodyPr>
          <a:lstStyle/>
          <a:p>
            <a:pPr algn="ctr"/>
            <a:r>
              <a:rPr sz="1800" b="1">
                <a:solidFill>
                  <a:srgbClr val="FFFFFF"/>
                </a:solidFill>
                <a:latin typeface="Montserrat"/>
              </a:rPr>
              <a:t>✓</a:t>
            </a:r>
          </a:p>
        </p:txBody>
      </p:sp>
      <p:sp>
        <p:nvSpPr>
          <p:cNvPr id="21" name="TextBox 20"/>
          <p:cNvSpPr txBox="1"/>
          <p:nvPr/>
        </p:nvSpPr>
        <p:spPr>
          <a:xfrm>
            <a:off x="1463040" y="4389120"/>
            <a:ext cx="6858000" cy="640080"/>
          </a:xfrm>
          <a:prstGeom prst="rect">
            <a:avLst/>
          </a:prstGeom>
          <a:noFill/>
        </p:spPr>
        <p:txBody>
          <a:bodyPr wrap="square" lIns="0" rIns="0" tIns="0" bIns="0" anchor="ctr">
            <a:spAutoFit/>
          </a:bodyPr>
          <a:lstStyle/>
          <a:p>
            <a:pPr algn="l"/>
            <a:r>
              <a:rPr sz="1600" b="0">
                <a:solidFill>
                  <a:srgbClr val="222831"/>
                </a:solidFill>
                <a:latin typeface="Inter"/>
              </a:rPr>
              <a:t>Check sources before sharing news</a:t>
            </a:r>
          </a:p>
        </p:txBody>
      </p:sp>
      <p:sp>
        <p:nvSpPr>
          <p:cNvPr id="22" name="Rounded Rectangle 21"/>
          <p:cNvSpPr/>
          <p:nvPr/>
        </p:nvSpPr>
        <p:spPr>
          <a:xfrm>
            <a:off x="640080" y="5120640"/>
            <a:ext cx="7772400" cy="64008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04672" y="5239512"/>
            <a:ext cx="402336" cy="402336"/>
          </a:xfrm>
          <a:prstGeom prst="ellipse">
            <a:avLst/>
          </a:prstGeom>
          <a:solidFill>
            <a:srgbClr val="7BC4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5120640"/>
            <a:ext cx="731520" cy="640080"/>
          </a:xfrm>
          <a:prstGeom prst="rect">
            <a:avLst/>
          </a:prstGeom>
          <a:noFill/>
        </p:spPr>
        <p:txBody>
          <a:bodyPr wrap="square" lIns="0" rIns="0" tIns="0" bIns="0" anchor="ctr">
            <a:spAutoFit/>
          </a:bodyPr>
          <a:lstStyle/>
          <a:p>
            <a:pPr algn="ctr"/>
            <a:r>
              <a:rPr sz="1800" b="1">
                <a:solidFill>
                  <a:srgbClr val="FFFFFF"/>
                </a:solidFill>
                <a:latin typeface="Montserrat"/>
              </a:rPr>
              <a:t>✓</a:t>
            </a:r>
          </a:p>
        </p:txBody>
      </p:sp>
      <p:sp>
        <p:nvSpPr>
          <p:cNvPr id="25" name="TextBox 24"/>
          <p:cNvSpPr txBox="1"/>
          <p:nvPr/>
        </p:nvSpPr>
        <p:spPr>
          <a:xfrm>
            <a:off x="1463040" y="5120640"/>
            <a:ext cx="6858000" cy="640080"/>
          </a:xfrm>
          <a:prstGeom prst="rect">
            <a:avLst/>
          </a:prstGeom>
          <a:noFill/>
        </p:spPr>
        <p:txBody>
          <a:bodyPr wrap="square" lIns="0" rIns="0" tIns="0" bIns="0" anchor="ctr">
            <a:spAutoFit/>
          </a:bodyPr>
          <a:lstStyle/>
          <a:p>
            <a:pPr algn="l"/>
            <a:r>
              <a:rPr sz="1600" b="0">
                <a:solidFill>
                  <a:srgbClr val="222831"/>
                </a:solidFill>
                <a:latin typeface="Inter"/>
              </a:rPr>
              <a:t>Take a DIGITAL DETOX day</a:t>
            </a:r>
          </a:p>
        </p:txBody>
      </p:sp>
      <p:sp>
        <p:nvSpPr>
          <p:cNvPr id="26" name="Rounded Rectangle 25"/>
          <p:cNvSpPr/>
          <p:nvPr/>
        </p:nvSpPr>
        <p:spPr>
          <a:xfrm>
            <a:off x="640080" y="5852160"/>
            <a:ext cx="7772400" cy="64008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804672" y="5971032"/>
            <a:ext cx="402336" cy="402336"/>
          </a:xfrm>
          <a:prstGeom prst="ellipse">
            <a:avLst/>
          </a:prstGeom>
          <a:solidFill>
            <a:srgbClr val="7BC4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 y="5852160"/>
            <a:ext cx="731520" cy="640080"/>
          </a:xfrm>
          <a:prstGeom prst="rect">
            <a:avLst/>
          </a:prstGeom>
          <a:noFill/>
        </p:spPr>
        <p:txBody>
          <a:bodyPr wrap="square" lIns="0" rIns="0" tIns="0" bIns="0" anchor="ctr">
            <a:spAutoFit/>
          </a:bodyPr>
          <a:lstStyle/>
          <a:p>
            <a:pPr algn="ctr"/>
            <a:r>
              <a:rPr sz="1800" b="1">
                <a:solidFill>
                  <a:srgbClr val="FFFFFF"/>
                </a:solidFill>
                <a:latin typeface="Montserrat"/>
              </a:rPr>
              <a:t>✓</a:t>
            </a:r>
          </a:p>
        </p:txBody>
      </p:sp>
      <p:sp>
        <p:nvSpPr>
          <p:cNvPr id="29" name="TextBox 28"/>
          <p:cNvSpPr txBox="1"/>
          <p:nvPr/>
        </p:nvSpPr>
        <p:spPr>
          <a:xfrm>
            <a:off x="1463040" y="5852160"/>
            <a:ext cx="6858000" cy="640080"/>
          </a:xfrm>
          <a:prstGeom prst="rect">
            <a:avLst/>
          </a:prstGeom>
          <a:noFill/>
        </p:spPr>
        <p:txBody>
          <a:bodyPr wrap="square" lIns="0" rIns="0" tIns="0" bIns="0" anchor="ctr">
            <a:spAutoFit/>
          </a:bodyPr>
          <a:lstStyle/>
          <a:p>
            <a:pPr algn="l"/>
            <a:r>
              <a:rPr sz="1600" b="0">
                <a:solidFill>
                  <a:srgbClr val="222831"/>
                </a:solidFill>
                <a:latin typeface="Inter"/>
              </a:rPr>
              <a:t>Don't scroll before sleep</a:t>
            </a:r>
          </a:p>
        </p:txBody>
      </p:sp>
      <p:sp>
        <p:nvSpPr>
          <p:cNvPr id="30" name="Rounded Rectangle 29"/>
          <p:cNvSpPr/>
          <p:nvPr/>
        </p:nvSpPr>
        <p:spPr>
          <a:xfrm>
            <a:off x="8961120" y="2286000"/>
            <a:ext cx="2743200" cy="4114800"/>
          </a:xfrm>
          <a:prstGeom prst="roundRect">
            <a:avLst>
              <a:gd name="adj" fmla="val 12000"/>
            </a:avLst>
          </a:prstGeom>
          <a:solidFill>
            <a:srgbClr val="1E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9144000" y="2560320"/>
            <a:ext cx="2377440" cy="35661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44000" y="2743200"/>
            <a:ext cx="2377440" cy="365760"/>
          </a:xfrm>
          <a:prstGeom prst="rect">
            <a:avLst/>
          </a:prstGeom>
          <a:noFill/>
        </p:spPr>
        <p:txBody>
          <a:bodyPr wrap="square" lIns="0" rIns="0" tIns="0" bIns="0" anchor="t">
            <a:spAutoFit/>
          </a:bodyPr>
          <a:lstStyle/>
          <a:p>
            <a:pPr algn="ctr"/>
            <a:r>
              <a:rPr sz="1000" b="1">
                <a:solidFill>
                  <a:srgbClr val="6B7280"/>
                </a:solidFill>
                <a:latin typeface="Inter"/>
              </a:rPr>
              <a:t>SCREEN TIME</a:t>
            </a:r>
          </a:p>
        </p:txBody>
      </p:sp>
      <p:sp>
        <p:nvSpPr>
          <p:cNvPr id="33" name="TextBox 32"/>
          <p:cNvSpPr txBox="1"/>
          <p:nvPr/>
        </p:nvSpPr>
        <p:spPr>
          <a:xfrm>
            <a:off x="9144000" y="3291840"/>
            <a:ext cx="2377440" cy="1280160"/>
          </a:xfrm>
          <a:prstGeom prst="rect">
            <a:avLst/>
          </a:prstGeom>
          <a:noFill/>
        </p:spPr>
        <p:txBody>
          <a:bodyPr wrap="square" lIns="0" rIns="0" tIns="0" bIns="0" anchor="ctr">
            <a:spAutoFit/>
          </a:bodyPr>
          <a:lstStyle/>
          <a:p>
            <a:pPr algn="ctr"/>
            <a:r>
              <a:rPr sz="6000" b="1">
                <a:solidFill>
                  <a:srgbClr val="1E1E2E"/>
                </a:solidFill>
                <a:latin typeface="Montserrat"/>
              </a:rPr>
              <a:t>1 h</a:t>
            </a:r>
          </a:p>
        </p:txBody>
      </p:sp>
      <p:sp>
        <p:nvSpPr>
          <p:cNvPr id="34" name="Rounded Rectangle 33"/>
          <p:cNvSpPr/>
          <p:nvPr/>
        </p:nvSpPr>
        <p:spPr>
          <a:xfrm>
            <a:off x="9326880" y="4754880"/>
            <a:ext cx="2011680" cy="365760"/>
          </a:xfrm>
          <a:prstGeom prst="roundRect">
            <a:avLst>
              <a:gd name="adj" fmla="val 12000"/>
            </a:avLst>
          </a:prstGeom>
          <a:solidFill>
            <a:srgbClr val="7BC4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326880" y="4754880"/>
            <a:ext cx="2011680" cy="365760"/>
          </a:xfrm>
          <a:prstGeom prst="rect">
            <a:avLst/>
          </a:prstGeom>
          <a:noFill/>
        </p:spPr>
        <p:txBody>
          <a:bodyPr wrap="square" lIns="0" rIns="0" tIns="0" bIns="0" anchor="ctr">
            <a:spAutoFit/>
          </a:bodyPr>
          <a:lstStyle/>
          <a:p>
            <a:pPr algn="ctr"/>
            <a:r>
              <a:rPr sz="1100" b="1">
                <a:solidFill>
                  <a:srgbClr val="FFFFFF"/>
                </a:solidFill>
                <a:latin typeface="Inter"/>
              </a:rPr>
              <a:t>Daily limit set</a:t>
            </a:r>
          </a:p>
        </p:txBody>
      </p:sp>
      <p:sp>
        <p:nvSpPr>
          <p:cNvPr id="36" name="TextBox 35"/>
          <p:cNvSpPr txBox="1"/>
          <p:nvPr/>
        </p:nvSpPr>
        <p:spPr>
          <a:xfrm>
            <a:off x="457200" y="6492240"/>
            <a:ext cx="5486400" cy="274320"/>
          </a:xfrm>
          <a:prstGeom prst="rect">
            <a:avLst/>
          </a:prstGeom>
          <a:noFill/>
        </p:spPr>
        <p:txBody>
          <a:bodyPr wrap="square" lIns="0" rIns="0" tIns="0" bIns="0" anchor="t">
            <a:spAutoFit/>
          </a:bodyPr>
          <a:lstStyle/>
          <a:p>
            <a:pPr algn="l"/>
            <a:r>
              <a:rPr sz="1000" b="0">
                <a:solidFill>
                  <a:srgbClr val="6B7280"/>
                </a:solidFill>
                <a:latin typeface="Inter"/>
              </a:rPr>
              <a:t>How Social Media Algorithms Influence People</a:t>
            </a:r>
          </a:p>
        </p:txBody>
      </p:sp>
      <p:sp>
        <p:nvSpPr>
          <p:cNvPr id="37" name="TextBox 36"/>
          <p:cNvSpPr txBox="1"/>
          <p:nvPr/>
        </p:nvSpPr>
        <p:spPr>
          <a:xfrm>
            <a:off x="10362895" y="6492240"/>
            <a:ext cx="1371600" cy="274320"/>
          </a:xfrm>
          <a:prstGeom prst="rect">
            <a:avLst/>
          </a:prstGeom>
          <a:noFill/>
        </p:spPr>
        <p:txBody>
          <a:bodyPr wrap="square" lIns="0" rIns="0" tIns="0" bIns="0" anchor="t">
            <a:spAutoFit/>
          </a:bodyPr>
          <a:lstStyle/>
          <a:p>
            <a:pPr algn="r"/>
            <a:r>
              <a:rPr sz="1000" b="0">
                <a:solidFill>
                  <a:srgbClr val="6B7280"/>
                </a:solidFill>
                <a:latin typeface="Inter"/>
              </a:rPr>
              <a:t>9 / 10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1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808415" y="3474720"/>
            <a:ext cx="6400800" cy="6400800"/>
          </a:xfrm>
          <a:prstGeom prst="ellipse">
            <a:avLst/>
          </a:prstGeom>
          <a:solidFill>
            <a:srgbClr val="5A8D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103120" y="-2103120"/>
            <a:ext cx="4572000" cy="4572000"/>
          </a:xfrm>
          <a:prstGeom prst="ellipse">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914400"/>
            <a:ext cx="10972800" cy="457200"/>
          </a:xfrm>
          <a:prstGeom prst="rect">
            <a:avLst/>
          </a:prstGeom>
          <a:noFill/>
        </p:spPr>
        <p:txBody>
          <a:bodyPr wrap="square" lIns="0" rIns="0" tIns="0" bIns="0" anchor="t">
            <a:spAutoFit/>
          </a:bodyPr>
          <a:lstStyle/>
          <a:p>
            <a:pPr algn="l"/>
            <a:r>
              <a:rPr sz="1400" b="1">
                <a:solidFill>
                  <a:srgbClr val="5A8DEE"/>
                </a:solidFill>
                <a:latin typeface="Inter"/>
              </a:rPr>
              <a:t>CONCLUSION</a:t>
            </a:r>
          </a:p>
        </p:txBody>
      </p:sp>
      <p:sp>
        <p:nvSpPr>
          <p:cNvPr id="6" name="TextBox 5"/>
          <p:cNvSpPr txBox="1"/>
          <p:nvPr/>
        </p:nvSpPr>
        <p:spPr>
          <a:xfrm>
            <a:off x="640080" y="1463040"/>
            <a:ext cx="10972800" cy="1371600"/>
          </a:xfrm>
          <a:prstGeom prst="rect">
            <a:avLst/>
          </a:prstGeom>
          <a:noFill/>
        </p:spPr>
        <p:txBody>
          <a:bodyPr wrap="square" lIns="0" rIns="0" tIns="0" bIns="0" anchor="t">
            <a:spAutoFit/>
          </a:bodyPr>
          <a:lstStyle/>
          <a:p>
            <a:pPr algn="l"/>
            <a:r>
              <a:rPr sz="7200" b="1">
                <a:solidFill>
                  <a:srgbClr val="FFFFFF"/>
                </a:solidFill>
                <a:latin typeface="Montserrat"/>
              </a:rPr>
              <a:t>Thank you!</a:t>
            </a:r>
          </a:p>
        </p:txBody>
      </p:sp>
      <p:sp>
        <p:nvSpPr>
          <p:cNvPr id="7" name="TextBox 6"/>
          <p:cNvSpPr txBox="1"/>
          <p:nvPr/>
        </p:nvSpPr>
        <p:spPr>
          <a:xfrm>
            <a:off x="640080" y="2926080"/>
            <a:ext cx="10972800" cy="1828800"/>
          </a:xfrm>
          <a:prstGeom prst="rect">
            <a:avLst/>
          </a:prstGeom>
          <a:noFill/>
        </p:spPr>
        <p:txBody>
          <a:bodyPr wrap="square" lIns="0" rIns="0" tIns="0" bIns="0" anchor="t">
            <a:spAutoFit/>
          </a:bodyPr>
          <a:lstStyle/>
          <a:p>
            <a:pPr algn="l"/>
            <a:r>
              <a:rPr sz="2200" b="0">
                <a:solidFill>
                  <a:srgbClr val="FFFFFF"/>
                </a:solidFill>
                <a:latin typeface="Inter"/>
              </a:rPr>
              <a:t>Algorithms are powerful tools.</a:t>
            </a:r>
          </a:p>
          <a:p>
            <a:pPr algn="l"/>
            <a:r>
              <a:rPr sz="2200" b="0">
                <a:solidFill>
                  <a:srgbClr val="FFFFFF"/>
                </a:solidFill>
                <a:latin typeface="Inter"/>
              </a:rPr>
              <a:t>They have good and bad sides.</a:t>
            </a:r>
          </a:p>
          <a:p>
            <a:pPr algn="l"/>
            <a:r>
              <a:rPr sz="2200" b="0">
                <a:solidFill>
                  <a:srgbClr val="FFFFFF"/>
                </a:solidFill>
                <a:latin typeface="Inter"/>
              </a:rPr>
              <a:t>We must use social media with awareness.</a:t>
            </a:r>
          </a:p>
        </p:txBody>
      </p:sp>
      <p:sp>
        <p:nvSpPr>
          <p:cNvPr id="8" name="TextBox 7"/>
          <p:cNvSpPr txBox="1"/>
          <p:nvPr/>
        </p:nvSpPr>
        <p:spPr>
          <a:xfrm>
            <a:off x="640080" y="5120640"/>
            <a:ext cx="10972800" cy="457200"/>
          </a:xfrm>
          <a:prstGeom prst="rect">
            <a:avLst/>
          </a:prstGeom>
          <a:noFill/>
        </p:spPr>
        <p:txBody>
          <a:bodyPr wrap="square" lIns="0" rIns="0" tIns="0" bIns="0" anchor="t">
            <a:spAutoFit/>
          </a:bodyPr>
          <a:lstStyle/>
          <a:p>
            <a:pPr algn="l"/>
            <a:r>
              <a:rPr sz="2800" b="1">
                <a:solidFill>
                  <a:srgbClr val="FF6B6B"/>
                </a:solidFill>
                <a:latin typeface="Montserrat"/>
              </a:rPr>
              <a:t>Questions?</a:t>
            </a:r>
          </a:p>
        </p:txBody>
      </p:sp>
      <p:sp>
        <p:nvSpPr>
          <p:cNvPr id="9" name="TextBox 8"/>
          <p:cNvSpPr txBox="1"/>
          <p:nvPr/>
        </p:nvSpPr>
        <p:spPr>
          <a:xfrm>
            <a:off x="640080" y="5943600"/>
            <a:ext cx="10972800" cy="365760"/>
          </a:xfrm>
          <a:prstGeom prst="rect">
            <a:avLst/>
          </a:prstGeom>
          <a:noFill/>
        </p:spPr>
        <p:txBody>
          <a:bodyPr wrap="square" lIns="0" rIns="0" tIns="0" bIns="0" anchor="t">
            <a:spAutoFit/>
          </a:bodyPr>
          <a:lstStyle/>
          <a:p>
            <a:pPr algn="l"/>
            <a:r>
              <a:rPr sz="1200" b="0">
                <a:solidFill>
                  <a:srgbClr val="6B7280"/>
                </a:solidFill>
                <a:latin typeface="Inter"/>
              </a:rPr>
              <a:t>Anastasia Mogileva  •  TikTok · Instagram · YouTube · Facebook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