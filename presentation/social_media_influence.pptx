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My name is Anastasia. Today I will speak about social media and how it influences our life. Almost every person uses social media every day. In my presentation, I will show the good sides, the bad sides, and how to stay safe online.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social media? Social media are websites and apps that help people talk to each other online. We share photos, videos, and ideas with friends, and also with strangers. Today, more than five billion people in the world use social media. It is the most popular activity on the phone.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many social media platforms, but four are the most popular. TikTok is famous for short fun videos and dances. Instagram is about photos, stories, and Reels. YouTube has videos for every topic — from music to school lessons. Facebook is more popular with older people and family groups.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media has many positive sides. First, we can stay in touch with our family and friends in other countries — for free. Second, we get news and information very fast. Third, we can find people who love the same things — music, sport, or art. And many people use social media to find a new job or to start a small business.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media also changed how we study. We can speak with people from another country in seconds and practice English or any other language. YouTube has free lessons about almost everything — math, programming, cooking. Many students create study groups on Telegram or Instagram. So, learning is not only in the classroom anymore.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social media also has serious negative sides. Many people spend too much time on the phone every day. We see a lot of fake news and rumors. In the comments, some users are aggressive — this is called cyberbullying. Also, social media collects a lot of our personal data, and we often do not know how it is used.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users spend more than two and a half hours on social media every day. For teenagers, this number is even higher — up to five hours. The endless scroll gives the brain small rewards, like a game. We check the phone more than one hundred times every day, often without thinking. This is a real form of digital addiction.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studies show that social media can harm our mental health. Teenagers who spend more than three hours a day on social media have a higher risk of depression and anxiety. We compare our real life to perfect photos and feel bad about ourselves. Many young people also sleep less because they use the phone at night. This is called FOMO — fear of missing 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good news is that we can use social media in a smart way. First, set a daily time limit — every phone has this option. Second, turn off notifications, because they break your focus. Third, follow accounts that inspire you, and unfollow the ones that make you feel bad. And try one day per week without the phone — your mind will thank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social media is a very strong tool. It helps us learn, work, and stay connected, but it can also take our time and our energy. The most important thing is balance. If we use social media in a smart way, it gives more than it takes. Thank you for your attention. I will be happy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08415" y="3474720"/>
            <a:ext cx="6400800" cy="6400800"/>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31375" y="4297680"/>
            <a:ext cx="4754880" cy="4754880"/>
          </a:xfrm>
          <a:prstGeom prst="ellipse">
            <a:avLst/>
          </a:prstGeom>
          <a:solidFill>
            <a:srgbClr val="A99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7315200" cy="457200"/>
          </a:xfrm>
          <a:prstGeom prst="rect">
            <a:avLst/>
          </a:prstGeom>
          <a:noFill/>
        </p:spPr>
        <p:txBody>
          <a:bodyPr wrap="square" lIns="0" rIns="0" tIns="0" bIns="0" anchor="t">
            <a:spAutoFit/>
          </a:bodyPr>
          <a:lstStyle/>
          <a:p>
            <a:pPr algn="l"/>
            <a:r>
              <a:rPr sz="1400" b="1">
                <a:solidFill>
                  <a:srgbClr val="7C5CFF"/>
                </a:solidFill>
                <a:latin typeface="Inter"/>
              </a:rPr>
              <a:t>FINAL PROJECT  •  2026</a:t>
            </a:r>
          </a:p>
        </p:txBody>
      </p:sp>
      <p:sp>
        <p:nvSpPr>
          <p:cNvPr id="6" name="TextBox 5"/>
          <p:cNvSpPr txBox="1"/>
          <p:nvPr/>
        </p:nvSpPr>
        <p:spPr>
          <a:xfrm>
            <a:off x="640080" y="1645920"/>
            <a:ext cx="10058400" cy="2468880"/>
          </a:xfrm>
          <a:prstGeom prst="rect">
            <a:avLst/>
          </a:prstGeom>
          <a:noFill/>
        </p:spPr>
        <p:txBody>
          <a:bodyPr wrap="square" lIns="0" rIns="0" tIns="0" bIns="0" anchor="t">
            <a:spAutoFit/>
          </a:bodyPr>
          <a:lstStyle/>
          <a:p>
            <a:pPr algn="l"/>
            <a:r>
              <a:rPr sz="5800" b="1">
                <a:solidFill>
                  <a:srgbClr val="1E1E2E"/>
                </a:solidFill>
                <a:latin typeface="Montserrat"/>
              </a:rPr>
              <a:t>Social Media</a:t>
            </a:r>
          </a:p>
          <a:p>
            <a:pPr algn="l"/>
            <a:r>
              <a:rPr sz="5800" b="1">
                <a:solidFill>
                  <a:srgbClr val="1E1E2E"/>
                </a:solidFill>
                <a:latin typeface="Montserrat"/>
              </a:rPr>
              <a:t>Influence on People</a:t>
            </a:r>
          </a:p>
        </p:txBody>
      </p:sp>
      <p:sp>
        <p:nvSpPr>
          <p:cNvPr id="7" name="TextBox 6"/>
          <p:cNvSpPr txBox="1"/>
          <p:nvPr/>
        </p:nvSpPr>
        <p:spPr>
          <a:xfrm>
            <a:off x="640080" y="4572000"/>
            <a:ext cx="9144000" cy="457200"/>
          </a:xfrm>
          <a:prstGeom prst="rect">
            <a:avLst/>
          </a:prstGeom>
          <a:noFill/>
        </p:spPr>
        <p:txBody>
          <a:bodyPr wrap="square" lIns="0" rIns="0" tIns="0" bIns="0" anchor="t">
            <a:spAutoFit/>
          </a:bodyPr>
          <a:lstStyle/>
          <a:p>
            <a:pPr algn="l"/>
            <a:r>
              <a:rPr sz="1800" b="0">
                <a:solidFill>
                  <a:srgbClr val="222831"/>
                </a:solidFill>
                <a:latin typeface="Inter"/>
              </a:rPr>
              <a:t>Anastasia Mogileva  •  English Final Project</a:t>
            </a:r>
          </a:p>
        </p:txBody>
      </p:sp>
      <p:sp>
        <p:nvSpPr>
          <p:cNvPr id="8" name="TextBox 7"/>
          <p:cNvSpPr txBox="1"/>
          <p:nvPr/>
        </p:nvSpPr>
        <p:spPr>
          <a:xfrm>
            <a:off x="640080" y="5029200"/>
            <a:ext cx="9144000" cy="365760"/>
          </a:xfrm>
          <a:prstGeom prst="rect">
            <a:avLst/>
          </a:prstGeom>
          <a:noFill/>
        </p:spPr>
        <p:txBody>
          <a:bodyPr wrap="square" lIns="0" rIns="0" tIns="0" bIns="0" anchor="t">
            <a:spAutoFit/>
          </a:bodyPr>
          <a:lstStyle/>
          <a:p>
            <a:pPr algn="l"/>
            <a:r>
              <a:rPr sz="1400" b="0">
                <a:solidFill>
                  <a:srgbClr val="6B7280"/>
                </a:solidFill>
                <a:latin typeface="Inter"/>
              </a:rPr>
              <a:t>TikTok  ·  Instagram  ·  YouTube  ·  Facebook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7C5CFF"/>
                </a:solidFill>
                <a:latin typeface="Inter"/>
              </a:rPr>
              <a:t>01  •  DEFINITION</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What Is Social Media?</a:t>
            </a:r>
          </a:p>
        </p:txBody>
      </p:sp>
      <p:sp>
        <p:nvSpPr>
          <p:cNvPr id="6" name="Rounded Rectangle 5"/>
          <p:cNvSpPr/>
          <p:nvPr/>
        </p:nvSpPr>
        <p:spPr>
          <a:xfrm>
            <a:off x="640080" y="2194560"/>
            <a:ext cx="5943600" cy="36576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68880"/>
            <a:ext cx="5486400" cy="1280160"/>
          </a:xfrm>
          <a:prstGeom prst="rect">
            <a:avLst/>
          </a:prstGeom>
          <a:noFill/>
        </p:spPr>
        <p:txBody>
          <a:bodyPr wrap="square" lIns="0" rIns="0" tIns="0" bIns="0" anchor="t">
            <a:spAutoFit/>
          </a:bodyPr>
          <a:lstStyle/>
          <a:p>
            <a:pPr algn="l"/>
            <a:r>
              <a:rPr sz="2200" b="1">
                <a:solidFill>
                  <a:srgbClr val="1E1E2E"/>
                </a:solidFill>
                <a:latin typeface="Montserrat"/>
              </a:rPr>
              <a:t>Websites and apps that help</a:t>
            </a:r>
          </a:p>
          <a:p>
            <a:pPr algn="l"/>
            <a:r>
              <a:rPr sz="2200" b="1">
                <a:solidFill>
                  <a:srgbClr val="1E1E2E"/>
                </a:solidFill>
                <a:latin typeface="Montserrat"/>
              </a:rPr>
              <a:t>people communicate online.</a:t>
            </a:r>
          </a:p>
        </p:txBody>
      </p:sp>
      <p:sp>
        <p:nvSpPr>
          <p:cNvPr id="8" name="TextBox 7"/>
          <p:cNvSpPr txBox="1"/>
          <p:nvPr/>
        </p:nvSpPr>
        <p:spPr>
          <a:xfrm>
            <a:off x="914400" y="3840480"/>
            <a:ext cx="5486400" cy="1828800"/>
          </a:xfrm>
          <a:prstGeom prst="rect">
            <a:avLst/>
          </a:prstGeom>
          <a:noFill/>
        </p:spPr>
        <p:txBody>
          <a:bodyPr wrap="square" lIns="0" rIns="0" tIns="0" bIns="0">
            <a:spAutoFit/>
          </a:bodyPr>
          <a:lstStyle/>
          <a:p>
            <a:pPr algn="l">
              <a:lnSpc>
                <a:spcPct val="125000"/>
              </a:lnSpc>
              <a:spcAft>
                <a:spcPts val="600"/>
              </a:spcAft>
            </a:pPr>
            <a:r>
              <a:rPr sz="1600" b="1">
                <a:solidFill>
                  <a:srgbClr val="7C5CFF"/>
                </a:solidFill>
                <a:latin typeface="Inter"/>
              </a:rPr>
              <a:t>•  </a:t>
            </a:r>
            <a:r>
              <a:rPr sz="1600">
                <a:solidFill>
                  <a:srgbClr val="222831"/>
                </a:solidFill>
                <a:latin typeface="Inter"/>
              </a:rPr>
              <a:t>People share photos, videos, ideas</a:t>
            </a:r>
          </a:p>
          <a:p>
            <a:pPr algn="l">
              <a:lnSpc>
                <a:spcPct val="125000"/>
              </a:lnSpc>
              <a:spcAft>
                <a:spcPts val="600"/>
              </a:spcAft>
            </a:pPr>
            <a:r>
              <a:rPr sz="1600" b="1">
                <a:solidFill>
                  <a:srgbClr val="7C5CFF"/>
                </a:solidFill>
                <a:latin typeface="Inter"/>
              </a:rPr>
              <a:t>•  </a:t>
            </a:r>
            <a:r>
              <a:rPr sz="1600">
                <a:solidFill>
                  <a:srgbClr val="222831"/>
                </a:solidFill>
                <a:latin typeface="Inter"/>
              </a:rPr>
              <a:t>Free and easy to use</a:t>
            </a:r>
          </a:p>
          <a:p>
            <a:pPr algn="l">
              <a:lnSpc>
                <a:spcPct val="125000"/>
              </a:lnSpc>
              <a:spcAft>
                <a:spcPts val="600"/>
              </a:spcAft>
            </a:pPr>
            <a:r>
              <a:rPr sz="1600" b="1">
                <a:solidFill>
                  <a:srgbClr val="7C5CFF"/>
                </a:solidFill>
                <a:latin typeface="Inter"/>
              </a:rPr>
              <a:t>•  </a:t>
            </a:r>
            <a:r>
              <a:rPr sz="1600">
                <a:solidFill>
                  <a:srgbClr val="222831"/>
                </a:solidFill>
                <a:latin typeface="Inter"/>
              </a:rPr>
              <a:t>The most popular activity on the phone</a:t>
            </a:r>
          </a:p>
        </p:txBody>
      </p:sp>
      <p:sp>
        <p:nvSpPr>
          <p:cNvPr id="9" name="Rounded Rectangle 8"/>
          <p:cNvSpPr/>
          <p:nvPr/>
        </p:nvSpPr>
        <p:spPr>
          <a:xfrm>
            <a:off x="7132320" y="2194560"/>
            <a:ext cx="4572000" cy="3657600"/>
          </a:xfrm>
          <a:prstGeom prst="roundRect">
            <a:avLst>
              <a:gd name="adj" fmla="val 12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0" y="2468880"/>
            <a:ext cx="4572000" cy="548640"/>
          </a:xfrm>
          <a:prstGeom prst="rect">
            <a:avLst/>
          </a:prstGeom>
          <a:noFill/>
        </p:spPr>
        <p:txBody>
          <a:bodyPr wrap="square" lIns="0" rIns="0" tIns="0" bIns="0" anchor="t">
            <a:spAutoFit/>
          </a:bodyPr>
          <a:lstStyle/>
          <a:p>
            <a:pPr algn="ctr"/>
            <a:r>
              <a:rPr sz="1200" b="1">
                <a:solidFill>
                  <a:srgbClr val="7C5CFF"/>
                </a:solidFill>
                <a:latin typeface="Inter"/>
              </a:rPr>
              <a:t>USERS WORLDWIDE</a:t>
            </a:r>
          </a:p>
        </p:txBody>
      </p:sp>
      <p:sp>
        <p:nvSpPr>
          <p:cNvPr id="11" name="TextBox 10"/>
          <p:cNvSpPr txBox="1"/>
          <p:nvPr/>
        </p:nvSpPr>
        <p:spPr>
          <a:xfrm>
            <a:off x="7132320" y="3017520"/>
            <a:ext cx="4572000" cy="1645920"/>
          </a:xfrm>
          <a:prstGeom prst="rect">
            <a:avLst/>
          </a:prstGeom>
          <a:noFill/>
        </p:spPr>
        <p:txBody>
          <a:bodyPr wrap="square" lIns="0" rIns="0" tIns="0" bIns="0" anchor="ctr">
            <a:spAutoFit/>
          </a:bodyPr>
          <a:lstStyle/>
          <a:p>
            <a:pPr algn="ctr"/>
            <a:r>
              <a:rPr sz="9000" b="1">
                <a:solidFill>
                  <a:srgbClr val="FFFFFF"/>
                </a:solidFill>
                <a:latin typeface="Montserrat"/>
              </a:rPr>
              <a:t>5B+</a:t>
            </a:r>
          </a:p>
        </p:txBody>
      </p:sp>
      <p:sp>
        <p:nvSpPr>
          <p:cNvPr id="12" name="TextBox 11"/>
          <p:cNvSpPr txBox="1"/>
          <p:nvPr/>
        </p:nvSpPr>
        <p:spPr>
          <a:xfrm>
            <a:off x="7132320" y="4846320"/>
            <a:ext cx="4572000" cy="548640"/>
          </a:xfrm>
          <a:prstGeom prst="rect">
            <a:avLst/>
          </a:prstGeom>
          <a:noFill/>
        </p:spPr>
        <p:txBody>
          <a:bodyPr wrap="square" lIns="0" rIns="0" tIns="0" bIns="0" anchor="t">
            <a:spAutoFit/>
          </a:bodyPr>
          <a:lstStyle/>
          <a:p>
            <a:pPr algn="ctr"/>
            <a:r>
              <a:rPr sz="1300" b="0">
                <a:solidFill>
                  <a:srgbClr val="6B7280"/>
                </a:solidFill>
                <a:latin typeface="Inter"/>
              </a:rPr>
              <a:t>people use social media (Statista, 2024)</a:t>
            </a:r>
          </a:p>
        </p:txBody>
      </p:sp>
      <p:sp>
        <p:nvSpPr>
          <p:cNvPr id="13" name="TextBox 12"/>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Social Media Influence on People</a:t>
            </a:r>
          </a:p>
        </p:txBody>
      </p:sp>
      <p:sp>
        <p:nvSpPr>
          <p:cNvPr id="14" name="TextBox 13"/>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7C5CFF"/>
                </a:solidFill>
                <a:latin typeface="Inter"/>
              </a:rPr>
              <a:t>02  •  PLATFORMS</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Popular Social Media Platforms</a:t>
            </a:r>
          </a:p>
        </p:txBody>
      </p:sp>
      <p:sp>
        <p:nvSpPr>
          <p:cNvPr id="6" name="Rounded Rectangle 5"/>
          <p:cNvSpPr/>
          <p:nvPr/>
        </p:nvSpPr>
        <p:spPr>
          <a:xfrm>
            <a:off x="632307" y="2286000"/>
            <a:ext cx="2560320" cy="3474720"/>
          </a:xfrm>
          <a:prstGeom prst="roundRect">
            <a:avLst>
              <a:gd name="adj" fmla="val 12000"/>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06627" y="2560320"/>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6627" y="2606040"/>
            <a:ext cx="731520" cy="640080"/>
          </a:xfrm>
          <a:prstGeom prst="rect">
            <a:avLst/>
          </a:prstGeom>
          <a:noFill/>
        </p:spPr>
        <p:txBody>
          <a:bodyPr wrap="square" lIns="0" rIns="0" tIns="0" bIns="0" anchor="ctr">
            <a:spAutoFit/>
          </a:bodyPr>
          <a:lstStyle/>
          <a:p>
            <a:pPr algn="ctr"/>
            <a:r>
              <a:rPr sz="2200" b="1">
                <a:solidFill>
                  <a:srgbClr val="101010"/>
                </a:solidFill>
                <a:latin typeface="Montserrat"/>
              </a:rPr>
              <a:t>T</a:t>
            </a:r>
          </a:p>
        </p:txBody>
      </p:sp>
      <p:sp>
        <p:nvSpPr>
          <p:cNvPr id="9" name="TextBox 8"/>
          <p:cNvSpPr txBox="1"/>
          <p:nvPr/>
        </p:nvSpPr>
        <p:spPr>
          <a:xfrm>
            <a:off x="906627" y="3566160"/>
            <a:ext cx="2011680" cy="548640"/>
          </a:xfrm>
          <a:prstGeom prst="rect">
            <a:avLst/>
          </a:prstGeom>
          <a:noFill/>
        </p:spPr>
        <p:txBody>
          <a:bodyPr wrap="square" lIns="0" rIns="0" tIns="0" bIns="0" anchor="t">
            <a:spAutoFit/>
          </a:bodyPr>
          <a:lstStyle/>
          <a:p>
            <a:pPr algn="l"/>
            <a:r>
              <a:rPr sz="2200" b="1">
                <a:solidFill>
                  <a:srgbClr val="FFFFFF"/>
                </a:solidFill>
                <a:latin typeface="Montserrat"/>
              </a:rPr>
              <a:t>TikTok</a:t>
            </a:r>
          </a:p>
        </p:txBody>
      </p:sp>
      <p:sp>
        <p:nvSpPr>
          <p:cNvPr id="10" name="TextBox 9"/>
          <p:cNvSpPr txBox="1"/>
          <p:nvPr/>
        </p:nvSpPr>
        <p:spPr>
          <a:xfrm>
            <a:off x="906627" y="4114800"/>
            <a:ext cx="2011680" cy="1097280"/>
          </a:xfrm>
          <a:prstGeom prst="rect">
            <a:avLst/>
          </a:prstGeom>
          <a:noFill/>
        </p:spPr>
        <p:txBody>
          <a:bodyPr wrap="square" lIns="0" rIns="0" tIns="0" bIns="0" anchor="t">
            <a:spAutoFit/>
          </a:bodyPr>
          <a:lstStyle/>
          <a:p>
            <a:pPr algn="l"/>
            <a:r>
              <a:rPr sz="1400" b="0">
                <a:solidFill>
                  <a:srgbClr val="FFFFFF"/>
                </a:solidFill>
                <a:latin typeface="Inter"/>
              </a:rPr>
              <a:t>Short fun videos</a:t>
            </a:r>
          </a:p>
        </p:txBody>
      </p:sp>
      <p:sp>
        <p:nvSpPr>
          <p:cNvPr id="11" name="TextBox 10"/>
          <p:cNvSpPr txBox="1"/>
          <p:nvPr/>
        </p:nvSpPr>
        <p:spPr>
          <a:xfrm>
            <a:off x="906627" y="5120640"/>
            <a:ext cx="2011680" cy="457200"/>
          </a:xfrm>
          <a:prstGeom prst="rect">
            <a:avLst/>
          </a:prstGeom>
          <a:noFill/>
        </p:spPr>
        <p:txBody>
          <a:bodyPr wrap="square" lIns="0" rIns="0" tIns="0" bIns="0" anchor="t">
            <a:spAutoFit/>
          </a:bodyPr>
          <a:lstStyle/>
          <a:p>
            <a:pPr algn="l"/>
            <a:r>
              <a:rPr sz="1300" b="1">
                <a:solidFill>
                  <a:srgbClr val="FFFFFF"/>
                </a:solidFill>
                <a:latin typeface="Inter"/>
              </a:rPr>
              <a:t>1.5B users</a:t>
            </a:r>
          </a:p>
        </p:txBody>
      </p:sp>
      <p:sp>
        <p:nvSpPr>
          <p:cNvPr id="12" name="Rounded Rectangle 11"/>
          <p:cNvSpPr/>
          <p:nvPr/>
        </p:nvSpPr>
        <p:spPr>
          <a:xfrm>
            <a:off x="3421227" y="2286000"/>
            <a:ext cx="2560320" cy="3474720"/>
          </a:xfrm>
          <a:prstGeom prst="roundRect">
            <a:avLst>
              <a:gd name="adj" fmla="val 12000"/>
            </a:avLst>
          </a:prstGeom>
          <a:solidFill>
            <a:srgbClr val="E1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95547" y="2560320"/>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95547" y="2606040"/>
            <a:ext cx="731520" cy="640080"/>
          </a:xfrm>
          <a:prstGeom prst="rect">
            <a:avLst/>
          </a:prstGeom>
          <a:noFill/>
        </p:spPr>
        <p:txBody>
          <a:bodyPr wrap="square" lIns="0" rIns="0" tIns="0" bIns="0" anchor="ctr">
            <a:spAutoFit/>
          </a:bodyPr>
          <a:lstStyle/>
          <a:p>
            <a:pPr algn="ctr"/>
            <a:r>
              <a:rPr sz="2200" b="1">
                <a:solidFill>
                  <a:srgbClr val="E1306C"/>
                </a:solidFill>
                <a:latin typeface="Montserrat"/>
              </a:rPr>
              <a:t>I</a:t>
            </a:r>
          </a:p>
        </p:txBody>
      </p:sp>
      <p:sp>
        <p:nvSpPr>
          <p:cNvPr id="15" name="TextBox 14"/>
          <p:cNvSpPr txBox="1"/>
          <p:nvPr/>
        </p:nvSpPr>
        <p:spPr>
          <a:xfrm>
            <a:off x="3695547" y="3566160"/>
            <a:ext cx="2011680" cy="548640"/>
          </a:xfrm>
          <a:prstGeom prst="rect">
            <a:avLst/>
          </a:prstGeom>
          <a:noFill/>
        </p:spPr>
        <p:txBody>
          <a:bodyPr wrap="square" lIns="0" rIns="0" tIns="0" bIns="0" anchor="t">
            <a:spAutoFit/>
          </a:bodyPr>
          <a:lstStyle/>
          <a:p>
            <a:pPr algn="l"/>
            <a:r>
              <a:rPr sz="2200" b="1">
                <a:solidFill>
                  <a:srgbClr val="FFFFFF"/>
                </a:solidFill>
                <a:latin typeface="Montserrat"/>
              </a:rPr>
              <a:t>Instagram</a:t>
            </a:r>
          </a:p>
        </p:txBody>
      </p:sp>
      <p:sp>
        <p:nvSpPr>
          <p:cNvPr id="16" name="TextBox 15"/>
          <p:cNvSpPr txBox="1"/>
          <p:nvPr/>
        </p:nvSpPr>
        <p:spPr>
          <a:xfrm>
            <a:off x="3695547" y="4114800"/>
            <a:ext cx="2011680" cy="1097280"/>
          </a:xfrm>
          <a:prstGeom prst="rect">
            <a:avLst/>
          </a:prstGeom>
          <a:noFill/>
        </p:spPr>
        <p:txBody>
          <a:bodyPr wrap="square" lIns="0" rIns="0" tIns="0" bIns="0" anchor="t">
            <a:spAutoFit/>
          </a:bodyPr>
          <a:lstStyle/>
          <a:p>
            <a:pPr algn="l"/>
            <a:r>
              <a:rPr sz="1400" b="0">
                <a:solidFill>
                  <a:srgbClr val="FFFFFF"/>
                </a:solidFill>
                <a:latin typeface="Inter"/>
              </a:rPr>
              <a:t>Photos, Stories, Reels</a:t>
            </a:r>
          </a:p>
        </p:txBody>
      </p:sp>
      <p:sp>
        <p:nvSpPr>
          <p:cNvPr id="17" name="TextBox 16"/>
          <p:cNvSpPr txBox="1"/>
          <p:nvPr/>
        </p:nvSpPr>
        <p:spPr>
          <a:xfrm>
            <a:off x="3695547" y="5120640"/>
            <a:ext cx="2011680" cy="457200"/>
          </a:xfrm>
          <a:prstGeom prst="rect">
            <a:avLst/>
          </a:prstGeom>
          <a:noFill/>
        </p:spPr>
        <p:txBody>
          <a:bodyPr wrap="square" lIns="0" rIns="0" tIns="0" bIns="0" anchor="t">
            <a:spAutoFit/>
          </a:bodyPr>
          <a:lstStyle/>
          <a:p>
            <a:pPr algn="l"/>
            <a:r>
              <a:rPr sz="1300" b="1">
                <a:solidFill>
                  <a:srgbClr val="FFFFFF"/>
                </a:solidFill>
                <a:latin typeface="Inter"/>
              </a:rPr>
              <a:t>2.0B users</a:t>
            </a:r>
          </a:p>
        </p:txBody>
      </p:sp>
      <p:sp>
        <p:nvSpPr>
          <p:cNvPr id="18" name="Rounded Rectangle 17"/>
          <p:cNvSpPr/>
          <p:nvPr/>
        </p:nvSpPr>
        <p:spPr>
          <a:xfrm>
            <a:off x="6210147" y="2286000"/>
            <a:ext cx="2560320" cy="3474720"/>
          </a:xfrm>
          <a:prstGeom prst="roundRect">
            <a:avLst>
              <a:gd name="adj" fmla="val 12000"/>
            </a:avLst>
          </a:prstGeom>
          <a:solidFill>
            <a:srgbClr val="FF0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84467" y="2560320"/>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4467" y="2606040"/>
            <a:ext cx="731520" cy="640080"/>
          </a:xfrm>
          <a:prstGeom prst="rect">
            <a:avLst/>
          </a:prstGeom>
          <a:noFill/>
        </p:spPr>
        <p:txBody>
          <a:bodyPr wrap="square" lIns="0" rIns="0" tIns="0" bIns="0" anchor="ctr">
            <a:spAutoFit/>
          </a:bodyPr>
          <a:lstStyle/>
          <a:p>
            <a:pPr algn="ctr"/>
            <a:r>
              <a:rPr sz="2200" b="1">
                <a:solidFill>
                  <a:srgbClr val="FF0033"/>
                </a:solidFill>
                <a:latin typeface="Montserrat"/>
              </a:rPr>
              <a:t>Y</a:t>
            </a:r>
          </a:p>
        </p:txBody>
      </p:sp>
      <p:sp>
        <p:nvSpPr>
          <p:cNvPr id="21" name="TextBox 20"/>
          <p:cNvSpPr txBox="1"/>
          <p:nvPr/>
        </p:nvSpPr>
        <p:spPr>
          <a:xfrm>
            <a:off x="6484467" y="3566160"/>
            <a:ext cx="2011680" cy="548640"/>
          </a:xfrm>
          <a:prstGeom prst="rect">
            <a:avLst/>
          </a:prstGeom>
          <a:noFill/>
        </p:spPr>
        <p:txBody>
          <a:bodyPr wrap="square" lIns="0" rIns="0" tIns="0" bIns="0" anchor="t">
            <a:spAutoFit/>
          </a:bodyPr>
          <a:lstStyle/>
          <a:p>
            <a:pPr algn="l"/>
            <a:r>
              <a:rPr sz="2200" b="1">
                <a:solidFill>
                  <a:srgbClr val="FFFFFF"/>
                </a:solidFill>
                <a:latin typeface="Montserrat"/>
              </a:rPr>
              <a:t>YouTube</a:t>
            </a:r>
          </a:p>
        </p:txBody>
      </p:sp>
      <p:sp>
        <p:nvSpPr>
          <p:cNvPr id="22" name="TextBox 21"/>
          <p:cNvSpPr txBox="1"/>
          <p:nvPr/>
        </p:nvSpPr>
        <p:spPr>
          <a:xfrm>
            <a:off x="6484467" y="4114800"/>
            <a:ext cx="2011680" cy="1097280"/>
          </a:xfrm>
          <a:prstGeom prst="rect">
            <a:avLst/>
          </a:prstGeom>
          <a:noFill/>
        </p:spPr>
        <p:txBody>
          <a:bodyPr wrap="square" lIns="0" rIns="0" tIns="0" bIns="0" anchor="t">
            <a:spAutoFit/>
          </a:bodyPr>
          <a:lstStyle/>
          <a:p>
            <a:pPr algn="l"/>
            <a:r>
              <a:rPr sz="1400" b="0">
                <a:solidFill>
                  <a:srgbClr val="FFFFFF"/>
                </a:solidFill>
                <a:latin typeface="Inter"/>
              </a:rPr>
              <a:t>Videos for every topic</a:t>
            </a:r>
          </a:p>
        </p:txBody>
      </p:sp>
      <p:sp>
        <p:nvSpPr>
          <p:cNvPr id="23" name="TextBox 22"/>
          <p:cNvSpPr txBox="1"/>
          <p:nvPr/>
        </p:nvSpPr>
        <p:spPr>
          <a:xfrm>
            <a:off x="6484467" y="5120640"/>
            <a:ext cx="2011680" cy="457200"/>
          </a:xfrm>
          <a:prstGeom prst="rect">
            <a:avLst/>
          </a:prstGeom>
          <a:noFill/>
        </p:spPr>
        <p:txBody>
          <a:bodyPr wrap="square" lIns="0" rIns="0" tIns="0" bIns="0" anchor="t">
            <a:spAutoFit/>
          </a:bodyPr>
          <a:lstStyle/>
          <a:p>
            <a:pPr algn="l"/>
            <a:r>
              <a:rPr sz="1300" b="1">
                <a:solidFill>
                  <a:srgbClr val="FFFFFF"/>
                </a:solidFill>
                <a:latin typeface="Inter"/>
              </a:rPr>
              <a:t>2.5B users</a:t>
            </a:r>
          </a:p>
        </p:txBody>
      </p:sp>
      <p:sp>
        <p:nvSpPr>
          <p:cNvPr id="24" name="Rounded Rectangle 23"/>
          <p:cNvSpPr/>
          <p:nvPr/>
        </p:nvSpPr>
        <p:spPr>
          <a:xfrm>
            <a:off x="8999067" y="2286000"/>
            <a:ext cx="2560320" cy="3474720"/>
          </a:xfrm>
          <a:prstGeom prst="roundRect">
            <a:avLst>
              <a:gd name="adj" fmla="val 12000"/>
            </a:avLst>
          </a:prstGeom>
          <a:solidFill>
            <a:srgbClr val="187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73387" y="2560320"/>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73387" y="2606040"/>
            <a:ext cx="731520" cy="640080"/>
          </a:xfrm>
          <a:prstGeom prst="rect">
            <a:avLst/>
          </a:prstGeom>
          <a:noFill/>
        </p:spPr>
        <p:txBody>
          <a:bodyPr wrap="square" lIns="0" rIns="0" tIns="0" bIns="0" anchor="ctr">
            <a:spAutoFit/>
          </a:bodyPr>
          <a:lstStyle/>
          <a:p>
            <a:pPr algn="ctr"/>
            <a:r>
              <a:rPr sz="2200" b="1">
                <a:solidFill>
                  <a:srgbClr val="1877F2"/>
                </a:solidFill>
                <a:latin typeface="Montserrat"/>
              </a:rPr>
              <a:t>F</a:t>
            </a:r>
          </a:p>
        </p:txBody>
      </p:sp>
      <p:sp>
        <p:nvSpPr>
          <p:cNvPr id="27" name="TextBox 26"/>
          <p:cNvSpPr txBox="1"/>
          <p:nvPr/>
        </p:nvSpPr>
        <p:spPr>
          <a:xfrm>
            <a:off x="9273387" y="3566160"/>
            <a:ext cx="2011680" cy="548640"/>
          </a:xfrm>
          <a:prstGeom prst="rect">
            <a:avLst/>
          </a:prstGeom>
          <a:noFill/>
        </p:spPr>
        <p:txBody>
          <a:bodyPr wrap="square" lIns="0" rIns="0" tIns="0" bIns="0" anchor="t">
            <a:spAutoFit/>
          </a:bodyPr>
          <a:lstStyle/>
          <a:p>
            <a:pPr algn="l"/>
            <a:r>
              <a:rPr sz="2200" b="1">
                <a:solidFill>
                  <a:srgbClr val="FFFFFF"/>
                </a:solidFill>
                <a:latin typeface="Montserrat"/>
              </a:rPr>
              <a:t>Facebook</a:t>
            </a:r>
          </a:p>
        </p:txBody>
      </p:sp>
      <p:sp>
        <p:nvSpPr>
          <p:cNvPr id="28" name="TextBox 27"/>
          <p:cNvSpPr txBox="1"/>
          <p:nvPr/>
        </p:nvSpPr>
        <p:spPr>
          <a:xfrm>
            <a:off x="9273387" y="4114800"/>
            <a:ext cx="2011680" cy="1097280"/>
          </a:xfrm>
          <a:prstGeom prst="rect">
            <a:avLst/>
          </a:prstGeom>
          <a:noFill/>
        </p:spPr>
        <p:txBody>
          <a:bodyPr wrap="square" lIns="0" rIns="0" tIns="0" bIns="0" anchor="t">
            <a:spAutoFit/>
          </a:bodyPr>
          <a:lstStyle/>
          <a:p>
            <a:pPr algn="l"/>
            <a:r>
              <a:rPr sz="1400" b="0">
                <a:solidFill>
                  <a:srgbClr val="FFFFFF"/>
                </a:solidFill>
                <a:latin typeface="Inter"/>
              </a:rPr>
              <a:t>News, family, groups</a:t>
            </a:r>
          </a:p>
        </p:txBody>
      </p:sp>
      <p:sp>
        <p:nvSpPr>
          <p:cNvPr id="29" name="TextBox 28"/>
          <p:cNvSpPr txBox="1"/>
          <p:nvPr/>
        </p:nvSpPr>
        <p:spPr>
          <a:xfrm>
            <a:off x="9273387" y="5120640"/>
            <a:ext cx="2011680" cy="457200"/>
          </a:xfrm>
          <a:prstGeom prst="rect">
            <a:avLst/>
          </a:prstGeom>
          <a:noFill/>
        </p:spPr>
        <p:txBody>
          <a:bodyPr wrap="square" lIns="0" rIns="0" tIns="0" bIns="0" anchor="t">
            <a:spAutoFit/>
          </a:bodyPr>
          <a:lstStyle/>
          <a:p>
            <a:pPr algn="l"/>
            <a:r>
              <a:rPr sz="1300" b="1">
                <a:solidFill>
                  <a:srgbClr val="FFFFFF"/>
                </a:solidFill>
                <a:latin typeface="Inter"/>
              </a:rPr>
              <a:t>3.0B users</a:t>
            </a:r>
          </a:p>
        </p:txBody>
      </p:sp>
      <p:sp>
        <p:nvSpPr>
          <p:cNvPr id="30" name="TextBox 29"/>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Social Media Influence on People</a:t>
            </a:r>
          </a:p>
        </p:txBody>
      </p:sp>
      <p:sp>
        <p:nvSpPr>
          <p:cNvPr id="31" name="TextBox 30"/>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7BC47F"/>
                </a:solidFill>
                <a:latin typeface="Inter"/>
              </a:rPr>
              <a:t>03  •  THE GOOD SIDE</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Positive Influence</a:t>
            </a:r>
          </a:p>
        </p:txBody>
      </p:sp>
      <p:sp>
        <p:nvSpPr>
          <p:cNvPr id="6" name="Rounded Rectangle 5"/>
          <p:cNvSpPr/>
          <p:nvPr/>
        </p:nvSpPr>
        <p:spPr>
          <a:xfrm>
            <a:off x="152247" y="2286000"/>
            <a:ext cx="2194560" cy="23774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2247" y="2286000"/>
            <a:ext cx="2194560" cy="1371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0847" y="2743200"/>
            <a:ext cx="1737360" cy="822960"/>
          </a:xfrm>
          <a:prstGeom prst="rect">
            <a:avLst/>
          </a:prstGeom>
          <a:noFill/>
        </p:spPr>
        <p:txBody>
          <a:bodyPr wrap="square" lIns="0" rIns="0" tIns="0" bIns="0" anchor="t">
            <a:spAutoFit/>
          </a:bodyPr>
          <a:lstStyle/>
          <a:p>
            <a:pPr algn="l"/>
            <a:r>
              <a:rPr sz="1600" b="1">
                <a:solidFill>
                  <a:srgbClr val="1E1E2E"/>
                </a:solidFill>
                <a:latin typeface="Montserrat"/>
              </a:rPr>
              <a:t>Family &amp; friends</a:t>
            </a:r>
          </a:p>
        </p:txBody>
      </p:sp>
      <p:sp>
        <p:nvSpPr>
          <p:cNvPr id="9" name="TextBox 8"/>
          <p:cNvSpPr txBox="1"/>
          <p:nvPr/>
        </p:nvSpPr>
        <p:spPr>
          <a:xfrm>
            <a:off x="380847" y="3474720"/>
            <a:ext cx="1737360" cy="1188720"/>
          </a:xfrm>
          <a:prstGeom prst="rect">
            <a:avLst/>
          </a:prstGeom>
          <a:noFill/>
        </p:spPr>
        <p:txBody>
          <a:bodyPr wrap="square" lIns="0" rIns="0" tIns="0" bIns="0" anchor="t">
            <a:spAutoFit/>
          </a:bodyPr>
          <a:lstStyle/>
          <a:p>
            <a:pPr algn="l"/>
            <a:r>
              <a:rPr sz="1200" b="0">
                <a:solidFill>
                  <a:srgbClr val="6B7280"/>
                </a:solidFill>
                <a:latin typeface="Inter"/>
              </a:rPr>
              <a:t>Stay close from any country</a:t>
            </a:r>
          </a:p>
        </p:txBody>
      </p:sp>
      <p:sp>
        <p:nvSpPr>
          <p:cNvPr id="10" name="Rounded Rectangle 9"/>
          <p:cNvSpPr/>
          <p:nvPr/>
        </p:nvSpPr>
        <p:spPr>
          <a:xfrm>
            <a:off x="2575407" y="2286000"/>
            <a:ext cx="2194560" cy="23774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75407" y="2286000"/>
            <a:ext cx="2194560" cy="1371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04007" y="2743200"/>
            <a:ext cx="1737360" cy="822960"/>
          </a:xfrm>
          <a:prstGeom prst="rect">
            <a:avLst/>
          </a:prstGeom>
          <a:noFill/>
        </p:spPr>
        <p:txBody>
          <a:bodyPr wrap="square" lIns="0" rIns="0" tIns="0" bIns="0" anchor="t">
            <a:spAutoFit/>
          </a:bodyPr>
          <a:lstStyle/>
          <a:p>
            <a:pPr algn="l"/>
            <a:r>
              <a:rPr sz="1600" b="1">
                <a:solidFill>
                  <a:srgbClr val="1E1E2E"/>
                </a:solidFill>
                <a:latin typeface="Montserrat"/>
              </a:rPr>
              <a:t>Free info</a:t>
            </a:r>
          </a:p>
        </p:txBody>
      </p:sp>
      <p:sp>
        <p:nvSpPr>
          <p:cNvPr id="13" name="TextBox 12"/>
          <p:cNvSpPr txBox="1"/>
          <p:nvPr/>
        </p:nvSpPr>
        <p:spPr>
          <a:xfrm>
            <a:off x="2804007" y="3474720"/>
            <a:ext cx="1737360" cy="1188720"/>
          </a:xfrm>
          <a:prstGeom prst="rect">
            <a:avLst/>
          </a:prstGeom>
          <a:noFill/>
        </p:spPr>
        <p:txBody>
          <a:bodyPr wrap="square" lIns="0" rIns="0" tIns="0" bIns="0" anchor="t">
            <a:spAutoFit/>
          </a:bodyPr>
          <a:lstStyle/>
          <a:p>
            <a:pPr algn="l"/>
            <a:r>
              <a:rPr sz="1200" b="0">
                <a:solidFill>
                  <a:srgbClr val="6B7280"/>
                </a:solidFill>
                <a:latin typeface="Inter"/>
              </a:rPr>
              <a:t>News in seconds</a:t>
            </a:r>
          </a:p>
        </p:txBody>
      </p:sp>
      <p:sp>
        <p:nvSpPr>
          <p:cNvPr id="14" name="Rounded Rectangle 13"/>
          <p:cNvSpPr/>
          <p:nvPr/>
        </p:nvSpPr>
        <p:spPr>
          <a:xfrm>
            <a:off x="4998567" y="2286000"/>
            <a:ext cx="2194560" cy="23774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98567" y="2286000"/>
            <a:ext cx="2194560" cy="1371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27167" y="2743200"/>
            <a:ext cx="1737360" cy="822960"/>
          </a:xfrm>
          <a:prstGeom prst="rect">
            <a:avLst/>
          </a:prstGeom>
          <a:noFill/>
        </p:spPr>
        <p:txBody>
          <a:bodyPr wrap="square" lIns="0" rIns="0" tIns="0" bIns="0" anchor="t">
            <a:spAutoFit/>
          </a:bodyPr>
          <a:lstStyle/>
          <a:p>
            <a:pPr algn="l"/>
            <a:r>
              <a:rPr sz="1600" b="1">
                <a:solidFill>
                  <a:srgbClr val="1E1E2E"/>
                </a:solidFill>
                <a:latin typeface="Montserrat"/>
              </a:rPr>
              <a:t>Same hobbies</a:t>
            </a:r>
          </a:p>
        </p:txBody>
      </p:sp>
      <p:sp>
        <p:nvSpPr>
          <p:cNvPr id="17" name="TextBox 16"/>
          <p:cNvSpPr txBox="1"/>
          <p:nvPr/>
        </p:nvSpPr>
        <p:spPr>
          <a:xfrm>
            <a:off x="5227167" y="3474720"/>
            <a:ext cx="1737360" cy="1188720"/>
          </a:xfrm>
          <a:prstGeom prst="rect">
            <a:avLst/>
          </a:prstGeom>
          <a:noFill/>
        </p:spPr>
        <p:txBody>
          <a:bodyPr wrap="square" lIns="0" rIns="0" tIns="0" bIns="0" anchor="t">
            <a:spAutoFit/>
          </a:bodyPr>
          <a:lstStyle/>
          <a:p>
            <a:pPr algn="l"/>
            <a:r>
              <a:rPr sz="1200" b="0">
                <a:solidFill>
                  <a:srgbClr val="6B7280"/>
                </a:solidFill>
                <a:latin typeface="Inter"/>
              </a:rPr>
              <a:t>Find your community</a:t>
            </a:r>
          </a:p>
        </p:txBody>
      </p:sp>
      <p:sp>
        <p:nvSpPr>
          <p:cNvPr id="18" name="Rounded Rectangle 17"/>
          <p:cNvSpPr/>
          <p:nvPr/>
        </p:nvSpPr>
        <p:spPr>
          <a:xfrm>
            <a:off x="7421727" y="2286000"/>
            <a:ext cx="2194560" cy="23774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21727" y="2286000"/>
            <a:ext cx="2194560" cy="1371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0327" y="2743200"/>
            <a:ext cx="1737360" cy="822960"/>
          </a:xfrm>
          <a:prstGeom prst="rect">
            <a:avLst/>
          </a:prstGeom>
          <a:noFill/>
        </p:spPr>
        <p:txBody>
          <a:bodyPr wrap="square" lIns="0" rIns="0" tIns="0" bIns="0" anchor="t">
            <a:spAutoFit/>
          </a:bodyPr>
          <a:lstStyle/>
          <a:p>
            <a:pPr algn="l"/>
            <a:r>
              <a:rPr sz="1600" b="1">
                <a:solidFill>
                  <a:srgbClr val="1E1E2E"/>
                </a:solidFill>
                <a:latin typeface="Montserrat"/>
              </a:rPr>
              <a:t>Support</a:t>
            </a:r>
          </a:p>
        </p:txBody>
      </p:sp>
      <p:sp>
        <p:nvSpPr>
          <p:cNvPr id="21" name="TextBox 20"/>
          <p:cNvSpPr txBox="1"/>
          <p:nvPr/>
        </p:nvSpPr>
        <p:spPr>
          <a:xfrm>
            <a:off x="7650327" y="3474720"/>
            <a:ext cx="1737360" cy="1188720"/>
          </a:xfrm>
          <a:prstGeom prst="rect">
            <a:avLst/>
          </a:prstGeom>
          <a:noFill/>
        </p:spPr>
        <p:txBody>
          <a:bodyPr wrap="square" lIns="0" rIns="0" tIns="0" bIns="0" anchor="t">
            <a:spAutoFit/>
          </a:bodyPr>
          <a:lstStyle/>
          <a:p>
            <a:pPr algn="l"/>
            <a:r>
              <a:rPr sz="1200" b="0">
                <a:solidFill>
                  <a:srgbClr val="6B7280"/>
                </a:solidFill>
                <a:latin typeface="Inter"/>
              </a:rPr>
              <a:t>Help in difficult moments</a:t>
            </a:r>
          </a:p>
        </p:txBody>
      </p:sp>
      <p:sp>
        <p:nvSpPr>
          <p:cNvPr id="22" name="Rounded Rectangle 21"/>
          <p:cNvSpPr/>
          <p:nvPr/>
        </p:nvSpPr>
        <p:spPr>
          <a:xfrm>
            <a:off x="9844887" y="2286000"/>
            <a:ext cx="2194560" cy="23774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4887" y="2286000"/>
            <a:ext cx="2194560" cy="1371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73487" y="2743200"/>
            <a:ext cx="1737360" cy="822960"/>
          </a:xfrm>
          <a:prstGeom prst="rect">
            <a:avLst/>
          </a:prstGeom>
          <a:noFill/>
        </p:spPr>
        <p:txBody>
          <a:bodyPr wrap="square" lIns="0" rIns="0" tIns="0" bIns="0" anchor="t">
            <a:spAutoFit/>
          </a:bodyPr>
          <a:lstStyle/>
          <a:p>
            <a:pPr algn="l"/>
            <a:r>
              <a:rPr sz="1600" b="1">
                <a:solidFill>
                  <a:srgbClr val="1E1E2E"/>
                </a:solidFill>
                <a:latin typeface="Montserrat"/>
              </a:rPr>
              <a:t>Business</a:t>
            </a:r>
          </a:p>
        </p:txBody>
      </p:sp>
      <p:sp>
        <p:nvSpPr>
          <p:cNvPr id="25" name="TextBox 24"/>
          <p:cNvSpPr txBox="1"/>
          <p:nvPr/>
        </p:nvSpPr>
        <p:spPr>
          <a:xfrm>
            <a:off x="10073487" y="3474720"/>
            <a:ext cx="1737360" cy="1188720"/>
          </a:xfrm>
          <a:prstGeom prst="rect">
            <a:avLst/>
          </a:prstGeom>
          <a:noFill/>
        </p:spPr>
        <p:txBody>
          <a:bodyPr wrap="square" lIns="0" rIns="0" tIns="0" bIns="0" anchor="t">
            <a:spAutoFit/>
          </a:bodyPr>
          <a:lstStyle/>
          <a:p>
            <a:pPr algn="l"/>
            <a:r>
              <a:rPr sz="1200" b="0">
                <a:solidFill>
                  <a:srgbClr val="6B7280"/>
                </a:solidFill>
                <a:latin typeface="Inter"/>
              </a:rPr>
              <a:t>Jobs &amp; new opportunities</a:t>
            </a:r>
          </a:p>
        </p:txBody>
      </p:sp>
      <p:sp>
        <p:nvSpPr>
          <p:cNvPr id="26" name="TextBox 25"/>
          <p:cNvSpPr txBox="1"/>
          <p:nvPr/>
        </p:nvSpPr>
        <p:spPr>
          <a:xfrm>
            <a:off x="640080" y="5212080"/>
            <a:ext cx="10972800" cy="548640"/>
          </a:xfrm>
          <a:prstGeom prst="rect">
            <a:avLst/>
          </a:prstGeom>
          <a:noFill/>
        </p:spPr>
        <p:txBody>
          <a:bodyPr wrap="square" lIns="0" rIns="0" tIns="0" bIns="0" anchor="t">
            <a:spAutoFit/>
          </a:bodyPr>
          <a:lstStyle/>
          <a:p>
            <a:pPr algn="l"/>
            <a:r>
              <a:rPr sz="1600" b="0">
                <a:solidFill>
                  <a:srgbClr val="222831"/>
                </a:solidFill>
                <a:latin typeface="Inter"/>
              </a:rPr>
              <a:t>Example: many small businesses start on Instagram or TikTok.</a:t>
            </a:r>
          </a:p>
        </p:txBody>
      </p:sp>
      <p:sp>
        <p:nvSpPr>
          <p:cNvPr id="27" name="TextBox 26"/>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Social Media Influence on People</a:t>
            </a:r>
          </a:p>
        </p:txBody>
      </p:sp>
      <p:sp>
        <p:nvSpPr>
          <p:cNvPr id="28" name="TextBox 27"/>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7BC47F"/>
                </a:solidFill>
                <a:latin typeface="Inter"/>
              </a:rPr>
              <a:t>04  •  COMMUNICATION &amp; EDUCATION</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Communication and Education</a:t>
            </a:r>
          </a:p>
        </p:txBody>
      </p:sp>
      <p:sp>
        <p:nvSpPr>
          <p:cNvPr id="6" name="TextBox 5"/>
          <p:cNvSpPr txBox="1"/>
          <p:nvPr/>
        </p:nvSpPr>
        <p:spPr>
          <a:xfrm>
            <a:off x="640080" y="2286000"/>
            <a:ext cx="6400800" cy="3657600"/>
          </a:xfrm>
          <a:prstGeom prst="rect">
            <a:avLst/>
          </a:prstGeom>
          <a:noFill/>
        </p:spPr>
        <p:txBody>
          <a:bodyPr wrap="square" lIns="0" rIns="0" tIns="0" bIns="0">
            <a:spAutoFit/>
          </a:bodyPr>
          <a:lstStyle/>
          <a:p>
            <a:pPr algn="l">
              <a:lnSpc>
                <a:spcPct val="125000"/>
              </a:lnSpc>
              <a:spcAft>
                <a:spcPts val="600"/>
              </a:spcAft>
            </a:pPr>
            <a:r>
              <a:rPr sz="2200" b="1">
                <a:solidFill>
                  <a:srgbClr val="7BC47F"/>
                </a:solidFill>
                <a:latin typeface="Inter"/>
              </a:rPr>
              <a:t>•  </a:t>
            </a:r>
            <a:r>
              <a:rPr sz="2200">
                <a:solidFill>
                  <a:srgbClr val="222831"/>
                </a:solidFill>
                <a:latin typeface="Inter"/>
              </a:rPr>
              <a:t>Free video calls with anyone</a:t>
            </a:r>
          </a:p>
          <a:p>
            <a:pPr algn="l">
              <a:lnSpc>
                <a:spcPct val="125000"/>
              </a:lnSpc>
              <a:spcAft>
                <a:spcPts val="600"/>
              </a:spcAft>
            </a:pPr>
            <a:r>
              <a:rPr sz="2200" b="1">
                <a:solidFill>
                  <a:srgbClr val="7BC47F"/>
                </a:solidFill>
                <a:latin typeface="Inter"/>
              </a:rPr>
              <a:t>•  </a:t>
            </a:r>
            <a:r>
              <a:rPr sz="2200">
                <a:solidFill>
                  <a:srgbClr val="222831"/>
                </a:solidFill>
                <a:latin typeface="Inter"/>
              </a:rPr>
              <a:t>Practice foreign languages</a:t>
            </a:r>
          </a:p>
          <a:p>
            <a:pPr algn="l">
              <a:lnSpc>
                <a:spcPct val="125000"/>
              </a:lnSpc>
              <a:spcAft>
                <a:spcPts val="600"/>
              </a:spcAft>
            </a:pPr>
            <a:r>
              <a:rPr sz="2200" b="1">
                <a:solidFill>
                  <a:srgbClr val="7BC47F"/>
                </a:solidFill>
                <a:latin typeface="Inter"/>
              </a:rPr>
              <a:t>•  </a:t>
            </a:r>
            <a:r>
              <a:rPr sz="2200">
                <a:solidFill>
                  <a:srgbClr val="222831"/>
                </a:solidFill>
                <a:latin typeface="Inter"/>
              </a:rPr>
              <a:t>Learn from YouTube tutorials</a:t>
            </a:r>
          </a:p>
          <a:p>
            <a:pPr algn="l">
              <a:lnSpc>
                <a:spcPct val="125000"/>
              </a:lnSpc>
              <a:spcAft>
                <a:spcPts val="600"/>
              </a:spcAft>
            </a:pPr>
            <a:r>
              <a:rPr sz="2200" b="1">
                <a:solidFill>
                  <a:srgbClr val="7BC47F"/>
                </a:solidFill>
                <a:latin typeface="Inter"/>
              </a:rPr>
              <a:t>•  </a:t>
            </a:r>
            <a:r>
              <a:rPr sz="2200">
                <a:solidFill>
                  <a:srgbClr val="222831"/>
                </a:solidFill>
                <a:latin typeface="Inter"/>
              </a:rPr>
              <a:t>Online study groups &amp; chats</a:t>
            </a:r>
          </a:p>
          <a:p>
            <a:pPr algn="l">
              <a:lnSpc>
                <a:spcPct val="125000"/>
              </a:lnSpc>
              <a:spcAft>
                <a:spcPts val="600"/>
              </a:spcAft>
            </a:pPr>
            <a:r>
              <a:rPr sz="2200" b="1">
                <a:solidFill>
                  <a:srgbClr val="7BC47F"/>
                </a:solidFill>
                <a:latin typeface="Inter"/>
              </a:rPr>
              <a:t>•  </a:t>
            </a:r>
            <a:r>
              <a:rPr sz="2200">
                <a:solidFill>
                  <a:srgbClr val="222831"/>
                </a:solidFill>
                <a:latin typeface="Inter"/>
              </a:rPr>
              <a:t>Quick help with homework</a:t>
            </a:r>
          </a:p>
        </p:txBody>
      </p:sp>
      <p:sp>
        <p:nvSpPr>
          <p:cNvPr id="7" name="Rounded Rectangle 6"/>
          <p:cNvSpPr/>
          <p:nvPr/>
        </p:nvSpPr>
        <p:spPr>
          <a:xfrm>
            <a:off x="7589520" y="2286000"/>
            <a:ext cx="4114800" cy="365760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560320"/>
            <a:ext cx="4114800" cy="548640"/>
          </a:xfrm>
          <a:prstGeom prst="rect">
            <a:avLst/>
          </a:prstGeom>
          <a:noFill/>
        </p:spPr>
        <p:txBody>
          <a:bodyPr wrap="square" lIns="0" rIns="0" tIns="0" bIns="0" anchor="t">
            <a:spAutoFit/>
          </a:bodyPr>
          <a:lstStyle/>
          <a:p>
            <a:pPr algn="ctr"/>
            <a:r>
              <a:rPr sz="1100" b="1">
                <a:solidFill>
                  <a:srgbClr val="FFFFFF"/>
                </a:solidFill>
                <a:latin typeface="Inter"/>
              </a:rPr>
              <a:t>TEENS WHO LEARN ON YOUTUBE</a:t>
            </a:r>
          </a:p>
        </p:txBody>
      </p:sp>
      <p:sp>
        <p:nvSpPr>
          <p:cNvPr id="9" name="TextBox 8"/>
          <p:cNvSpPr txBox="1"/>
          <p:nvPr/>
        </p:nvSpPr>
        <p:spPr>
          <a:xfrm>
            <a:off x="7589520" y="3108960"/>
            <a:ext cx="4114800" cy="1645920"/>
          </a:xfrm>
          <a:prstGeom prst="rect">
            <a:avLst/>
          </a:prstGeom>
          <a:noFill/>
        </p:spPr>
        <p:txBody>
          <a:bodyPr wrap="square" lIns="0" rIns="0" tIns="0" bIns="0" anchor="ctr">
            <a:spAutoFit/>
          </a:bodyPr>
          <a:lstStyle/>
          <a:p>
            <a:pPr algn="ctr"/>
            <a:r>
              <a:rPr sz="11000" b="1">
                <a:solidFill>
                  <a:srgbClr val="FFFFFF"/>
                </a:solidFill>
                <a:latin typeface="Montserrat"/>
              </a:rPr>
              <a:t>83%</a:t>
            </a:r>
          </a:p>
        </p:txBody>
      </p:sp>
      <p:sp>
        <p:nvSpPr>
          <p:cNvPr id="10" name="TextBox 9"/>
          <p:cNvSpPr txBox="1"/>
          <p:nvPr/>
        </p:nvSpPr>
        <p:spPr>
          <a:xfrm>
            <a:off x="7589520" y="4937760"/>
            <a:ext cx="4114800" cy="731520"/>
          </a:xfrm>
          <a:prstGeom prst="rect">
            <a:avLst/>
          </a:prstGeom>
          <a:noFill/>
        </p:spPr>
        <p:txBody>
          <a:bodyPr wrap="square" lIns="0" rIns="0" tIns="0" bIns="0" anchor="t">
            <a:spAutoFit/>
          </a:bodyPr>
          <a:lstStyle/>
          <a:p>
            <a:pPr algn="ctr"/>
            <a:r>
              <a:rPr sz="1300" b="0">
                <a:solidFill>
                  <a:srgbClr val="FFFFFF"/>
                </a:solidFill>
                <a:latin typeface="Inter"/>
              </a:rPr>
              <a:t>every week</a:t>
            </a:r>
          </a:p>
          <a:p>
            <a:pPr algn="ctr"/>
            <a:r>
              <a:rPr sz="1300" b="0">
                <a:solidFill>
                  <a:srgbClr val="FFFFFF"/>
                </a:solidFill>
                <a:latin typeface="Inter"/>
              </a:rPr>
              <a:t>(Pew Research, 2023)</a:t>
            </a:r>
          </a:p>
        </p:txBody>
      </p:sp>
      <p:sp>
        <p:nvSpPr>
          <p:cNvPr id="11" name="TextBox 10"/>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Social Media Influence on People</a:t>
            </a:r>
          </a:p>
        </p:txBody>
      </p:sp>
      <p:sp>
        <p:nvSpPr>
          <p:cNvPr id="12" name="TextBox 11"/>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FF6B6B"/>
                </a:solidFill>
                <a:latin typeface="Inter"/>
              </a:rPr>
              <a:t>05  •  THE DARK SIDE</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Negative Influence</a:t>
            </a:r>
          </a:p>
        </p:txBody>
      </p:sp>
      <p:sp>
        <p:nvSpPr>
          <p:cNvPr id="6" name="Rounded Rectangle 5"/>
          <p:cNvSpPr/>
          <p:nvPr/>
        </p:nvSpPr>
        <p:spPr>
          <a:xfrm>
            <a:off x="152247" y="2286000"/>
            <a:ext cx="2194560" cy="23774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2247" y="2286000"/>
            <a:ext cx="2194560" cy="137160"/>
          </a:xfrm>
          <a:prstGeom prst="roundRect">
            <a:avLst>
              <a:gd name="adj" fmla="val 12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0847" y="2743200"/>
            <a:ext cx="1737360" cy="822960"/>
          </a:xfrm>
          <a:prstGeom prst="rect">
            <a:avLst/>
          </a:prstGeom>
          <a:noFill/>
        </p:spPr>
        <p:txBody>
          <a:bodyPr wrap="square" lIns="0" rIns="0" tIns="0" bIns="0" anchor="t">
            <a:spAutoFit/>
          </a:bodyPr>
          <a:lstStyle/>
          <a:p>
            <a:pPr algn="l"/>
            <a:r>
              <a:rPr sz="1500" b="1">
                <a:solidFill>
                  <a:srgbClr val="1E1E2E"/>
                </a:solidFill>
                <a:latin typeface="Montserrat"/>
              </a:rPr>
              <a:t>Too much screen time</a:t>
            </a:r>
          </a:p>
        </p:txBody>
      </p:sp>
      <p:sp>
        <p:nvSpPr>
          <p:cNvPr id="9" name="TextBox 8"/>
          <p:cNvSpPr txBox="1"/>
          <p:nvPr/>
        </p:nvSpPr>
        <p:spPr>
          <a:xfrm>
            <a:off x="380847" y="3566160"/>
            <a:ext cx="1737360" cy="1005840"/>
          </a:xfrm>
          <a:prstGeom prst="rect">
            <a:avLst/>
          </a:prstGeom>
          <a:noFill/>
        </p:spPr>
        <p:txBody>
          <a:bodyPr wrap="square" lIns="0" rIns="0" tIns="0" bIns="0" anchor="t">
            <a:spAutoFit/>
          </a:bodyPr>
          <a:lstStyle/>
          <a:p>
            <a:pPr algn="l"/>
            <a:r>
              <a:rPr sz="1200" b="0">
                <a:solidFill>
                  <a:srgbClr val="6B7280"/>
                </a:solidFill>
                <a:latin typeface="Inter"/>
              </a:rPr>
              <a:t>Hours every day</a:t>
            </a:r>
          </a:p>
        </p:txBody>
      </p:sp>
      <p:sp>
        <p:nvSpPr>
          <p:cNvPr id="10" name="Rounded Rectangle 9"/>
          <p:cNvSpPr/>
          <p:nvPr/>
        </p:nvSpPr>
        <p:spPr>
          <a:xfrm>
            <a:off x="2575407" y="2286000"/>
            <a:ext cx="2194560" cy="23774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75407" y="2286000"/>
            <a:ext cx="2194560" cy="137160"/>
          </a:xfrm>
          <a:prstGeom prst="roundRect">
            <a:avLst>
              <a:gd name="adj" fmla="val 12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04007" y="2743200"/>
            <a:ext cx="1737360" cy="822960"/>
          </a:xfrm>
          <a:prstGeom prst="rect">
            <a:avLst/>
          </a:prstGeom>
          <a:noFill/>
        </p:spPr>
        <p:txBody>
          <a:bodyPr wrap="square" lIns="0" rIns="0" tIns="0" bIns="0" anchor="t">
            <a:spAutoFit/>
          </a:bodyPr>
          <a:lstStyle/>
          <a:p>
            <a:pPr algn="l"/>
            <a:r>
              <a:rPr sz="1500" b="1">
                <a:solidFill>
                  <a:srgbClr val="1E1E2E"/>
                </a:solidFill>
                <a:latin typeface="Montserrat"/>
              </a:rPr>
              <a:t>Fake news &amp; rumors</a:t>
            </a:r>
          </a:p>
        </p:txBody>
      </p:sp>
      <p:sp>
        <p:nvSpPr>
          <p:cNvPr id="13" name="TextBox 12"/>
          <p:cNvSpPr txBox="1"/>
          <p:nvPr/>
        </p:nvSpPr>
        <p:spPr>
          <a:xfrm>
            <a:off x="2804007" y="3566160"/>
            <a:ext cx="1737360" cy="1005840"/>
          </a:xfrm>
          <a:prstGeom prst="rect">
            <a:avLst/>
          </a:prstGeom>
          <a:noFill/>
        </p:spPr>
        <p:txBody>
          <a:bodyPr wrap="square" lIns="0" rIns="0" tIns="0" bIns="0" anchor="t">
            <a:spAutoFit/>
          </a:bodyPr>
          <a:lstStyle/>
          <a:p>
            <a:pPr algn="l"/>
            <a:r>
              <a:rPr sz="1200" b="0">
                <a:solidFill>
                  <a:srgbClr val="6B7280"/>
                </a:solidFill>
                <a:latin typeface="Inter"/>
              </a:rPr>
              <a:t>Spreads very fast</a:t>
            </a:r>
          </a:p>
        </p:txBody>
      </p:sp>
      <p:sp>
        <p:nvSpPr>
          <p:cNvPr id="14" name="Rounded Rectangle 13"/>
          <p:cNvSpPr/>
          <p:nvPr/>
        </p:nvSpPr>
        <p:spPr>
          <a:xfrm>
            <a:off x="4998567" y="2286000"/>
            <a:ext cx="2194560" cy="23774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98567" y="2286000"/>
            <a:ext cx="2194560" cy="137160"/>
          </a:xfrm>
          <a:prstGeom prst="roundRect">
            <a:avLst>
              <a:gd name="adj" fmla="val 12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27167" y="2743200"/>
            <a:ext cx="1737360" cy="822960"/>
          </a:xfrm>
          <a:prstGeom prst="rect">
            <a:avLst/>
          </a:prstGeom>
          <a:noFill/>
        </p:spPr>
        <p:txBody>
          <a:bodyPr wrap="square" lIns="0" rIns="0" tIns="0" bIns="0" anchor="t">
            <a:spAutoFit/>
          </a:bodyPr>
          <a:lstStyle/>
          <a:p>
            <a:pPr algn="l"/>
            <a:r>
              <a:rPr sz="1500" b="1">
                <a:solidFill>
                  <a:srgbClr val="1E1E2E"/>
                </a:solidFill>
                <a:latin typeface="Montserrat"/>
              </a:rPr>
              <a:t>Cyberbullying</a:t>
            </a:r>
          </a:p>
        </p:txBody>
      </p:sp>
      <p:sp>
        <p:nvSpPr>
          <p:cNvPr id="17" name="TextBox 16"/>
          <p:cNvSpPr txBox="1"/>
          <p:nvPr/>
        </p:nvSpPr>
        <p:spPr>
          <a:xfrm>
            <a:off x="5227167" y="3566160"/>
            <a:ext cx="1737360" cy="1005840"/>
          </a:xfrm>
          <a:prstGeom prst="rect">
            <a:avLst/>
          </a:prstGeom>
          <a:noFill/>
        </p:spPr>
        <p:txBody>
          <a:bodyPr wrap="square" lIns="0" rIns="0" tIns="0" bIns="0" anchor="t">
            <a:spAutoFit/>
          </a:bodyPr>
          <a:lstStyle/>
          <a:p>
            <a:pPr algn="l"/>
            <a:r>
              <a:rPr sz="1200" b="0">
                <a:solidFill>
                  <a:srgbClr val="6B7280"/>
                </a:solidFill>
                <a:latin typeface="Inter"/>
              </a:rPr>
              <a:t>Aggressive comments</a:t>
            </a:r>
          </a:p>
        </p:txBody>
      </p:sp>
      <p:sp>
        <p:nvSpPr>
          <p:cNvPr id="18" name="Rounded Rectangle 17"/>
          <p:cNvSpPr/>
          <p:nvPr/>
        </p:nvSpPr>
        <p:spPr>
          <a:xfrm>
            <a:off x="7421727" y="2286000"/>
            <a:ext cx="2194560" cy="23774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21727" y="2286000"/>
            <a:ext cx="2194560" cy="137160"/>
          </a:xfrm>
          <a:prstGeom prst="roundRect">
            <a:avLst>
              <a:gd name="adj" fmla="val 12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0327" y="2743200"/>
            <a:ext cx="1737360" cy="822960"/>
          </a:xfrm>
          <a:prstGeom prst="rect">
            <a:avLst/>
          </a:prstGeom>
          <a:noFill/>
        </p:spPr>
        <p:txBody>
          <a:bodyPr wrap="square" lIns="0" rIns="0" tIns="0" bIns="0" anchor="t">
            <a:spAutoFit/>
          </a:bodyPr>
          <a:lstStyle/>
          <a:p>
            <a:pPr algn="l"/>
            <a:r>
              <a:rPr sz="1500" b="1">
                <a:solidFill>
                  <a:srgbClr val="1E1E2E"/>
                </a:solidFill>
                <a:latin typeface="Montserrat"/>
              </a:rPr>
              <a:t>Privacy problems</a:t>
            </a:r>
          </a:p>
        </p:txBody>
      </p:sp>
      <p:sp>
        <p:nvSpPr>
          <p:cNvPr id="21" name="TextBox 20"/>
          <p:cNvSpPr txBox="1"/>
          <p:nvPr/>
        </p:nvSpPr>
        <p:spPr>
          <a:xfrm>
            <a:off x="7650327" y="3566160"/>
            <a:ext cx="1737360" cy="1005840"/>
          </a:xfrm>
          <a:prstGeom prst="rect">
            <a:avLst/>
          </a:prstGeom>
          <a:noFill/>
        </p:spPr>
        <p:txBody>
          <a:bodyPr wrap="square" lIns="0" rIns="0" tIns="0" bIns="0" anchor="t">
            <a:spAutoFit/>
          </a:bodyPr>
          <a:lstStyle/>
          <a:p>
            <a:pPr algn="l"/>
            <a:r>
              <a:rPr sz="1200" b="0">
                <a:solidFill>
                  <a:srgbClr val="6B7280"/>
                </a:solidFill>
                <a:latin typeface="Inter"/>
              </a:rPr>
              <a:t>Personal data collected</a:t>
            </a:r>
          </a:p>
        </p:txBody>
      </p:sp>
      <p:sp>
        <p:nvSpPr>
          <p:cNvPr id="22" name="Rounded Rectangle 21"/>
          <p:cNvSpPr/>
          <p:nvPr/>
        </p:nvSpPr>
        <p:spPr>
          <a:xfrm>
            <a:off x="9844887" y="2286000"/>
            <a:ext cx="2194560" cy="23774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4887" y="2286000"/>
            <a:ext cx="2194560" cy="137160"/>
          </a:xfrm>
          <a:prstGeom prst="roundRect">
            <a:avLst>
              <a:gd name="adj" fmla="val 12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73487" y="2743200"/>
            <a:ext cx="1737360" cy="822960"/>
          </a:xfrm>
          <a:prstGeom prst="rect">
            <a:avLst/>
          </a:prstGeom>
          <a:noFill/>
        </p:spPr>
        <p:txBody>
          <a:bodyPr wrap="square" lIns="0" rIns="0" tIns="0" bIns="0" anchor="t">
            <a:spAutoFit/>
          </a:bodyPr>
          <a:lstStyle/>
          <a:p>
            <a:pPr algn="l"/>
            <a:r>
              <a:rPr sz="1500" b="1">
                <a:solidFill>
                  <a:srgbClr val="1E1E2E"/>
                </a:solidFill>
                <a:latin typeface="Montserrat"/>
              </a:rPr>
              <a:t>Perfect pictures</a:t>
            </a:r>
          </a:p>
        </p:txBody>
      </p:sp>
      <p:sp>
        <p:nvSpPr>
          <p:cNvPr id="25" name="TextBox 24"/>
          <p:cNvSpPr txBox="1"/>
          <p:nvPr/>
        </p:nvSpPr>
        <p:spPr>
          <a:xfrm>
            <a:off x="10073487" y="3566160"/>
            <a:ext cx="1737360" cy="1005840"/>
          </a:xfrm>
          <a:prstGeom prst="rect">
            <a:avLst/>
          </a:prstGeom>
          <a:noFill/>
        </p:spPr>
        <p:txBody>
          <a:bodyPr wrap="square" lIns="0" rIns="0" tIns="0" bIns="0" anchor="t">
            <a:spAutoFit/>
          </a:bodyPr>
          <a:lstStyle/>
          <a:p>
            <a:pPr algn="l"/>
            <a:r>
              <a:rPr sz="1200" b="0">
                <a:solidFill>
                  <a:srgbClr val="6B7280"/>
                </a:solidFill>
                <a:latin typeface="Inter"/>
              </a:rPr>
              <a:t>Pressure to look great</a:t>
            </a:r>
          </a:p>
        </p:txBody>
      </p:sp>
      <p:sp>
        <p:nvSpPr>
          <p:cNvPr id="26" name="TextBox 25"/>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Social Media Influence on People</a:t>
            </a:r>
          </a:p>
        </p:txBody>
      </p:sp>
      <p:sp>
        <p:nvSpPr>
          <p:cNvPr id="27" name="TextBox 26"/>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FF6B6B"/>
                </a:solidFill>
                <a:latin typeface="Inter"/>
              </a:rPr>
              <a:t>06  •  ADDICTION</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Addiction and Screen Time</a:t>
            </a:r>
          </a:p>
        </p:txBody>
      </p:sp>
      <p:sp>
        <p:nvSpPr>
          <p:cNvPr id="6" name="TextBox 5"/>
          <p:cNvSpPr txBox="1"/>
          <p:nvPr/>
        </p:nvSpPr>
        <p:spPr>
          <a:xfrm>
            <a:off x="640080" y="2286000"/>
            <a:ext cx="6400800" cy="3657600"/>
          </a:xfrm>
          <a:prstGeom prst="rect">
            <a:avLst/>
          </a:prstGeom>
          <a:noFill/>
        </p:spPr>
        <p:txBody>
          <a:bodyPr wrap="square" lIns="0" rIns="0" tIns="0" bIns="0">
            <a:spAutoFit/>
          </a:bodyPr>
          <a:lstStyle/>
          <a:p>
            <a:pPr algn="l">
              <a:lnSpc>
                <a:spcPct val="125000"/>
              </a:lnSpc>
              <a:spcAft>
                <a:spcPts val="600"/>
              </a:spcAft>
            </a:pPr>
            <a:r>
              <a:rPr sz="2000" b="1">
                <a:solidFill>
                  <a:srgbClr val="FF6B6B"/>
                </a:solidFill>
                <a:latin typeface="Inter"/>
              </a:rPr>
              <a:t>•  </a:t>
            </a:r>
            <a:r>
              <a:rPr sz="2000">
                <a:solidFill>
                  <a:srgbClr val="222831"/>
                </a:solidFill>
                <a:latin typeface="Inter"/>
              </a:rPr>
              <a:t>Average user: 2h 30m / day</a:t>
            </a:r>
          </a:p>
          <a:p>
            <a:pPr algn="l">
              <a:lnSpc>
                <a:spcPct val="125000"/>
              </a:lnSpc>
              <a:spcAft>
                <a:spcPts val="600"/>
              </a:spcAft>
            </a:pPr>
            <a:r>
              <a:rPr sz="2000" b="1">
                <a:solidFill>
                  <a:srgbClr val="FF6B6B"/>
                </a:solidFill>
                <a:latin typeface="Inter"/>
              </a:rPr>
              <a:t>•  </a:t>
            </a:r>
            <a:r>
              <a:rPr sz="2000">
                <a:solidFill>
                  <a:srgbClr val="222831"/>
                </a:solidFill>
                <a:latin typeface="Inter"/>
              </a:rPr>
              <a:t>Teenagers: up to 4–5 hours / day</a:t>
            </a:r>
          </a:p>
          <a:p>
            <a:pPr algn="l">
              <a:lnSpc>
                <a:spcPct val="125000"/>
              </a:lnSpc>
              <a:spcAft>
                <a:spcPts val="600"/>
              </a:spcAft>
            </a:pPr>
            <a:r>
              <a:rPr sz="2000" b="1">
                <a:solidFill>
                  <a:srgbClr val="FF6B6B"/>
                </a:solidFill>
                <a:latin typeface="Inter"/>
              </a:rPr>
              <a:t>•  </a:t>
            </a:r>
            <a:r>
              <a:rPr sz="2000">
                <a:solidFill>
                  <a:srgbClr val="222831"/>
                </a:solidFill>
                <a:latin typeface="Inter"/>
              </a:rPr>
              <a:t>Endless scroll = dopamine loop</a:t>
            </a:r>
          </a:p>
          <a:p>
            <a:pPr algn="l">
              <a:lnSpc>
                <a:spcPct val="125000"/>
              </a:lnSpc>
              <a:spcAft>
                <a:spcPts val="600"/>
              </a:spcAft>
            </a:pPr>
            <a:r>
              <a:rPr sz="2000" b="1">
                <a:solidFill>
                  <a:srgbClr val="FF6B6B"/>
                </a:solidFill>
                <a:latin typeface="Inter"/>
              </a:rPr>
              <a:t>•  </a:t>
            </a:r>
            <a:r>
              <a:rPr sz="2000">
                <a:solidFill>
                  <a:srgbClr val="222831"/>
                </a:solidFill>
                <a:latin typeface="Inter"/>
              </a:rPr>
              <a:t>Phone checked 100+ times a day</a:t>
            </a:r>
          </a:p>
          <a:p>
            <a:pPr algn="l">
              <a:lnSpc>
                <a:spcPct val="125000"/>
              </a:lnSpc>
              <a:spcAft>
                <a:spcPts val="600"/>
              </a:spcAft>
            </a:pPr>
            <a:r>
              <a:rPr sz="2000" b="1">
                <a:solidFill>
                  <a:srgbClr val="FF6B6B"/>
                </a:solidFill>
                <a:latin typeface="Inter"/>
              </a:rPr>
              <a:t>•  </a:t>
            </a:r>
            <a:r>
              <a:rPr sz="2000">
                <a:solidFill>
                  <a:srgbClr val="222831"/>
                </a:solidFill>
                <a:latin typeface="Inter"/>
              </a:rPr>
              <a:t>TikTok &amp; Reels — most addictive</a:t>
            </a:r>
          </a:p>
        </p:txBody>
      </p:sp>
      <p:sp>
        <p:nvSpPr>
          <p:cNvPr id="7" name="Rounded Rectangle 6"/>
          <p:cNvSpPr/>
          <p:nvPr/>
        </p:nvSpPr>
        <p:spPr>
          <a:xfrm>
            <a:off x="7589520" y="2286000"/>
            <a:ext cx="4114800" cy="3657600"/>
          </a:xfrm>
          <a:prstGeom prst="roundRect">
            <a:avLst>
              <a:gd name="adj" fmla="val 12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560320"/>
            <a:ext cx="4114800" cy="548640"/>
          </a:xfrm>
          <a:prstGeom prst="rect">
            <a:avLst/>
          </a:prstGeom>
          <a:noFill/>
        </p:spPr>
        <p:txBody>
          <a:bodyPr wrap="square" lIns="0" rIns="0" tIns="0" bIns="0" anchor="t">
            <a:spAutoFit/>
          </a:bodyPr>
          <a:lstStyle/>
          <a:p>
            <a:pPr algn="ctr"/>
            <a:r>
              <a:rPr sz="1100" b="1">
                <a:solidFill>
                  <a:srgbClr val="7C5CFF"/>
                </a:solidFill>
                <a:latin typeface="Inter"/>
              </a:rPr>
              <a:t>TIME ON SOCIAL MEDIA</a:t>
            </a:r>
          </a:p>
        </p:txBody>
      </p:sp>
      <p:sp>
        <p:nvSpPr>
          <p:cNvPr id="9" name="TextBox 8"/>
          <p:cNvSpPr txBox="1"/>
          <p:nvPr/>
        </p:nvSpPr>
        <p:spPr>
          <a:xfrm>
            <a:off x="7589520" y="3108960"/>
            <a:ext cx="4114800" cy="1645920"/>
          </a:xfrm>
          <a:prstGeom prst="rect">
            <a:avLst/>
          </a:prstGeom>
          <a:noFill/>
        </p:spPr>
        <p:txBody>
          <a:bodyPr wrap="square" lIns="0" rIns="0" tIns="0" bIns="0" anchor="ctr">
            <a:spAutoFit/>
          </a:bodyPr>
          <a:lstStyle/>
          <a:p>
            <a:pPr algn="ctr"/>
            <a:r>
              <a:rPr sz="7000" b="1">
                <a:solidFill>
                  <a:srgbClr val="FFFFFF"/>
                </a:solidFill>
                <a:latin typeface="Montserrat"/>
              </a:rPr>
              <a:t>2h 30m</a:t>
            </a:r>
          </a:p>
        </p:txBody>
      </p:sp>
      <p:sp>
        <p:nvSpPr>
          <p:cNvPr id="10" name="TextBox 9"/>
          <p:cNvSpPr txBox="1"/>
          <p:nvPr/>
        </p:nvSpPr>
        <p:spPr>
          <a:xfrm>
            <a:off x="7589520" y="4937760"/>
            <a:ext cx="4114800" cy="731520"/>
          </a:xfrm>
          <a:prstGeom prst="rect">
            <a:avLst/>
          </a:prstGeom>
          <a:noFill/>
        </p:spPr>
        <p:txBody>
          <a:bodyPr wrap="square" lIns="0" rIns="0" tIns="0" bIns="0" anchor="t">
            <a:spAutoFit/>
          </a:bodyPr>
          <a:lstStyle/>
          <a:p>
            <a:pPr algn="ctr"/>
            <a:r>
              <a:rPr sz="1300" b="0">
                <a:solidFill>
                  <a:srgbClr val="FFFFFF"/>
                </a:solidFill>
                <a:latin typeface="Inter"/>
              </a:rPr>
              <a:t>per day, global average</a:t>
            </a:r>
          </a:p>
          <a:p>
            <a:pPr algn="ctr"/>
            <a:r>
              <a:rPr sz="1300" b="0">
                <a:solidFill>
                  <a:srgbClr val="FFFFFF"/>
                </a:solidFill>
                <a:latin typeface="Inter"/>
              </a:rPr>
              <a:t>(GWI, 2024)</a:t>
            </a:r>
          </a:p>
        </p:txBody>
      </p:sp>
      <p:sp>
        <p:nvSpPr>
          <p:cNvPr id="11" name="TextBox 10"/>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Social Media Influence on People</a:t>
            </a:r>
          </a:p>
        </p:txBody>
      </p:sp>
      <p:sp>
        <p:nvSpPr>
          <p:cNvPr id="12" name="TextBox 11"/>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FF6B6B"/>
                </a:solidFill>
                <a:latin typeface="Inter"/>
              </a:rPr>
              <a:t>07  •  WELL-BEING</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FFFFFF"/>
                </a:solidFill>
                <a:latin typeface="Montserrat"/>
              </a:rPr>
              <a:t>Mental Health Problems</a:t>
            </a:r>
          </a:p>
        </p:txBody>
      </p:sp>
      <p:sp>
        <p:nvSpPr>
          <p:cNvPr id="6" name="TextBox 5"/>
          <p:cNvSpPr txBox="1"/>
          <p:nvPr/>
        </p:nvSpPr>
        <p:spPr>
          <a:xfrm>
            <a:off x="640080" y="2286000"/>
            <a:ext cx="5486400" cy="2743200"/>
          </a:xfrm>
          <a:prstGeom prst="rect">
            <a:avLst/>
          </a:prstGeom>
          <a:noFill/>
        </p:spPr>
        <p:txBody>
          <a:bodyPr wrap="square" lIns="0" rIns="0" tIns="0" bIns="0" anchor="ctr">
            <a:spAutoFit/>
          </a:bodyPr>
          <a:lstStyle/>
          <a:p>
            <a:pPr algn="ctr"/>
            <a:r>
              <a:rPr sz="16000" b="1">
                <a:solidFill>
                  <a:srgbClr val="FF6B6B"/>
                </a:solidFill>
                <a:latin typeface="Montserrat"/>
              </a:rPr>
              <a:t>+27%</a:t>
            </a:r>
          </a:p>
        </p:txBody>
      </p:sp>
      <p:sp>
        <p:nvSpPr>
          <p:cNvPr id="7" name="TextBox 6"/>
          <p:cNvSpPr txBox="1"/>
          <p:nvPr/>
        </p:nvSpPr>
        <p:spPr>
          <a:xfrm>
            <a:off x="640080" y="5029200"/>
            <a:ext cx="5486400" cy="548640"/>
          </a:xfrm>
          <a:prstGeom prst="rect">
            <a:avLst/>
          </a:prstGeom>
          <a:noFill/>
        </p:spPr>
        <p:txBody>
          <a:bodyPr wrap="square" lIns="0" rIns="0" tIns="0" bIns="0" anchor="t">
            <a:spAutoFit/>
          </a:bodyPr>
          <a:lstStyle/>
          <a:p>
            <a:pPr algn="ctr"/>
            <a:r>
              <a:rPr sz="1400" b="0">
                <a:solidFill>
                  <a:srgbClr val="FFFFFF"/>
                </a:solidFill>
                <a:latin typeface="Inter"/>
              </a:rPr>
              <a:t>depression in teens, 2010–2020 (CDC, 2021)</a:t>
            </a:r>
          </a:p>
        </p:txBody>
      </p:sp>
      <p:sp>
        <p:nvSpPr>
          <p:cNvPr id="8" name="TextBox 7"/>
          <p:cNvSpPr txBox="1"/>
          <p:nvPr/>
        </p:nvSpPr>
        <p:spPr>
          <a:xfrm>
            <a:off x="6858000" y="2286000"/>
            <a:ext cx="5029200" cy="4114800"/>
          </a:xfrm>
          <a:prstGeom prst="rect">
            <a:avLst/>
          </a:prstGeom>
          <a:noFill/>
        </p:spPr>
        <p:txBody>
          <a:bodyPr wrap="square" lIns="0" rIns="0" tIns="0" bIns="0">
            <a:spAutoFit/>
          </a:bodyPr>
          <a:lstStyle/>
          <a:p>
            <a:pPr algn="l">
              <a:lnSpc>
                <a:spcPct val="125000"/>
              </a:lnSpc>
              <a:spcAft>
                <a:spcPts val="600"/>
              </a:spcAft>
            </a:pPr>
            <a:r>
              <a:rPr sz="1800" b="1">
                <a:solidFill>
                  <a:srgbClr val="FF6B6B"/>
                </a:solidFill>
                <a:latin typeface="Inter"/>
              </a:rPr>
              <a:t>•  </a:t>
            </a:r>
            <a:r>
              <a:rPr sz="1800">
                <a:solidFill>
                  <a:srgbClr val="FFFFFF"/>
                </a:solidFill>
                <a:latin typeface="Inter"/>
              </a:rPr>
              <a:t>Higher risk of anxiety</a:t>
            </a:r>
          </a:p>
          <a:p>
            <a:pPr algn="l">
              <a:lnSpc>
                <a:spcPct val="125000"/>
              </a:lnSpc>
              <a:spcAft>
                <a:spcPts val="600"/>
              </a:spcAft>
            </a:pPr>
            <a:r>
              <a:rPr sz="1800" b="1">
                <a:solidFill>
                  <a:srgbClr val="FF6B6B"/>
                </a:solidFill>
                <a:latin typeface="Inter"/>
              </a:rPr>
              <a:t>•  </a:t>
            </a:r>
            <a:r>
              <a:rPr sz="1800">
                <a:solidFill>
                  <a:srgbClr val="FFFFFF"/>
                </a:solidFill>
                <a:latin typeface="Inter"/>
              </a:rPr>
              <a:t>More depression in teens</a:t>
            </a:r>
          </a:p>
          <a:p>
            <a:pPr algn="l">
              <a:lnSpc>
                <a:spcPct val="125000"/>
              </a:lnSpc>
              <a:spcAft>
                <a:spcPts val="600"/>
              </a:spcAft>
            </a:pPr>
            <a:r>
              <a:rPr sz="1800" b="1">
                <a:solidFill>
                  <a:srgbClr val="FF6B6B"/>
                </a:solidFill>
                <a:latin typeface="Inter"/>
              </a:rPr>
              <a:t>•  </a:t>
            </a:r>
            <a:r>
              <a:rPr sz="1800">
                <a:solidFill>
                  <a:srgbClr val="FFFFFF"/>
                </a:solidFill>
                <a:latin typeface="Inter"/>
              </a:rPr>
              <a:t>Low self-esteem (comparison)</a:t>
            </a:r>
          </a:p>
          <a:p>
            <a:pPr algn="l">
              <a:lnSpc>
                <a:spcPct val="125000"/>
              </a:lnSpc>
              <a:spcAft>
                <a:spcPts val="600"/>
              </a:spcAft>
            </a:pPr>
            <a:r>
              <a:rPr sz="1800" b="1">
                <a:solidFill>
                  <a:srgbClr val="FF6B6B"/>
                </a:solidFill>
                <a:latin typeface="Inter"/>
              </a:rPr>
              <a:t>•  </a:t>
            </a:r>
            <a:r>
              <a:rPr sz="1800">
                <a:solidFill>
                  <a:srgbClr val="FFFFFF"/>
                </a:solidFill>
                <a:latin typeface="Inter"/>
              </a:rPr>
              <a:t>Sleep problems</a:t>
            </a:r>
          </a:p>
          <a:p>
            <a:pPr algn="l">
              <a:lnSpc>
                <a:spcPct val="125000"/>
              </a:lnSpc>
              <a:spcAft>
                <a:spcPts val="600"/>
              </a:spcAft>
            </a:pPr>
            <a:r>
              <a:rPr sz="1800" b="1">
                <a:solidFill>
                  <a:srgbClr val="FF6B6B"/>
                </a:solidFill>
                <a:latin typeface="Inter"/>
              </a:rPr>
              <a:t>•  </a:t>
            </a:r>
            <a:r>
              <a:rPr sz="1800">
                <a:solidFill>
                  <a:srgbClr val="FFFFFF"/>
                </a:solidFill>
                <a:latin typeface="Inter"/>
              </a:rPr>
              <a:t>FOMO — fear of missing out</a:t>
            </a:r>
          </a:p>
        </p:txBody>
      </p:sp>
      <p:sp>
        <p:nvSpPr>
          <p:cNvPr id="9" name="TextBox 8"/>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Social Media Influence on People</a:t>
            </a:r>
          </a:p>
        </p:txBody>
      </p:sp>
      <p:sp>
        <p:nvSpPr>
          <p:cNvPr id="10" name="TextBox 9"/>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7BC47F"/>
                </a:solidFill>
                <a:latin typeface="Inter"/>
              </a:rPr>
              <a:t>08  •  TAKE CONTROL</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How to Use Social Media Safely</a:t>
            </a:r>
          </a:p>
        </p:txBody>
      </p:sp>
      <p:sp>
        <p:nvSpPr>
          <p:cNvPr id="6" name="Rounded Rectangle 5"/>
          <p:cNvSpPr/>
          <p:nvPr/>
        </p:nvSpPr>
        <p:spPr>
          <a:xfrm>
            <a:off x="640080" y="219456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2" y="231343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9" name="TextBox 8"/>
          <p:cNvSpPr txBox="1"/>
          <p:nvPr/>
        </p:nvSpPr>
        <p:spPr>
          <a:xfrm>
            <a:off x="1463040" y="2194560"/>
            <a:ext cx="6858000" cy="640080"/>
          </a:xfrm>
          <a:prstGeom prst="rect">
            <a:avLst/>
          </a:prstGeom>
          <a:noFill/>
        </p:spPr>
        <p:txBody>
          <a:bodyPr wrap="square" lIns="0" rIns="0" tIns="0" bIns="0" anchor="ctr">
            <a:spAutoFit/>
          </a:bodyPr>
          <a:lstStyle/>
          <a:p>
            <a:pPr algn="l"/>
            <a:r>
              <a:rPr sz="1600" b="0">
                <a:solidFill>
                  <a:srgbClr val="222831"/>
                </a:solidFill>
                <a:latin typeface="Inter"/>
              </a:rPr>
              <a:t>Set a daily TIME LIMIT</a:t>
            </a:r>
          </a:p>
        </p:txBody>
      </p:sp>
      <p:sp>
        <p:nvSpPr>
          <p:cNvPr id="10" name="Rounded Rectangle 9"/>
          <p:cNvSpPr/>
          <p:nvPr/>
        </p:nvSpPr>
        <p:spPr>
          <a:xfrm>
            <a:off x="640080" y="292608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304495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92608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13" name="TextBox 12"/>
          <p:cNvSpPr txBox="1"/>
          <p:nvPr/>
        </p:nvSpPr>
        <p:spPr>
          <a:xfrm>
            <a:off x="1463040" y="2926080"/>
            <a:ext cx="6858000" cy="640080"/>
          </a:xfrm>
          <a:prstGeom prst="rect">
            <a:avLst/>
          </a:prstGeom>
          <a:noFill/>
        </p:spPr>
        <p:txBody>
          <a:bodyPr wrap="square" lIns="0" rIns="0" tIns="0" bIns="0" anchor="ctr">
            <a:spAutoFit/>
          </a:bodyPr>
          <a:lstStyle/>
          <a:p>
            <a:pPr algn="l"/>
            <a:r>
              <a:rPr sz="1600" b="0">
                <a:solidFill>
                  <a:srgbClr val="222831"/>
                </a:solidFill>
                <a:latin typeface="Inter"/>
              </a:rPr>
              <a:t>Turn OFF push notifications</a:t>
            </a:r>
          </a:p>
        </p:txBody>
      </p:sp>
      <p:sp>
        <p:nvSpPr>
          <p:cNvPr id="14" name="Rounded Rectangle 13"/>
          <p:cNvSpPr/>
          <p:nvPr/>
        </p:nvSpPr>
        <p:spPr>
          <a:xfrm>
            <a:off x="640080" y="365760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 y="377647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5760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17" name="TextBox 16"/>
          <p:cNvSpPr txBox="1"/>
          <p:nvPr/>
        </p:nvSpPr>
        <p:spPr>
          <a:xfrm>
            <a:off x="1463040" y="3657600"/>
            <a:ext cx="6858000" cy="640080"/>
          </a:xfrm>
          <a:prstGeom prst="rect">
            <a:avLst/>
          </a:prstGeom>
          <a:noFill/>
        </p:spPr>
        <p:txBody>
          <a:bodyPr wrap="square" lIns="0" rIns="0" tIns="0" bIns="0" anchor="ctr">
            <a:spAutoFit/>
          </a:bodyPr>
          <a:lstStyle/>
          <a:p>
            <a:pPr algn="l"/>
            <a:r>
              <a:rPr sz="1600" b="0">
                <a:solidFill>
                  <a:srgbClr val="222831"/>
                </a:solidFill>
                <a:latin typeface="Inter"/>
              </a:rPr>
              <a:t>Follow POSITIVE accounts</a:t>
            </a:r>
          </a:p>
        </p:txBody>
      </p:sp>
      <p:sp>
        <p:nvSpPr>
          <p:cNvPr id="18" name="Rounded Rectangle 17"/>
          <p:cNvSpPr/>
          <p:nvPr/>
        </p:nvSpPr>
        <p:spPr>
          <a:xfrm>
            <a:off x="640080" y="438912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450799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38912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21" name="TextBox 20"/>
          <p:cNvSpPr txBox="1"/>
          <p:nvPr/>
        </p:nvSpPr>
        <p:spPr>
          <a:xfrm>
            <a:off x="1463040" y="4389120"/>
            <a:ext cx="6858000" cy="640080"/>
          </a:xfrm>
          <a:prstGeom prst="rect">
            <a:avLst/>
          </a:prstGeom>
          <a:noFill/>
        </p:spPr>
        <p:txBody>
          <a:bodyPr wrap="square" lIns="0" rIns="0" tIns="0" bIns="0" anchor="ctr">
            <a:spAutoFit/>
          </a:bodyPr>
          <a:lstStyle/>
          <a:p>
            <a:pPr algn="l"/>
            <a:r>
              <a:rPr sz="1600" b="0">
                <a:solidFill>
                  <a:srgbClr val="222831"/>
                </a:solidFill>
                <a:latin typeface="Inter"/>
              </a:rPr>
              <a:t>Don't share personal data</a:t>
            </a:r>
          </a:p>
        </p:txBody>
      </p:sp>
      <p:sp>
        <p:nvSpPr>
          <p:cNvPr id="22" name="Rounded Rectangle 21"/>
          <p:cNvSpPr/>
          <p:nvPr/>
        </p:nvSpPr>
        <p:spPr>
          <a:xfrm>
            <a:off x="640080" y="512064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523951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12064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25" name="TextBox 24"/>
          <p:cNvSpPr txBox="1"/>
          <p:nvPr/>
        </p:nvSpPr>
        <p:spPr>
          <a:xfrm>
            <a:off x="1463040" y="5120640"/>
            <a:ext cx="6858000" cy="640080"/>
          </a:xfrm>
          <a:prstGeom prst="rect">
            <a:avLst/>
          </a:prstGeom>
          <a:noFill/>
        </p:spPr>
        <p:txBody>
          <a:bodyPr wrap="square" lIns="0" rIns="0" tIns="0" bIns="0" anchor="ctr">
            <a:spAutoFit/>
          </a:bodyPr>
          <a:lstStyle/>
          <a:p>
            <a:pPr algn="l"/>
            <a:r>
              <a:rPr sz="1600" b="0">
                <a:solidFill>
                  <a:srgbClr val="222831"/>
                </a:solidFill>
                <a:latin typeface="Inter"/>
              </a:rPr>
              <a:t>Take a DIGITAL DETOX day</a:t>
            </a:r>
          </a:p>
        </p:txBody>
      </p:sp>
      <p:sp>
        <p:nvSpPr>
          <p:cNvPr id="26" name="Rounded Rectangle 25"/>
          <p:cNvSpPr/>
          <p:nvPr/>
        </p:nvSpPr>
        <p:spPr>
          <a:xfrm>
            <a:off x="640080" y="585216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2" y="597103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85216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29" name="TextBox 28"/>
          <p:cNvSpPr txBox="1"/>
          <p:nvPr/>
        </p:nvSpPr>
        <p:spPr>
          <a:xfrm>
            <a:off x="1463040" y="5852160"/>
            <a:ext cx="6858000" cy="640080"/>
          </a:xfrm>
          <a:prstGeom prst="rect">
            <a:avLst/>
          </a:prstGeom>
          <a:noFill/>
        </p:spPr>
        <p:txBody>
          <a:bodyPr wrap="square" lIns="0" rIns="0" tIns="0" bIns="0" anchor="ctr">
            <a:spAutoFit/>
          </a:bodyPr>
          <a:lstStyle/>
          <a:p>
            <a:pPr algn="l"/>
            <a:r>
              <a:rPr sz="1600" b="0">
                <a:solidFill>
                  <a:srgbClr val="222831"/>
                </a:solidFill>
                <a:latin typeface="Inter"/>
              </a:rPr>
              <a:t>Don't scroll before sleep</a:t>
            </a:r>
          </a:p>
        </p:txBody>
      </p:sp>
      <p:sp>
        <p:nvSpPr>
          <p:cNvPr id="30" name="Rounded Rectangle 29"/>
          <p:cNvSpPr/>
          <p:nvPr/>
        </p:nvSpPr>
        <p:spPr>
          <a:xfrm>
            <a:off x="8961120" y="2286000"/>
            <a:ext cx="2743200" cy="4114800"/>
          </a:xfrm>
          <a:prstGeom prst="roundRect">
            <a:avLst>
              <a:gd name="adj" fmla="val 12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144000" y="2560320"/>
            <a:ext cx="2377440" cy="35661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0" y="2743200"/>
            <a:ext cx="2377440" cy="365760"/>
          </a:xfrm>
          <a:prstGeom prst="rect">
            <a:avLst/>
          </a:prstGeom>
          <a:noFill/>
        </p:spPr>
        <p:txBody>
          <a:bodyPr wrap="square" lIns="0" rIns="0" tIns="0" bIns="0" anchor="t">
            <a:spAutoFit/>
          </a:bodyPr>
          <a:lstStyle/>
          <a:p>
            <a:pPr algn="ctr"/>
            <a:r>
              <a:rPr sz="1000" b="1">
                <a:solidFill>
                  <a:srgbClr val="6B7280"/>
                </a:solidFill>
                <a:latin typeface="Inter"/>
              </a:rPr>
              <a:t>SCREEN TIME</a:t>
            </a:r>
          </a:p>
        </p:txBody>
      </p:sp>
      <p:sp>
        <p:nvSpPr>
          <p:cNvPr id="33" name="TextBox 32"/>
          <p:cNvSpPr txBox="1"/>
          <p:nvPr/>
        </p:nvSpPr>
        <p:spPr>
          <a:xfrm>
            <a:off x="9144000" y="3291840"/>
            <a:ext cx="2377440" cy="1280160"/>
          </a:xfrm>
          <a:prstGeom prst="rect">
            <a:avLst/>
          </a:prstGeom>
          <a:noFill/>
        </p:spPr>
        <p:txBody>
          <a:bodyPr wrap="square" lIns="0" rIns="0" tIns="0" bIns="0" anchor="ctr">
            <a:spAutoFit/>
          </a:bodyPr>
          <a:lstStyle/>
          <a:p>
            <a:pPr algn="ctr"/>
            <a:r>
              <a:rPr sz="6000" b="1">
                <a:solidFill>
                  <a:srgbClr val="1E1E2E"/>
                </a:solidFill>
                <a:latin typeface="Montserrat"/>
              </a:rPr>
              <a:t>1 h</a:t>
            </a:r>
          </a:p>
        </p:txBody>
      </p:sp>
      <p:sp>
        <p:nvSpPr>
          <p:cNvPr id="34" name="Rounded Rectangle 33"/>
          <p:cNvSpPr/>
          <p:nvPr/>
        </p:nvSpPr>
        <p:spPr>
          <a:xfrm>
            <a:off x="9326880" y="4754880"/>
            <a:ext cx="2011680" cy="3657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26880" y="4754880"/>
            <a:ext cx="2011680" cy="365760"/>
          </a:xfrm>
          <a:prstGeom prst="rect">
            <a:avLst/>
          </a:prstGeom>
          <a:noFill/>
        </p:spPr>
        <p:txBody>
          <a:bodyPr wrap="square" lIns="0" rIns="0" tIns="0" bIns="0" anchor="ctr">
            <a:spAutoFit/>
          </a:bodyPr>
          <a:lstStyle/>
          <a:p>
            <a:pPr algn="ctr"/>
            <a:r>
              <a:rPr sz="1100" b="1">
                <a:solidFill>
                  <a:srgbClr val="FFFFFF"/>
                </a:solidFill>
                <a:latin typeface="Inter"/>
              </a:rPr>
              <a:t>Daily limit set</a:t>
            </a:r>
          </a:p>
        </p:txBody>
      </p:sp>
      <p:sp>
        <p:nvSpPr>
          <p:cNvPr id="36" name="TextBox 35"/>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Social Media Influence on People</a:t>
            </a:r>
          </a:p>
        </p:txBody>
      </p:sp>
      <p:sp>
        <p:nvSpPr>
          <p:cNvPr id="37" name="TextBox 36"/>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08415" y="3474720"/>
            <a:ext cx="6400800" cy="6400800"/>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03120" y="-2103120"/>
            <a:ext cx="4572000" cy="4572000"/>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10972800" cy="457200"/>
          </a:xfrm>
          <a:prstGeom prst="rect">
            <a:avLst/>
          </a:prstGeom>
          <a:noFill/>
        </p:spPr>
        <p:txBody>
          <a:bodyPr wrap="square" lIns="0" rIns="0" tIns="0" bIns="0" anchor="t">
            <a:spAutoFit/>
          </a:bodyPr>
          <a:lstStyle/>
          <a:p>
            <a:pPr algn="l"/>
            <a:r>
              <a:rPr sz="1400" b="1">
                <a:solidFill>
                  <a:srgbClr val="7C5CFF"/>
                </a:solidFill>
                <a:latin typeface="Inter"/>
              </a:rPr>
              <a:t>CONCLUSION</a:t>
            </a:r>
          </a:p>
        </p:txBody>
      </p:sp>
      <p:sp>
        <p:nvSpPr>
          <p:cNvPr id="6" name="TextBox 5"/>
          <p:cNvSpPr txBox="1"/>
          <p:nvPr/>
        </p:nvSpPr>
        <p:spPr>
          <a:xfrm>
            <a:off x="640080" y="1463040"/>
            <a:ext cx="10972800" cy="1371600"/>
          </a:xfrm>
          <a:prstGeom prst="rect">
            <a:avLst/>
          </a:prstGeom>
          <a:noFill/>
        </p:spPr>
        <p:txBody>
          <a:bodyPr wrap="square" lIns="0" rIns="0" tIns="0" bIns="0" anchor="t">
            <a:spAutoFit/>
          </a:bodyPr>
          <a:lstStyle/>
          <a:p>
            <a:pPr algn="l"/>
            <a:r>
              <a:rPr sz="7200" b="1">
                <a:solidFill>
                  <a:srgbClr val="FFFFFF"/>
                </a:solidFill>
                <a:latin typeface="Montserrat"/>
              </a:rPr>
              <a:t>Thank you!</a:t>
            </a:r>
          </a:p>
        </p:txBody>
      </p:sp>
      <p:sp>
        <p:nvSpPr>
          <p:cNvPr id="7" name="TextBox 6"/>
          <p:cNvSpPr txBox="1"/>
          <p:nvPr/>
        </p:nvSpPr>
        <p:spPr>
          <a:xfrm>
            <a:off x="640080" y="2926080"/>
            <a:ext cx="10972800" cy="1828800"/>
          </a:xfrm>
          <a:prstGeom prst="rect">
            <a:avLst/>
          </a:prstGeom>
          <a:noFill/>
        </p:spPr>
        <p:txBody>
          <a:bodyPr wrap="square" lIns="0" rIns="0" tIns="0" bIns="0" anchor="t">
            <a:spAutoFit/>
          </a:bodyPr>
          <a:lstStyle/>
          <a:p>
            <a:pPr algn="l"/>
            <a:r>
              <a:rPr sz="2200" b="0">
                <a:solidFill>
                  <a:srgbClr val="FFFFFF"/>
                </a:solidFill>
                <a:latin typeface="Inter"/>
              </a:rPr>
              <a:t>Social media is a strong tool.</a:t>
            </a:r>
          </a:p>
          <a:p>
            <a:pPr algn="l"/>
            <a:r>
              <a:rPr sz="2200" b="0">
                <a:solidFill>
                  <a:srgbClr val="FFFFFF"/>
                </a:solidFill>
                <a:latin typeface="Inter"/>
              </a:rPr>
              <a:t>It has good and bad sides.</a:t>
            </a:r>
          </a:p>
          <a:p>
            <a:pPr algn="l"/>
            <a:r>
              <a:rPr sz="2200" b="0">
                <a:solidFill>
                  <a:srgbClr val="FFFFFF"/>
                </a:solidFill>
                <a:latin typeface="Inter"/>
              </a:rPr>
              <a:t>Use it with balance — be a smart user.</a:t>
            </a:r>
          </a:p>
        </p:txBody>
      </p:sp>
      <p:sp>
        <p:nvSpPr>
          <p:cNvPr id="8" name="TextBox 7"/>
          <p:cNvSpPr txBox="1"/>
          <p:nvPr/>
        </p:nvSpPr>
        <p:spPr>
          <a:xfrm>
            <a:off x="640080" y="5120640"/>
            <a:ext cx="10972800" cy="457200"/>
          </a:xfrm>
          <a:prstGeom prst="rect">
            <a:avLst/>
          </a:prstGeom>
          <a:noFill/>
        </p:spPr>
        <p:txBody>
          <a:bodyPr wrap="square" lIns="0" rIns="0" tIns="0" bIns="0" anchor="t">
            <a:spAutoFit/>
          </a:bodyPr>
          <a:lstStyle/>
          <a:p>
            <a:pPr algn="l"/>
            <a:r>
              <a:rPr sz="2800" b="1">
                <a:solidFill>
                  <a:srgbClr val="FF6B6B"/>
                </a:solidFill>
                <a:latin typeface="Montserrat"/>
              </a:rPr>
              <a:t>Questions?</a:t>
            </a:r>
          </a:p>
        </p:txBody>
      </p:sp>
      <p:sp>
        <p:nvSpPr>
          <p:cNvPr id="9" name="TextBox 8"/>
          <p:cNvSpPr txBox="1"/>
          <p:nvPr/>
        </p:nvSpPr>
        <p:spPr>
          <a:xfrm>
            <a:off x="640080" y="5943600"/>
            <a:ext cx="10972800" cy="365760"/>
          </a:xfrm>
          <a:prstGeom prst="rect">
            <a:avLst/>
          </a:prstGeom>
          <a:noFill/>
        </p:spPr>
        <p:txBody>
          <a:bodyPr wrap="square" lIns="0" rIns="0" tIns="0" bIns="0" anchor="t">
            <a:spAutoFit/>
          </a:bodyPr>
          <a:lstStyle/>
          <a:p>
            <a:pPr algn="l"/>
            <a:r>
              <a:rPr sz="1200" b="0">
                <a:solidFill>
                  <a:srgbClr val="6B7280"/>
                </a:solidFill>
                <a:latin typeface="Inter"/>
              </a:rPr>
              <a:t>Anastasia Mogileva  •  TikTok · Instagram · YouTube · Facebook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