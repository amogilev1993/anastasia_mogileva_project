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Anastasia. Today I will speak about social media and how it influences our life. Almost every person uses social media every day. In my presentation, I will show the good sides, the bad sides, and how to stay safe online.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social media? Social media are websites and apps that help people talk to each other online. We share photos, videos, and ideas. Today, more than five billion people in the world use social media. It is the most popular activity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many social media platforms, but four are the most popular. TikTok is famous for short fun videos. Instagram is about photos, stories, and Reels. YouTube has videos for every topic. Facebook is more popular with older people and family groups.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media has many positive sides. We can stay in touch with our family and friends in other countries — for free. We get news very fast. We can find people who love the same things. And many people use social media to find a new job or to start a small business.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media also changed how we study. We can speak with people from another country in seconds. YouTube has free lessons about almost everything. Many students create study groups online. Learning is not only in the classroom anymore.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social media also has serious negative sides. People spend too much time on the phone. We see a lot of fake news. In the comments, some users are aggressive — this is called cyberbullying. Social media also collects a lot of our personal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users spend more than two and a half hours on social media every day. For teenagers this number is higher — up to five hours. The endless scroll gives the brain small rewards, like a game. We check the phone more than one hundred times a day. This is a real form of digital addiction.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studies show that social media can harm our mental health. Teenagers who spend more than three hours a day on social media have a higher risk of depression and anxiety. We compare our real life to perfect photos and feel bad about ourselves. Many young people sleep less because they use the phone at night. This is called FOMO — fear of missing 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that we can use social media in a smart way. Set a daily time limit, turn off notifications, follow accounts that inspire you. Don't share your personal data with everyone. Try one day per week without the phone — your mind will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social media is a very strong tool. It helps us learn, work, and stay connected, but it can also take our time and our energy. The most important thing is balance. If we use social media in a smart way, it gives more than it takes. Thank you for your attention. I will be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0" cy="6858000"/>
          </a:xfrm>
          <a:prstGeom prst="rect">
            <a:avLst/>
          </a:prstGeom>
          <a:solidFill>
            <a:srgbClr val="886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154680"/>
            <a:ext cx="5486400" cy="365760"/>
          </a:xfrm>
          <a:prstGeom prst="rect">
            <a:avLst/>
          </a:prstGeom>
          <a:noFill/>
        </p:spPr>
        <p:txBody>
          <a:bodyPr wrap="square" lIns="0" rIns="0" tIns="0" bIns="0" anchor="ctr">
            <a:spAutoFit/>
          </a:bodyPr>
          <a:lstStyle/>
          <a:p>
            <a:pPr algn="ctr"/>
            <a:r>
              <a:rPr sz="2800" b="0" i="0">
                <a:solidFill>
                  <a:srgbClr val="FFFFFF"/>
                </a:solidFill>
                <a:latin typeface="Inter"/>
              </a:rPr>
              <a:t>◳</a:t>
            </a:r>
          </a:p>
        </p:txBody>
      </p:sp>
      <p:sp>
        <p:nvSpPr>
          <p:cNvPr id="5" name="TextBox 4"/>
          <p:cNvSpPr txBox="1"/>
          <p:nvPr/>
        </p:nvSpPr>
        <p:spPr>
          <a:xfrm>
            <a:off x="0" y="3520440"/>
            <a:ext cx="5486400" cy="274320"/>
          </a:xfrm>
          <a:prstGeom prst="rect">
            <a:avLst/>
          </a:prstGeom>
          <a:noFill/>
        </p:spPr>
        <p:txBody>
          <a:bodyPr wrap="square" lIns="0" rIns="0" tIns="0" bIns="0" anchor="ctr">
            <a:spAutoFit/>
          </a:bodyPr>
          <a:lstStyle/>
          <a:p>
            <a:pPr algn="ctr"/>
            <a:r>
              <a:rPr sz="1000" b="1" i="0">
                <a:solidFill>
                  <a:srgbClr val="FFFFFF"/>
                </a:solidFill>
                <a:latin typeface="Inter"/>
              </a:rPr>
              <a:t>HERO PHOTO</a:t>
            </a:r>
          </a:p>
          <a:p>
            <a:pPr algn="ctr"/>
            <a:r>
              <a:rPr sz="1000" b="1" i="0">
                <a:solidFill>
                  <a:srgbClr val="FFFFFF"/>
                </a:solidFill>
                <a:latin typeface="Inter"/>
              </a:rPr>
              <a:t>(suggest: hands holding phone)</a:t>
            </a:r>
          </a:p>
        </p:txBody>
      </p:sp>
      <p:sp>
        <p:nvSpPr>
          <p:cNvPr id="6" name="TextBox 5"/>
          <p:cNvSpPr txBox="1"/>
          <p:nvPr/>
        </p:nvSpPr>
        <p:spPr>
          <a:xfrm>
            <a:off x="6126480" y="731520"/>
            <a:ext cx="5486400" cy="365760"/>
          </a:xfrm>
          <a:prstGeom prst="rect">
            <a:avLst/>
          </a:prstGeom>
          <a:noFill/>
        </p:spPr>
        <p:txBody>
          <a:bodyPr wrap="square" lIns="0" rIns="0" tIns="0" bIns="0" anchor="t">
            <a:spAutoFit/>
          </a:bodyPr>
          <a:lstStyle/>
          <a:p>
            <a:pPr algn="l"/>
            <a:r>
              <a:rPr sz="1200" b="1" i="0">
                <a:solidFill>
                  <a:srgbClr val="F25F4C"/>
                </a:solidFill>
                <a:latin typeface="Inter"/>
              </a:rPr>
              <a:t>FINAL PROJECT  ·  2026</a:t>
            </a:r>
          </a:p>
        </p:txBody>
      </p:sp>
      <p:cxnSp>
        <p:nvCxnSpPr>
          <p:cNvPr id="7" name="Connector 6"/>
          <p:cNvCxnSpPr/>
          <p:nvPr/>
        </p:nvCxnSpPr>
        <p:spPr>
          <a:xfrm>
            <a:off x="6126480" y="1188720"/>
            <a:ext cx="164592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26480" y="1463040"/>
            <a:ext cx="5760720" cy="3474720"/>
          </a:xfrm>
          <a:prstGeom prst="rect">
            <a:avLst/>
          </a:prstGeom>
          <a:noFill/>
        </p:spPr>
        <p:txBody>
          <a:bodyPr wrap="square" lIns="0" rIns="0" tIns="0" bIns="0" anchor="t">
            <a:spAutoFit/>
          </a:bodyPr>
          <a:lstStyle/>
          <a:p>
            <a:pPr algn="l">
              <a:lnSpc>
                <a:spcPct val="95000"/>
              </a:lnSpc>
            </a:pPr>
            <a:r>
              <a:rPr sz="6400" b="0" i="0">
                <a:solidFill>
                  <a:srgbClr val="1B1B1B"/>
                </a:solidFill>
                <a:latin typeface="DM Serif Display"/>
              </a:rPr>
              <a:t>Social</a:t>
            </a:r>
          </a:p>
          <a:p>
            <a:pPr algn="l">
              <a:lnSpc>
                <a:spcPct val="95000"/>
              </a:lnSpc>
            </a:pPr>
            <a:r>
              <a:rPr sz="6400" b="0" i="0">
                <a:solidFill>
                  <a:srgbClr val="1B1B1B"/>
                </a:solidFill>
                <a:latin typeface="DM Serif Display"/>
              </a:rPr>
              <a:t>Media</a:t>
            </a:r>
          </a:p>
          <a:p>
            <a:pPr algn="l">
              <a:lnSpc>
                <a:spcPct val="95000"/>
              </a:lnSpc>
            </a:pPr>
            <a:r>
              <a:rPr sz="6400" b="0" i="0">
                <a:solidFill>
                  <a:srgbClr val="1B1B1B"/>
                </a:solidFill>
                <a:latin typeface="DM Serif Display"/>
              </a:rPr>
              <a:t>Influence</a:t>
            </a:r>
          </a:p>
          <a:p>
            <a:pPr algn="l">
              <a:lnSpc>
                <a:spcPct val="95000"/>
              </a:lnSpc>
            </a:pPr>
            <a:r>
              <a:rPr sz="6400" b="0" i="0">
                <a:solidFill>
                  <a:srgbClr val="1B1B1B"/>
                </a:solidFill>
                <a:latin typeface="DM Serif Display"/>
              </a:rPr>
              <a:t>on People.</a:t>
            </a:r>
          </a:p>
        </p:txBody>
      </p:sp>
      <p:sp>
        <p:nvSpPr>
          <p:cNvPr id="9" name="TextBox 8"/>
          <p:cNvSpPr txBox="1"/>
          <p:nvPr/>
        </p:nvSpPr>
        <p:spPr>
          <a:xfrm>
            <a:off x="6126480" y="5120640"/>
            <a:ext cx="5486400" cy="457200"/>
          </a:xfrm>
          <a:prstGeom prst="rect">
            <a:avLst/>
          </a:prstGeom>
          <a:noFill/>
        </p:spPr>
        <p:txBody>
          <a:bodyPr wrap="square" lIns="0" rIns="0" tIns="0" bIns="0" anchor="t">
            <a:spAutoFit/>
          </a:bodyPr>
          <a:lstStyle/>
          <a:p>
            <a:pPr algn="l"/>
            <a:r>
              <a:rPr sz="1400" b="0" i="1">
                <a:solidFill>
                  <a:srgbClr val="555555"/>
                </a:solidFill>
                <a:latin typeface="Inter"/>
              </a:rPr>
              <a:t>An essay in ten slides on</a:t>
            </a:r>
          </a:p>
          <a:p>
            <a:pPr algn="l"/>
            <a:r>
              <a:rPr sz="1400" b="0" i="1">
                <a:solidFill>
                  <a:srgbClr val="555555"/>
                </a:solidFill>
                <a:latin typeface="Inter"/>
              </a:rPr>
              <a:t>likes, lives, and limits.</a:t>
            </a:r>
          </a:p>
        </p:txBody>
      </p:sp>
      <p:sp>
        <p:nvSpPr>
          <p:cNvPr id="10" name="TextBox 9"/>
          <p:cNvSpPr txBox="1"/>
          <p:nvPr/>
        </p:nvSpPr>
        <p:spPr>
          <a:xfrm>
            <a:off x="6126480" y="5852160"/>
            <a:ext cx="5486400" cy="365760"/>
          </a:xfrm>
          <a:prstGeom prst="rect">
            <a:avLst/>
          </a:prstGeom>
          <a:noFill/>
        </p:spPr>
        <p:txBody>
          <a:bodyPr wrap="square" lIns="0" rIns="0" tIns="0" bIns="0" anchor="t">
            <a:spAutoFit/>
          </a:bodyPr>
          <a:lstStyle/>
          <a:p>
            <a:pPr algn="l"/>
            <a:r>
              <a:rPr sz="1200" b="1" i="0">
                <a:solidFill>
                  <a:srgbClr val="1B1B1B"/>
                </a:solidFill>
                <a:latin typeface="Inter"/>
              </a:rPr>
              <a:t>by Anastasia Mogileva</a:t>
            </a:r>
          </a:p>
        </p:txBody>
      </p:sp>
      <p:sp>
        <p:nvSpPr>
          <p:cNvPr id="11" name="TextBox 10"/>
          <p:cNvSpPr txBox="1"/>
          <p:nvPr/>
        </p:nvSpPr>
        <p:spPr>
          <a:xfrm>
            <a:off x="6126480" y="6126480"/>
            <a:ext cx="5486400" cy="365760"/>
          </a:xfrm>
          <a:prstGeom prst="rect">
            <a:avLst/>
          </a:prstGeom>
          <a:noFill/>
        </p:spPr>
        <p:txBody>
          <a:bodyPr wrap="square" lIns="0" rIns="0" tIns="0" bIns="0" anchor="t">
            <a:spAutoFit/>
          </a:bodyPr>
          <a:lstStyle/>
          <a:p>
            <a:pPr algn="l"/>
            <a:r>
              <a:rPr sz="1100" b="0" i="0">
                <a:solidFill>
                  <a:srgbClr val="555555"/>
                </a:solidFill>
                <a:latin typeface="Inter"/>
              </a:rPr>
              <a:t>University · Faculty ·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F25F4C"/>
                </a:solidFill>
                <a:latin typeface="Inter"/>
              </a:rPr>
              <a:t>01</a:t>
            </a:r>
          </a:p>
        </p:txBody>
      </p:sp>
      <p:cxnSp>
        <p:nvCxnSpPr>
          <p:cNvPr id="4" name="Connector 3"/>
          <p:cNvCxnSpPr/>
          <p:nvPr/>
        </p:nvCxnSpPr>
        <p:spPr>
          <a:xfrm>
            <a:off x="1280160" y="713232"/>
            <a:ext cx="9144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F25F4C"/>
                </a:solidFill>
                <a:latin typeface="Inter"/>
              </a:rPr>
              <a:t>WHAT IT IS</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lnSpc>
                <a:spcPct val="100000"/>
              </a:lnSpc>
            </a:pPr>
            <a:r>
              <a:rPr sz="4400" b="0" i="0">
                <a:solidFill>
                  <a:srgbClr val="1B1B1B"/>
                </a:solidFill>
                <a:latin typeface="DM Serif Display"/>
              </a:rPr>
              <a:t>What is social media,</a:t>
            </a:r>
          </a:p>
          <a:p>
            <a:pPr algn="l">
              <a:lnSpc>
                <a:spcPct val="100000"/>
              </a:lnSpc>
            </a:pPr>
            <a:r>
              <a:rPr sz="4400" b="0" i="0">
                <a:solidFill>
                  <a:srgbClr val="1B1B1B"/>
                </a:solidFill>
                <a:latin typeface="DM Serif Display"/>
              </a:rPr>
              <a:t>really?</a:t>
            </a:r>
          </a:p>
        </p:txBody>
      </p:sp>
      <p:sp>
        <p:nvSpPr>
          <p:cNvPr id="7" name="Rounded Rectangle 6"/>
          <p:cNvSpPr/>
          <p:nvPr/>
        </p:nvSpPr>
        <p:spPr>
          <a:xfrm>
            <a:off x="640080" y="3108960"/>
            <a:ext cx="5943600" cy="2926080"/>
          </a:xfrm>
          <a:prstGeom prst="roundRect">
            <a:avLst>
              <a:gd name="adj" fmla="val 2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91840"/>
            <a:ext cx="548640" cy="548640"/>
          </a:xfrm>
          <a:prstGeom prst="rect">
            <a:avLst/>
          </a:prstGeom>
          <a:noFill/>
        </p:spPr>
        <p:txBody>
          <a:bodyPr wrap="square" lIns="0" rIns="0" tIns="0" bIns="0" anchor="t">
            <a:spAutoFit/>
          </a:bodyPr>
          <a:lstStyle/>
          <a:p>
            <a:pPr algn="l"/>
            <a:r>
              <a:rPr sz="5600" b="0" i="0">
                <a:solidFill>
                  <a:srgbClr val="F25F4C"/>
                </a:solidFill>
                <a:latin typeface="DM Serif Display"/>
              </a:rPr>
              <a:t>“</a:t>
            </a:r>
          </a:p>
        </p:txBody>
      </p:sp>
      <p:sp>
        <p:nvSpPr>
          <p:cNvPr id="9" name="TextBox 8"/>
          <p:cNvSpPr txBox="1"/>
          <p:nvPr/>
        </p:nvSpPr>
        <p:spPr>
          <a:xfrm>
            <a:off x="914400" y="3657600"/>
            <a:ext cx="5486400" cy="1828800"/>
          </a:xfrm>
          <a:prstGeom prst="rect">
            <a:avLst/>
          </a:prstGeom>
          <a:noFill/>
        </p:spPr>
        <p:txBody>
          <a:bodyPr wrap="square" lIns="0" rIns="0" tIns="0" bIns="0" anchor="t">
            <a:spAutoFit/>
          </a:bodyPr>
          <a:lstStyle/>
          <a:p>
            <a:pPr algn="l">
              <a:lnSpc>
                <a:spcPct val="120000"/>
              </a:lnSpc>
            </a:pPr>
            <a:r>
              <a:rPr sz="2200" b="0" i="0">
                <a:solidFill>
                  <a:srgbClr val="1B1B1B"/>
                </a:solidFill>
                <a:latin typeface="DM Serif Display"/>
              </a:rPr>
              <a:t>Websites and apps that help</a:t>
            </a:r>
          </a:p>
          <a:p>
            <a:pPr algn="l">
              <a:lnSpc>
                <a:spcPct val="120000"/>
              </a:lnSpc>
            </a:pPr>
            <a:r>
              <a:rPr sz="2200" b="0" i="0">
                <a:solidFill>
                  <a:srgbClr val="1B1B1B"/>
                </a:solidFill>
                <a:latin typeface="DM Serif Display"/>
              </a:rPr>
              <a:t>people share photos, videos</a:t>
            </a:r>
          </a:p>
          <a:p>
            <a:pPr algn="l">
              <a:lnSpc>
                <a:spcPct val="120000"/>
              </a:lnSpc>
            </a:pPr>
            <a:r>
              <a:rPr sz="2200" b="0" i="0">
                <a:solidFill>
                  <a:srgbClr val="1B1B1B"/>
                </a:solidFill>
                <a:latin typeface="DM Serif Display"/>
              </a:rPr>
              <a:t>and ideas online.</a:t>
            </a:r>
          </a:p>
        </p:txBody>
      </p:sp>
      <p:sp>
        <p:nvSpPr>
          <p:cNvPr id="10" name="TextBox 9"/>
          <p:cNvSpPr txBox="1"/>
          <p:nvPr/>
        </p:nvSpPr>
        <p:spPr>
          <a:xfrm>
            <a:off x="914400" y="5486400"/>
            <a:ext cx="5486400" cy="365760"/>
          </a:xfrm>
          <a:prstGeom prst="rect">
            <a:avLst/>
          </a:prstGeom>
          <a:noFill/>
        </p:spPr>
        <p:txBody>
          <a:bodyPr wrap="square" lIns="0" rIns="0" tIns="0" bIns="0" anchor="t">
            <a:spAutoFit/>
          </a:bodyPr>
          <a:lstStyle/>
          <a:p>
            <a:pPr algn="l"/>
            <a:r>
              <a:rPr sz="1100" b="0" i="1">
                <a:solidFill>
                  <a:srgbClr val="555555"/>
                </a:solidFill>
                <a:latin typeface="Inter"/>
              </a:rPr>
              <a:t>— short definition for everyone</a:t>
            </a:r>
          </a:p>
        </p:txBody>
      </p:sp>
      <p:sp>
        <p:nvSpPr>
          <p:cNvPr id="11" name="Rectangle 10"/>
          <p:cNvSpPr/>
          <p:nvPr/>
        </p:nvSpPr>
        <p:spPr>
          <a:xfrm>
            <a:off x="6858000" y="3108960"/>
            <a:ext cx="4754880" cy="2926080"/>
          </a:xfrm>
          <a:prstGeom prst="rect">
            <a:avLst/>
          </a:prstGeom>
          <a:solidFill>
            <a:srgbClr val="1C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291840"/>
            <a:ext cx="4754880" cy="365760"/>
          </a:xfrm>
          <a:prstGeom prst="rect">
            <a:avLst/>
          </a:prstGeom>
          <a:noFill/>
        </p:spPr>
        <p:txBody>
          <a:bodyPr wrap="square" lIns="0" rIns="0" tIns="0" bIns="0" anchor="t">
            <a:spAutoFit/>
          </a:bodyPr>
          <a:lstStyle/>
          <a:p>
            <a:pPr algn="ctr"/>
            <a:r>
              <a:rPr sz="1100" b="1" i="0">
                <a:solidFill>
                  <a:srgbClr val="F25F4C"/>
                </a:solidFill>
                <a:latin typeface="Inter"/>
              </a:rPr>
              <a:t>USERS WORLDWIDE</a:t>
            </a:r>
          </a:p>
        </p:txBody>
      </p:sp>
      <p:sp>
        <p:nvSpPr>
          <p:cNvPr id="13" name="TextBox 12"/>
          <p:cNvSpPr txBox="1"/>
          <p:nvPr/>
        </p:nvSpPr>
        <p:spPr>
          <a:xfrm>
            <a:off x="6858000" y="3749039"/>
            <a:ext cx="4754880" cy="1828800"/>
          </a:xfrm>
          <a:prstGeom prst="rect">
            <a:avLst/>
          </a:prstGeom>
          <a:noFill/>
        </p:spPr>
        <p:txBody>
          <a:bodyPr wrap="square" lIns="0" rIns="0" tIns="0" bIns="0" anchor="ctr">
            <a:spAutoFit/>
          </a:bodyPr>
          <a:lstStyle/>
          <a:p>
            <a:pPr algn="ctr"/>
            <a:r>
              <a:rPr sz="11000" b="0" i="0">
                <a:solidFill>
                  <a:srgbClr val="FFFFFF"/>
                </a:solidFill>
                <a:latin typeface="DM Serif Display"/>
              </a:rPr>
              <a:t>5.2 B</a:t>
            </a:r>
          </a:p>
        </p:txBody>
      </p:sp>
      <p:sp>
        <p:nvSpPr>
          <p:cNvPr id="14" name="TextBox 13"/>
          <p:cNvSpPr txBox="1"/>
          <p:nvPr/>
        </p:nvSpPr>
        <p:spPr>
          <a:xfrm>
            <a:off x="6858000" y="5577840"/>
            <a:ext cx="4754880" cy="365760"/>
          </a:xfrm>
          <a:prstGeom prst="rect">
            <a:avLst/>
          </a:prstGeom>
          <a:noFill/>
        </p:spPr>
        <p:txBody>
          <a:bodyPr wrap="square" lIns="0" rIns="0" tIns="0" bIns="0" anchor="t">
            <a:spAutoFit/>
          </a:bodyPr>
          <a:lstStyle/>
          <a:p>
            <a:pPr algn="ctr"/>
            <a:r>
              <a:rPr sz="1200" b="0" i="0">
                <a:solidFill>
                  <a:srgbClr val="D9C4A6"/>
                </a:solidFill>
                <a:latin typeface="Inter"/>
              </a:rPr>
              <a:t>people online · Statista, 2024</a:t>
            </a:r>
          </a:p>
        </p:txBody>
      </p:sp>
      <p:cxnSp>
        <p:nvCxnSpPr>
          <p:cNvPr id="15" name="Connector 14"/>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17" name="TextBox 16"/>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02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F25F4C"/>
                </a:solidFill>
                <a:latin typeface="Inter"/>
              </a:rPr>
              <a:t>02</a:t>
            </a:r>
          </a:p>
        </p:txBody>
      </p:sp>
      <p:cxnSp>
        <p:nvCxnSpPr>
          <p:cNvPr id="4" name="Connector 3"/>
          <p:cNvCxnSpPr/>
          <p:nvPr/>
        </p:nvCxnSpPr>
        <p:spPr>
          <a:xfrm>
            <a:off x="1280160" y="713232"/>
            <a:ext cx="9144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F25F4C"/>
                </a:solidFill>
                <a:latin typeface="Inter"/>
              </a:rPr>
              <a:t>THE BIG FOUR</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lnSpc>
                <a:spcPct val="100000"/>
              </a:lnSpc>
            </a:pPr>
            <a:r>
              <a:rPr sz="4000" b="0" i="0">
                <a:solidFill>
                  <a:srgbClr val="1B1B1B"/>
                </a:solidFill>
                <a:latin typeface="DM Serif Display"/>
              </a:rPr>
              <a:t>The four platforms</a:t>
            </a:r>
          </a:p>
          <a:p>
            <a:pPr algn="l">
              <a:lnSpc>
                <a:spcPct val="100000"/>
              </a:lnSpc>
            </a:pPr>
            <a:r>
              <a:rPr sz="4000" b="0" i="0">
                <a:solidFill>
                  <a:srgbClr val="1B1B1B"/>
                </a:solidFill>
                <a:latin typeface="DM Serif Display"/>
              </a:rPr>
              <a:t>everyone knows.</a:t>
            </a:r>
          </a:p>
        </p:txBody>
      </p:sp>
      <p:cxnSp>
        <p:nvCxnSpPr>
          <p:cNvPr id="7" name="Connector 6"/>
          <p:cNvCxnSpPr/>
          <p:nvPr/>
        </p:nvCxnSpPr>
        <p:spPr>
          <a:xfrm>
            <a:off x="640080" y="2743200"/>
            <a:ext cx="10881360" cy="0"/>
          </a:xfrm>
          <a:prstGeom prst="line">
            <a:avLst/>
          </a:prstGeom>
          <a:ln w="5080">
            <a:solidFill>
              <a:srgbClr val="55555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907792"/>
            <a:ext cx="640080" cy="457200"/>
          </a:xfrm>
          <a:prstGeom prst="rect">
            <a:avLst/>
          </a:prstGeom>
          <a:noFill/>
        </p:spPr>
        <p:txBody>
          <a:bodyPr wrap="square" lIns="0" rIns="0" tIns="0" bIns="0" anchor="t">
            <a:spAutoFit/>
          </a:bodyPr>
          <a:lstStyle/>
          <a:p>
            <a:pPr algn="l"/>
            <a:r>
              <a:rPr sz="1400" b="1" i="0">
                <a:solidFill>
                  <a:srgbClr val="F25F4C"/>
                </a:solidFill>
                <a:latin typeface="Inter"/>
              </a:rPr>
              <a:t>01</a:t>
            </a:r>
          </a:p>
        </p:txBody>
      </p:sp>
      <p:sp>
        <p:nvSpPr>
          <p:cNvPr id="9" name="TextBox 8"/>
          <p:cNvSpPr txBox="1"/>
          <p:nvPr/>
        </p:nvSpPr>
        <p:spPr>
          <a:xfrm>
            <a:off x="1371600" y="2862072"/>
            <a:ext cx="2286000" cy="548640"/>
          </a:xfrm>
          <a:prstGeom prst="rect">
            <a:avLst/>
          </a:prstGeom>
          <a:noFill/>
        </p:spPr>
        <p:txBody>
          <a:bodyPr wrap="square" lIns="0" rIns="0" tIns="0" bIns="0" anchor="t">
            <a:spAutoFit/>
          </a:bodyPr>
          <a:lstStyle/>
          <a:p>
            <a:pPr algn="l"/>
            <a:r>
              <a:rPr sz="2200" b="0" i="0">
                <a:solidFill>
                  <a:srgbClr val="1B1B1B"/>
                </a:solidFill>
                <a:latin typeface="DM Serif Display"/>
              </a:rPr>
              <a:t>TikTok</a:t>
            </a:r>
          </a:p>
        </p:txBody>
      </p:sp>
      <p:sp>
        <p:nvSpPr>
          <p:cNvPr id="10" name="TextBox 9"/>
          <p:cNvSpPr txBox="1"/>
          <p:nvPr/>
        </p:nvSpPr>
        <p:spPr>
          <a:xfrm>
            <a:off x="4114800" y="2944368"/>
            <a:ext cx="5486400" cy="457200"/>
          </a:xfrm>
          <a:prstGeom prst="rect">
            <a:avLst/>
          </a:prstGeom>
          <a:noFill/>
        </p:spPr>
        <p:txBody>
          <a:bodyPr wrap="square" lIns="0" rIns="0" tIns="0" bIns="0" anchor="t">
            <a:spAutoFit/>
          </a:bodyPr>
          <a:lstStyle/>
          <a:p>
            <a:pPr algn="l"/>
            <a:r>
              <a:rPr sz="1400" b="0" i="0">
                <a:solidFill>
                  <a:srgbClr val="555555"/>
                </a:solidFill>
                <a:latin typeface="Inter"/>
              </a:rPr>
              <a:t>Short fun videos and dances.</a:t>
            </a:r>
          </a:p>
        </p:txBody>
      </p:sp>
      <p:sp>
        <p:nvSpPr>
          <p:cNvPr id="11" name="TextBox 10"/>
          <p:cNvSpPr txBox="1"/>
          <p:nvPr/>
        </p:nvSpPr>
        <p:spPr>
          <a:xfrm>
            <a:off x="9601200" y="2944368"/>
            <a:ext cx="2011680" cy="457200"/>
          </a:xfrm>
          <a:prstGeom prst="rect">
            <a:avLst/>
          </a:prstGeom>
          <a:noFill/>
        </p:spPr>
        <p:txBody>
          <a:bodyPr wrap="square" lIns="0" rIns="0" tIns="0" bIns="0" anchor="t">
            <a:spAutoFit/>
          </a:bodyPr>
          <a:lstStyle/>
          <a:p>
            <a:pPr algn="r"/>
            <a:r>
              <a:rPr sz="1300" b="1" i="0">
                <a:solidFill>
                  <a:srgbClr val="F25F4C"/>
                </a:solidFill>
                <a:latin typeface="Inter"/>
              </a:rPr>
              <a:t>1.5 B users</a:t>
            </a:r>
          </a:p>
        </p:txBody>
      </p:sp>
      <p:cxnSp>
        <p:nvCxnSpPr>
          <p:cNvPr id="12" name="Connector 11"/>
          <p:cNvCxnSpPr/>
          <p:nvPr/>
        </p:nvCxnSpPr>
        <p:spPr>
          <a:xfrm>
            <a:off x="640080" y="3566160"/>
            <a:ext cx="10881360" cy="0"/>
          </a:xfrm>
          <a:prstGeom prst="line">
            <a:avLst/>
          </a:prstGeom>
          <a:ln w="508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3730752"/>
            <a:ext cx="640080" cy="457200"/>
          </a:xfrm>
          <a:prstGeom prst="rect">
            <a:avLst/>
          </a:prstGeom>
          <a:noFill/>
        </p:spPr>
        <p:txBody>
          <a:bodyPr wrap="square" lIns="0" rIns="0" tIns="0" bIns="0" anchor="t">
            <a:spAutoFit/>
          </a:bodyPr>
          <a:lstStyle/>
          <a:p>
            <a:pPr algn="l"/>
            <a:r>
              <a:rPr sz="1400" b="1" i="0">
                <a:solidFill>
                  <a:srgbClr val="C96F4A"/>
                </a:solidFill>
                <a:latin typeface="Inter"/>
              </a:rPr>
              <a:t>02</a:t>
            </a:r>
          </a:p>
        </p:txBody>
      </p:sp>
      <p:sp>
        <p:nvSpPr>
          <p:cNvPr id="14" name="TextBox 13"/>
          <p:cNvSpPr txBox="1"/>
          <p:nvPr/>
        </p:nvSpPr>
        <p:spPr>
          <a:xfrm>
            <a:off x="1371600" y="3685032"/>
            <a:ext cx="2286000" cy="548640"/>
          </a:xfrm>
          <a:prstGeom prst="rect">
            <a:avLst/>
          </a:prstGeom>
          <a:noFill/>
        </p:spPr>
        <p:txBody>
          <a:bodyPr wrap="square" lIns="0" rIns="0" tIns="0" bIns="0" anchor="t">
            <a:spAutoFit/>
          </a:bodyPr>
          <a:lstStyle/>
          <a:p>
            <a:pPr algn="l"/>
            <a:r>
              <a:rPr sz="2200" b="0" i="0">
                <a:solidFill>
                  <a:srgbClr val="1B1B1B"/>
                </a:solidFill>
                <a:latin typeface="DM Serif Display"/>
              </a:rPr>
              <a:t>Instagram</a:t>
            </a:r>
          </a:p>
        </p:txBody>
      </p:sp>
      <p:sp>
        <p:nvSpPr>
          <p:cNvPr id="15" name="TextBox 14"/>
          <p:cNvSpPr txBox="1"/>
          <p:nvPr/>
        </p:nvSpPr>
        <p:spPr>
          <a:xfrm>
            <a:off x="4114800" y="3767328"/>
            <a:ext cx="5486400" cy="457200"/>
          </a:xfrm>
          <a:prstGeom prst="rect">
            <a:avLst/>
          </a:prstGeom>
          <a:noFill/>
        </p:spPr>
        <p:txBody>
          <a:bodyPr wrap="square" lIns="0" rIns="0" tIns="0" bIns="0" anchor="t">
            <a:spAutoFit/>
          </a:bodyPr>
          <a:lstStyle/>
          <a:p>
            <a:pPr algn="l"/>
            <a:r>
              <a:rPr sz="1400" b="0" i="0">
                <a:solidFill>
                  <a:srgbClr val="555555"/>
                </a:solidFill>
                <a:latin typeface="Inter"/>
              </a:rPr>
              <a:t>Photos, Stories and Reels.</a:t>
            </a:r>
          </a:p>
        </p:txBody>
      </p:sp>
      <p:sp>
        <p:nvSpPr>
          <p:cNvPr id="16" name="TextBox 15"/>
          <p:cNvSpPr txBox="1"/>
          <p:nvPr/>
        </p:nvSpPr>
        <p:spPr>
          <a:xfrm>
            <a:off x="9601200" y="3767328"/>
            <a:ext cx="2011680" cy="457200"/>
          </a:xfrm>
          <a:prstGeom prst="rect">
            <a:avLst/>
          </a:prstGeom>
          <a:noFill/>
        </p:spPr>
        <p:txBody>
          <a:bodyPr wrap="square" lIns="0" rIns="0" tIns="0" bIns="0" anchor="t">
            <a:spAutoFit/>
          </a:bodyPr>
          <a:lstStyle/>
          <a:p>
            <a:pPr algn="r"/>
            <a:r>
              <a:rPr sz="1300" b="1" i="0">
                <a:solidFill>
                  <a:srgbClr val="C96F4A"/>
                </a:solidFill>
                <a:latin typeface="Inter"/>
              </a:rPr>
              <a:t>2.0 B users</a:t>
            </a:r>
          </a:p>
        </p:txBody>
      </p:sp>
      <p:cxnSp>
        <p:nvCxnSpPr>
          <p:cNvPr id="17" name="Connector 16"/>
          <p:cNvCxnSpPr/>
          <p:nvPr/>
        </p:nvCxnSpPr>
        <p:spPr>
          <a:xfrm>
            <a:off x="640080" y="4389120"/>
            <a:ext cx="10881360" cy="0"/>
          </a:xfrm>
          <a:prstGeom prst="line">
            <a:avLst/>
          </a:prstGeom>
          <a:ln w="5080">
            <a:solidFill>
              <a:srgbClr val="55555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4553712"/>
            <a:ext cx="640080" cy="457200"/>
          </a:xfrm>
          <a:prstGeom prst="rect">
            <a:avLst/>
          </a:prstGeom>
          <a:noFill/>
        </p:spPr>
        <p:txBody>
          <a:bodyPr wrap="square" lIns="0" rIns="0" tIns="0" bIns="0" anchor="t">
            <a:spAutoFit/>
          </a:bodyPr>
          <a:lstStyle/>
          <a:p>
            <a:pPr algn="l"/>
            <a:r>
              <a:rPr sz="1400" b="1" i="0">
                <a:solidFill>
                  <a:srgbClr val="6B7A3A"/>
                </a:solidFill>
                <a:latin typeface="Inter"/>
              </a:rPr>
              <a:t>03</a:t>
            </a:r>
          </a:p>
        </p:txBody>
      </p:sp>
      <p:sp>
        <p:nvSpPr>
          <p:cNvPr id="19" name="TextBox 18"/>
          <p:cNvSpPr txBox="1"/>
          <p:nvPr/>
        </p:nvSpPr>
        <p:spPr>
          <a:xfrm>
            <a:off x="1371600" y="4507992"/>
            <a:ext cx="2286000" cy="548640"/>
          </a:xfrm>
          <a:prstGeom prst="rect">
            <a:avLst/>
          </a:prstGeom>
          <a:noFill/>
        </p:spPr>
        <p:txBody>
          <a:bodyPr wrap="square" lIns="0" rIns="0" tIns="0" bIns="0" anchor="t">
            <a:spAutoFit/>
          </a:bodyPr>
          <a:lstStyle/>
          <a:p>
            <a:pPr algn="l"/>
            <a:r>
              <a:rPr sz="2200" b="0" i="0">
                <a:solidFill>
                  <a:srgbClr val="1B1B1B"/>
                </a:solidFill>
                <a:latin typeface="DM Serif Display"/>
              </a:rPr>
              <a:t>YouTube</a:t>
            </a:r>
          </a:p>
        </p:txBody>
      </p:sp>
      <p:sp>
        <p:nvSpPr>
          <p:cNvPr id="20" name="TextBox 19"/>
          <p:cNvSpPr txBox="1"/>
          <p:nvPr/>
        </p:nvSpPr>
        <p:spPr>
          <a:xfrm>
            <a:off x="4114800" y="4590288"/>
            <a:ext cx="5486400" cy="457200"/>
          </a:xfrm>
          <a:prstGeom prst="rect">
            <a:avLst/>
          </a:prstGeom>
          <a:noFill/>
        </p:spPr>
        <p:txBody>
          <a:bodyPr wrap="square" lIns="0" rIns="0" tIns="0" bIns="0" anchor="t">
            <a:spAutoFit/>
          </a:bodyPr>
          <a:lstStyle/>
          <a:p>
            <a:pPr algn="l"/>
            <a:r>
              <a:rPr sz="1400" b="0" i="0">
                <a:solidFill>
                  <a:srgbClr val="555555"/>
                </a:solidFill>
                <a:latin typeface="Inter"/>
              </a:rPr>
              <a:t>Videos for every topic, big and small.</a:t>
            </a:r>
          </a:p>
        </p:txBody>
      </p:sp>
      <p:sp>
        <p:nvSpPr>
          <p:cNvPr id="21" name="TextBox 20"/>
          <p:cNvSpPr txBox="1"/>
          <p:nvPr/>
        </p:nvSpPr>
        <p:spPr>
          <a:xfrm>
            <a:off x="9601200" y="4590288"/>
            <a:ext cx="2011680" cy="457200"/>
          </a:xfrm>
          <a:prstGeom prst="rect">
            <a:avLst/>
          </a:prstGeom>
          <a:noFill/>
        </p:spPr>
        <p:txBody>
          <a:bodyPr wrap="square" lIns="0" rIns="0" tIns="0" bIns="0" anchor="t">
            <a:spAutoFit/>
          </a:bodyPr>
          <a:lstStyle/>
          <a:p>
            <a:pPr algn="r"/>
            <a:r>
              <a:rPr sz="1300" b="1" i="0">
                <a:solidFill>
                  <a:srgbClr val="6B7A3A"/>
                </a:solidFill>
                <a:latin typeface="Inter"/>
              </a:rPr>
              <a:t>2.5 B users</a:t>
            </a:r>
          </a:p>
        </p:txBody>
      </p:sp>
      <p:cxnSp>
        <p:nvCxnSpPr>
          <p:cNvPr id="22" name="Connector 21"/>
          <p:cNvCxnSpPr/>
          <p:nvPr/>
        </p:nvCxnSpPr>
        <p:spPr>
          <a:xfrm>
            <a:off x="640080" y="5212080"/>
            <a:ext cx="10881360" cy="0"/>
          </a:xfrm>
          <a:prstGeom prst="line">
            <a:avLst/>
          </a:prstGeom>
          <a:ln w="5080">
            <a:solidFill>
              <a:srgbClr val="55555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376672"/>
            <a:ext cx="640080" cy="457200"/>
          </a:xfrm>
          <a:prstGeom prst="rect">
            <a:avLst/>
          </a:prstGeom>
          <a:noFill/>
        </p:spPr>
        <p:txBody>
          <a:bodyPr wrap="square" lIns="0" rIns="0" tIns="0" bIns="0" anchor="t">
            <a:spAutoFit/>
          </a:bodyPr>
          <a:lstStyle/>
          <a:p>
            <a:pPr algn="l"/>
            <a:r>
              <a:rPr sz="1400" b="1" i="0">
                <a:solidFill>
                  <a:srgbClr val="1C2A3A"/>
                </a:solidFill>
                <a:latin typeface="Inter"/>
              </a:rPr>
              <a:t>04</a:t>
            </a:r>
          </a:p>
        </p:txBody>
      </p:sp>
      <p:sp>
        <p:nvSpPr>
          <p:cNvPr id="24" name="TextBox 23"/>
          <p:cNvSpPr txBox="1"/>
          <p:nvPr/>
        </p:nvSpPr>
        <p:spPr>
          <a:xfrm>
            <a:off x="1371600" y="5330952"/>
            <a:ext cx="2286000" cy="548640"/>
          </a:xfrm>
          <a:prstGeom prst="rect">
            <a:avLst/>
          </a:prstGeom>
          <a:noFill/>
        </p:spPr>
        <p:txBody>
          <a:bodyPr wrap="square" lIns="0" rIns="0" tIns="0" bIns="0" anchor="t">
            <a:spAutoFit/>
          </a:bodyPr>
          <a:lstStyle/>
          <a:p>
            <a:pPr algn="l"/>
            <a:r>
              <a:rPr sz="2200" b="0" i="0">
                <a:solidFill>
                  <a:srgbClr val="1B1B1B"/>
                </a:solidFill>
                <a:latin typeface="DM Serif Display"/>
              </a:rPr>
              <a:t>Facebook</a:t>
            </a:r>
          </a:p>
        </p:txBody>
      </p:sp>
      <p:sp>
        <p:nvSpPr>
          <p:cNvPr id="25" name="TextBox 24"/>
          <p:cNvSpPr txBox="1"/>
          <p:nvPr/>
        </p:nvSpPr>
        <p:spPr>
          <a:xfrm>
            <a:off x="4114800" y="5413248"/>
            <a:ext cx="5486400" cy="457200"/>
          </a:xfrm>
          <a:prstGeom prst="rect">
            <a:avLst/>
          </a:prstGeom>
          <a:noFill/>
        </p:spPr>
        <p:txBody>
          <a:bodyPr wrap="square" lIns="0" rIns="0" tIns="0" bIns="0" anchor="t">
            <a:spAutoFit/>
          </a:bodyPr>
          <a:lstStyle/>
          <a:p>
            <a:pPr algn="l"/>
            <a:r>
              <a:rPr sz="1400" b="0" i="0">
                <a:solidFill>
                  <a:srgbClr val="555555"/>
                </a:solidFill>
                <a:latin typeface="Inter"/>
              </a:rPr>
              <a:t>News, family and groups.</a:t>
            </a:r>
          </a:p>
        </p:txBody>
      </p:sp>
      <p:sp>
        <p:nvSpPr>
          <p:cNvPr id="26" name="TextBox 25"/>
          <p:cNvSpPr txBox="1"/>
          <p:nvPr/>
        </p:nvSpPr>
        <p:spPr>
          <a:xfrm>
            <a:off x="9601200" y="5413248"/>
            <a:ext cx="2011680" cy="457200"/>
          </a:xfrm>
          <a:prstGeom prst="rect">
            <a:avLst/>
          </a:prstGeom>
          <a:noFill/>
        </p:spPr>
        <p:txBody>
          <a:bodyPr wrap="square" lIns="0" rIns="0" tIns="0" bIns="0" anchor="t">
            <a:spAutoFit/>
          </a:bodyPr>
          <a:lstStyle/>
          <a:p>
            <a:pPr algn="r"/>
            <a:r>
              <a:rPr sz="1300" b="1" i="0">
                <a:solidFill>
                  <a:srgbClr val="1C2A3A"/>
                </a:solidFill>
                <a:latin typeface="Inter"/>
              </a:rPr>
              <a:t>3.0 B users</a:t>
            </a:r>
          </a:p>
        </p:txBody>
      </p:sp>
      <p:cxnSp>
        <p:nvCxnSpPr>
          <p:cNvPr id="27" name="Connector 26"/>
          <p:cNvCxnSpPr/>
          <p:nvPr/>
        </p:nvCxnSpPr>
        <p:spPr>
          <a:xfrm>
            <a:off x="640080" y="6035040"/>
            <a:ext cx="10881360" cy="0"/>
          </a:xfrm>
          <a:prstGeom prst="line">
            <a:avLst/>
          </a:prstGeom>
          <a:ln w="508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30" name="TextBox 29"/>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03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6B7A3A"/>
                </a:solidFill>
                <a:latin typeface="Inter"/>
              </a:rPr>
              <a:t>03</a:t>
            </a:r>
          </a:p>
        </p:txBody>
      </p:sp>
      <p:cxnSp>
        <p:nvCxnSpPr>
          <p:cNvPr id="4" name="Connector 3"/>
          <p:cNvCxnSpPr/>
          <p:nvPr/>
        </p:nvCxnSpPr>
        <p:spPr>
          <a:xfrm>
            <a:off x="1280160" y="713232"/>
            <a:ext cx="914400" cy="0"/>
          </a:xfrm>
          <a:prstGeom prst="line">
            <a:avLst/>
          </a:prstGeom>
          <a:ln w="12700">
            <a:solidFill>
              <a:srgbClr val="6B7A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6B7A3A"/>
                </a:solidFill>
                <a:latin typeface="Inter"/>
              </a:rPr>
              <a:t>THE BRIGHT SIDE</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r>
              <a:rPr sz="4400" b="0" i="0">
                <a:solidFill>
                  <a:srgbClr val="1B1B1B"/>
                </a:solidFill>
                <a:latin typeface="DM Serif Display"/>
              </a:rPr>
              <a:t>Why we love it.</a:t>
            </a:r>
          </a:p>
        </p:txBody>
      </p:sp>
      <p:sp>
        <p:nvSpPr>
          <p:cNvPr id="7" name="Rectangle 6"/>
          <p:cNvSpPr/>
          <p:nvPr/>
        </p:nvSpPr>
        <p:spPr>
          <a:xfrm>
            <a:off x="640080" y="2743200"/>
            <a:ext cx="4572000" cy="3474720"/>
          </a:xfrm>
          <a:prstGeom prst="rect">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06240"/>
            <a:ext cx="4572000" cy="365760"/>
          </a:xfrm>
          <a:prstGeom prst="rect">
            <a:avLst/>
          </a:prstGeom>
          <a:noFill/>
        </p:spPr>
        <p:txBody>
          <a:bodyPr wrap="square" lIns="0" rIns="0" tIns="0" bIns="0" anchor="ctr">
            <a:spAutoFit/>
          </a:bodyPr>
          <a:lstStyle/>
          <a:p>
            <a:pPr algn="ctr"/>
            <a:r>
              <a:rPr sz="2800" b="0" i="0">
                <a:solidFill>
                  <a:srgbClr val="FFFFFF"/>
                </a:solidFill>
                <a:latin typeface="Inter"/>
              </a:rPr>
              <a:t>◳</a:t>
            </a:r>
          </a:p>
        </p:txBody>
      </p:sp>
      <p:sp>
        <p:nvSpPr>
          <p:cNvPr id="9" name="TextBox 8"/>
          <p:cNvSpPr txBox="1"/>
          <p:nvPr/>
        </p:nvSpPr>
        <p:spPr>
          <a:xfrm>
            <a:off x="640080" y="4572000"/>
            <a:ext cx="4572000" cy="274320"/>
          </a:xfrm>
          <a:prstGeom prst="rect">
            <a:avLst/>
          </a:prstGeom>
          <a:noFill/>
        </p:spPr>
        <p:txBody>
          <a:bodyPr wrap="square" lIns="0" rIns="0" tIns="0" bIns="0" anchor="ctr">
            <a:spAutoFit/>
          </a:bodyPr>
          <a:lstStyle/>
          <a:p>
            <a:pPr algn="ctr"/>
            <a:r>
              <a:rPr sz="1000" b="1" i="0">
                <a:solidFill>
                  <a:srgbClr val="FFFFFF"/>
                </a:solidFill>
                <a:latin typeface="Inter"/>
              </a:rPr>
              <a:t>PHOTO</a:t>
            </a:r>
          </a:p>
          <a:p>
            <a:pPr algn="ctr"/>
            <a:r>
              <a:rPr sz="1000" b="1" i="0">
                <a:solidFill>
                  <a:srgbClr val="FFFFFF"/>
                </a:solidFill>
                <a:latin typeface="Inter"/>
              </a:rPr>
              <a:t>(friends laughing with phone)</a:t>
            </a:r>
          </a:p>
        </p:txBody>
      </p:sp>
      <p:sp>
        <p:nvSpPr>
          <p:cNvPr id="10" name="TextBox 9"/>
          <p:cNvSpPr txBox="1"/>
          <p:nvPr/>
        </p:nvSpPr>
        <p:spPr>
          <a:xfrm>
            <a:off x="640080" y="6309360"/>
            <a:ext cx="4572000" cy="365760"/>
          </a:xfrm>
          <a:prstGeom prst="rect">
            <a:avLst/>
          </a:prstGeom>
          <a:noFill/>
        </p:spPr>
        <p:txBody>
          <a:bodyPr wrap="square" lIns="0" rIns="0" tIns="0" bIns="0" anchor="t">
            <a:spAutoFit/>
          </a:bodyPr>
          <a:lstStyle/>
          <a:p>
            <a:pPr algn="l"/>
            <a:r>
              <a:rPr sz="1000" b="0" i="1">
                <a:solidFill>
                  <a:srgbClr val="555555"/>
                </a:solidFill>
                <a:latin typeface="Inter"/>
              </a:rPr>
              <a:t>Photo: friends connecting online.</a:t>
            </a:r>
          </a:p>
        </p:txBody>
      </p:sp>
      <p:sp>
        <p:nvSpPr>
          <p:cNvPr id="11" name="TextBox 10"/>
          <p:cNvSpPr txBox="1"/>
          <p:nvPr/>
        </p:nvSpPr>
        <p:spPr>
          <a:xfrm>
            <a:off x="5669280" y="2743200"/>
            <a:ext cx="548640" cy="365760"/>
          </a:xfrm>
          <a:prstGeom prst="rect">
            <a:avLst/>
          </a:prstGeom>
          <a:noFill/>
        </p:spPr>
        <p:txBody>
          <a:bodyPr wrap="square" lIns="0" rIns="0" tIns="0" bIns="0" anchor="t">
            <a:spAutoFit/>
          </a:bodyPr>
          <a:lstStyle/>
          <a:p>
            <a:pPr algn="l"/>
            <a:r>
              <a:rPr sz="1200" b="1" i="0">
                <a:solidFill>
                  <a:srgbClr val="6B7A3A"/>
                </a:solidFill>
                <a:latin typeface="Inter"/>
              </a:rPr>
              <a:t>01</a:t>
            </a:r>
          </a:p>
        </p:txBody>
      </p:sp>
      <p:sp>
        <p:nvSpPr>
          <p:cNvPr id="12" name="TextBox 11"/>
          <p:cNvSpPr txBox="1"/>
          <p:nvPr/>
        </p:nvSpPr>
        <p:spPr>
          <a:xfrm>
            <a:off x="6309360" y="2697480"/>
            <a:ext cx="2743200" cy="457200"/>
          </a:xfrm>
          <a:prstGeom prst="rect">
            <a:avLst/>
          </a:prstGeom>
          <a:noFill/>
        </p:spPr>
        <p:txBody>
          <a:bodyPr wrap="square" lIns="0" rIns="0" tIns="0" bIns="0" anchor="t">
            <a:spAutoFit/>
          </a:bodyPr>
          <a:lstStyle/>
          <a:p>
            <a:pPr algn="l"/>
            <a:r>
              <a:rPr sz="1800" b="0" i="0">
                <a:solidFill>
                  <a:srgbClr val="1B1B1B"/>
                </a:solidFill>
                <a:latin typeface="DM Serif Display"/>
              </a:rPr>
              <a:t>Family &amp; friends</a:t>
            </a:r>
          </a:p>
        </p:txBody>
      </p:sp>
      <p:sp>
        <p:nvSpPr>
          <p:cNvPr id="13" name="TextBox 12"/>
          <p:cNvSpPr txBox="1"/>
          <p:nvPr/>
        </p:nvSpPr>
        <p:spPr>
          <a:xfrm>
            <a:off x="9052560" y="2743200"/>
            <a:ext cx="2743200" cy="457200"/>
          </a:xfrm>
          <a:prstGeom prst="rect">
            <a:avLst/>
          </a:prstGeom>
          <a:noFill/>
        </p:spPr>
        <p:txBody>
          <a:bodyPr wrap="square" lIns="0" rIns="0" tIns="0" bIns="0" anchor="t">
            <a:spAutoFit/>
          </a:bodyPr>
          <a:lstStyle/>
          <a:p>
            <a:pPr algn="l"/>
            <a:r>
              <a:rPr sz="1300" b="0" i="0">
                <a:solidFill>
                  <a:srgbClr val="555555"/>
                </a:solidFill>
                <a:latin typeface="Inter"/>
              </a:rPr>
              <a:t>Stay close from any country.</a:t>
            </a:r>
          </a:p>
        </p:txBody>
      </p:sp>
      <p:sp>
        <p:nvSpPr>
          <p:cNvPr id="14" name="TextBox 13"/>
          <p:cNvSpPr txBox="1"/>
          <p:nvPr/>
        </p:nvSpPr>
        <p:spPr>
          <a:xfrm>
            <a:off x="5669280" y="3456432"/>
            <a:ext cx="548640" cy="365760"/>
          </a:xfrm>
          <a:prstGeom prst="rect">
            <a:avLst/>
          </a:prstGeom>
          <a:noFill/>
        </p:spPr>
        <p:txBody>
          <a:bodyPr wrap="square" lIns="0" rIns="0" tIns="0" bIns="0" anchor="t">
            <a:spAutoFit/>
          </a:bodyPr>
          <a:lstStyle/>
          <a:p>
            <a:pPr algn="l"/>
            <a:r>
              <a:rPr sz="1200" b="1" i="0">
                <a:solidFill>
                  <a:srgbClr val="6B7A3A"/>
                </a:solidFill>
                <a:latin typeface="Inter"/>
              </a:rPr>
              <a:t>02</a:t>
            </a:r>
          </a:p>
        </p:txBody>
      </p:sp>
      <p:sp>
        <p:nvSpPr>
          <p:cNvPr id="15" name="TextBox 14"/>
          <p:cNvSpPr txBox="1"/>
          <p:nvPr/>
        </p:nvSpPr>
        <p:spPr>
          <a:xfrm>
            <a:off x="6309360" y="3410712"/>
            <a:ext cx="2743200" cy="457200"/>
          </a:xfrm>
          <a:prstGeom prst="rect">
            <a:avLst/>
          </a:prstGeom>
          <a:noFill/>
        </p:spPr>
        <p:txBody>
          <a:bodyPr wrap="square" lIns="0" rIns="0" tIns="0" bIns="0" anchor="t">
            <a:spAutoFit/>
          </a:bodyPr>
          <a:lstStyle/>
          <a:p>
            <a:pPr algn="l"/>
            <a:r>
              <a:rPr sz="1800" b="0" i="0">
                <a:solidFill>
                  <a:srgbClr val="1B1B1B"/>
                </a:solidFill>
                <a:latin typeface="DM Serif Display"/>
              </a:rPr>
              <a:t>Free information</a:t>
            </a:r>
          </a:p>
        </p:txBody>
      </p:sp>
      <p:sp>
        <p:nvSpPr>
          <p:cNvPr id="16" name="TextBox 15"/>
          <p:cNvSpPr txBox="1"/>
          <p:nvPr/>
        </p:nvSpPr>
        <p:spPr>
          <a:xfrm>
            <a:off x="9052560" y="3456432"/>
            <a:ext cx="2743200" cy="457200"/>
          </a:xfrm>
          <a:prstGeom prst="rect">
            <a:avLst/>
          </a:prstGeom>
          <a:noFill/>
        </p:spPr>
        <p:txBody>
          <a:bodyPr wrap="square" lIns="0" rIns="0" tIns="0" bIns="0" anchor="t">
            <a:spAutoFit/>
          </a:bodyPr>
          <a:lstStyle/>
          <a:p>
            <a:pPr algn="l"/>
            <a:r>
              <a:rPr sz="1300" b="0" i="0">
                <a:solidFill>
                  <a:srgbClr val="555555"/>
                </a:solidFill>
                <a:latin typeface="Inter"/>
              </a:rPr>
              <a:t>News and ideas in seconds.</a:t>
            </a:r>
          </a:p>
        </p:txBody>
      </p:sp>
      <p:sp>
        <p:nvSpPr>
          <p:cNvPr id="17" name="TextBox 16"/>
          <p:cNvSpPr txBox="1"/>
          <p:nvPr/>
        </p:nvSpPr>
        <p:spPr>
          <a:xfrm>
            <a:off x="5669280" y="4169664"/>
            <a:ext cx="548640" cy="365760"/>
          </a:xfrm>
          <a:prstGeom prst="rect">
            <a:avLst/>
          </a:prstGeom>
          <a:noFill/>
        </p:spPr>
        <p:txBody>
          <a:bodyPr wrap="square" lIns="0" rIns="0" tIns="0" bIns="0" anchor="t">
            <a:spAutoFit/>
          </a:bodyPr>
          <a:lstStyle/>
          <a:p>
            <a:pPr algn="l"/>
            <a:r>
              <a:rPr sz="1200" b="1" i="0">
                <a:solidFill>
                  <a:srgbClr val="6B7A3A"/>
                </a:solidFill>
                <a:latin typeface="Inter"/>
              </a:rPr>
              <a:t>03</a:t>
            </a:r>
          </a:p>
        </p:txBody>
      </p:sp>
      <p:sp>
        <p:nvSpPr>
          <p:cNvPr id="18" name="TextBox 17"/>
          <p:cNvSpPr txBox="1"/>
          <p:nvPr/>
        </p:nvSpPr>
        <p:spPr>
          <a:xfrm>
            <a:off x="6309360" y="4123944"/>
            <a:ext cx="2743200" cy="457200"/>
          </a:xfrm>
          <a:prstGeom prst="rect">
            <a:avLst/>
          </a:prstGeom>
          <a:noFill/>
        </p:spPr>
        <p:txBody>
          <a:bodyPr wrap="square" lIns="0" rIns="0" tIns="0" bIns="0" anchor="t">
            <a:spAutoFit/>
          </a:bodyPr>
          <a:lstStyle/>
          <a:p>
            <a:pPr algn="l"/>
            <a:r>
              <a:rPr sz="1800" b="0" i="0">
                <a:solidFill>
                  <a:srgbClr val="1B1B1B"/>
                </a:solidFill>
                <a:latin typeface="DM Serif Display"/>
              </a:rPr>
              <a:t>Same hobbies</a:t>
            </a:r>
          </a:p>
        </p:txBody>
      </p:sp>
      <p:sp>
        <p:nvSpPr>
          <p:cNvPr id="19" name="TextBox 18"/>
          <p:cNvSpPr txBox="1"/>
          <p:nvPr/>
        </p:nvSpPr>
        <p:spPr>
          <a:xfrm>
            <a:off x="9052560" y="4169664"/>
            <a:ext cx="2743200" cy="457200"/>
          </a:xfrm>
          <a:prstGeom prst="rect">
            <a:avLst/>
          </a:prstGeom>
          <a:noFill/>
        </p:spPr>
        <p:txBody>
          <a:bodyPr wrap="square" lIns="0" rIns="0" tIns="0" bIns="0" anchor="t">
            <a:spAutoFit/>
          </a:bodyPr>
          <a:lstStyle/>
          <a:p>
            <a:pPr algn="l"/>
            <a:r>
              <a:rPr sz="1300" b="0" i="0">
                <a:solidFill>
                  <a:srgbClr val="555555"/>
                </a:solidFill>
                <a:latin typeface="Inter"/>
              </a:rPr>
              <a:t>Find your community fast.</a:t>
            </a:r>
          </a:p>
        </p:txBody>
      </p:sp>
      <p:sp>
        <p:nvSpPr>
          <p:cNvPr id="20" name="TextBox 19"/>
          <p:cNvSpPr txBox="1"/>
          <p:nvPr/>
        </p:nvSpPr>
        <p:spPr>
          <a:xfrm>
            <a:off x="5669280" y="4882896"/>
            <a:ext cx="548640" cy="365760"/>
          </a:xfrm>
          <a:prstGeom prst="rect">
            <a:avLst/>
          </a:prstGeom>
          <a:noFill/>
        </p:spPr>
        <p:txBody>
          <a:bodyPr wrap="square" lIns="0" rIns="0" tIns="0" bIns="0" anchor="t">
            <a:spAutoFit/>
          </a:bodyPr>
          <a:lstStyle/>
          <a:p>
            <a:pPr algn="l"/>
            <a:r>
              <a:rPr sz="1200" b="1" i="0">
                <a:solidFill>
                  <a:srgbClr val="6B7A3A"/>
                </a:solidFill>
                <a:latin typeface="Inter"/>
              </a:rPr>
              <a:t>04</a:t>
            </a:r>
          </a:p>
        </p:txBody>
      </p:sp>
      <p:sp>
        <p:nvSpPr>
          <p:cNvPr id="21" name="TextBox 20"/>
          <p:cNvSpPr txBox="1"/>
          <p:nvPr/>
        </p:nvSpPr>
        <p:spPr>
          <a:xfrm>
            <a:off x="6309360" y="4837176"/>
            <a:ext cx="2743200" cy="457200"/>
          </a:xfrm>
          <a:prstGeom prst="rect">
            <a:avLst/>
          </a:prstGeom>
          <a:noFill/>
        </p:spPr>
        <p:txBody>
          <a:bodyPr wrap="square" lIns="0" rIns="0" tIns="0" bIns="0" anchor="t">
            <a:spAutoFit/>
          </a:bodyPr>
          <a:lstStyle/>
          <a:p>
            <a:pPr algn="l"/>
            <a:r>
              <a:rPr sz="1800" b="0" i="0">
                <a:solidFill>
                  <a:srgbClr val="1B1B1B"/>
                </a:solidFill>
                <a:latin typeface="DM Serif Display"/>
              </a:rPr>
              <a:t>Support</a:t>
            </a:r>
          </a:p>
        </p:txBody>
      </p:sp>
      <p:sp>
        <p:nvSpPr>
          <p:cNvPr id="22" name="TextBox 21"/>
          <p:cNvSpPr txBox="1"/>
          <p:nvPr/>
        </p:nvSpPr>
        <p:spPr>
          <a:xfrm>
            <a:off x="9052560" y="4882896"/>
            <a:ext cx="2743200" cy="457200"/>
          </a:xfrm>
          <a:prstGeom prst="rect">
            <a:avLst/>
          </a:prstGeom>
          <a:noFill/>
        </p:spPr>
        <p:txBody>
          <a:bodyPr wrap="square" lIns="0" rIns="0" tIns="0" bIns="0" anchor="t">
            <a:spAutoFit/>
          </a:bodyPr>
          <a:lstStyle/>
          <a:p>
            <a:pPr algn="l"/>
            <a:r>
              <a:rPr sz="1300" b="0" i="0">
                <a:solidFill>
                  <a:srgbClr val="555555"/>
                </a:solidFill>
                <a:latin typeface="Inter"/>
              </a:rPr>
              <a:t>Help in difficult moments.</a:t>
            </a:r>
          </a:p>
        </p:txBody>
      </p:sp>
      <p:sp>
        <p:nvSpPr>
          <p:cNvPr id="23" name="TextBox 22"/>
          <p:cNvSpPr txBox="1"/>
          <p:nvPr/>
        </p:nvSpPr>
        <p:spPr>
          <a:xfrm>
            <a:off x="5669280" y="5596128"/>
            <a:ext cx="548640" cy="365760"/>
          </a:xfrm>
          <a:prstGeom prst="rect">
            <a:avLst/>
          </a:prstGeom>
          <a:noFill/>
        </p:spPr>
        <p:txBody>
          <a:bodyPr wrap="square" lIns="0" rIns="0" tIns="0" bIns="0" anchor="t">
            <a:spAutoFit/>
          </a:bodyPr>
          <a:lstStyle/>
          <a:p>
            <a:pPr algn="l"/>
            <a:r>
              <a:rPr sz="1200" b="1" i="0">
                <a:solidFill>
                  <a:srgbClr val="6B7A3A"/>
                </a:solidFill>
                <a:latin typeface="Inter"/>
              </a:rPr>
              <a:t>05</a:t>
            </a:r>
          </a:p>
        </p:txBody>
      </p:sp>
      <p:sp>
        <p:nvSpPr>
          <p:cNvPr id="24" name="TextBox 23"/>
          <p:cNvSpPr txBox="1"/>
          <p:nvPr/>
        </p:nvSpPr>
        <p:spPr>
          <a:xfrm>
            <a:off x="6309360" y="5550408"/>
            <a:ext cx="2743200" cy="457200"/>
          </a:xfrm>
          <a:prstGeom prst="rect">
            <a:avLst/>
          </a:prstGeom>
          <a:noFill/>
        </p:spPr>
        <p:txBody>
          <a:bodyPr wrap="square" lIns="0" rIns="0" tIns="0" bIns="0" anchor="t">
            <a:spAutoFit/>
          </a:bodyPr>
          <a:lstStyle/>
          <a:p>
            <a:pPr algn="l"/>
            <a:r>
              <a:rPr sz="1800" b="0" i="0">
                <a:solidFill>
                  <a:srgbClr val="1B1B1B"/>
                </a:solidFill>
                <a:latin typeface="DM Serif Display"/>
              </a:rPr>
              <a:t>Business</a:t>
            </a:r>
          </a:p>
        </p:txBody>
      </p:sp>
      <p:sp>
        <p:nvSpPr>
          <p:cNvPr id="25" name="TextBox 24"/>
          <p:cNvSpPr txBox="1"/>
          <p:nvPr/>
        </p:nvSpPr>
        <p:spPr>
          <a:xfrm>
            <a:off x="9052560" y="5596128"/>
            <a:ext cx="2743200" cy="457200"/>
          </a:xfrm>
          <a:prstGeom prst="rect">
            <a:avLst/>
          </a:prstGeom>
          <a:noFill/>
        </p:spPr>
        <p:txBody>
          <a:bodyPr wrap="square" lIns="0" rIns="0" tIns="0" bIns="0" anchor="t">
            <a:spAutoFit/>
          </a:bodyPr>
          <a:lstStyle/>
          <a:p>
            <a:pPr algn="l"/>
            <a:r>
              <a:rPr sz="1300" b="0" i="0">
                <a:solidFill>
                  <a:srgbClr val="555555"/>
                </a:solidFill>
                <a:latin typeface="Inter"/>
              </a:rPr>
              <a:t>Jobs and new opportunities.</a:t>
            </a:r>
          </a:p>
        </p:txBody>
      </p:sp>
      <p:cxnSp>
        <p:nvCxnSpPr>
          <p:cNvPr id="26" name="Connector 25"/>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28" name="TextBox 27"/>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04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6B7A3A"/>
                </a:solidFill>
                <a:latin typeface="Inter"/>
              </a:rPr>
              <a:t>04</a:t>
            </a:r>
          </a:p>
        </p:txBody>
      </p:sp>
      <p:cxnSp>
        <p:nvCxnSpPr>
          <p:cNvPr id="4" name="Connector 3"/>
          <p:cNvCxnSpPr/>
          <p:nvPr/>
        </p:nvCxnSpPr>
        <p:spPr>
          <a:xfrm>
            <a:off x="1280160" y="713232"/>
            <a:ext cx="914400" cy="0"/>
          </a:xfrm>
          <a:prstGeom prst="line">
            <a:avLst/>
          </a:prstGeom>
          <a:ln w="12700">
            <a:solidFill>
              <a:srgbClr val="6B7A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6B7A3A"/>
                </a:solidFill>
                <a:latin typeface="Inter"/>
              </a:rPr>
              <a:t>COMMUNICATION + EDUCATION</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lnSpc>
                <a:spcPct val="100000"/>
              </a:lnSpc>
            </a:pPr>
            <a:r>
              <a:rPr sz="4000" b="0" i="0">
                <a:solidFill>
                  <a:srgbClr val="1B1B1B"/>
                </a:solidFill>
                <a:latin typeface="DM Serif Display"/>
              </a:rPr>
              <a:t>A free classroom</a:t>
            </a:r>
          </a:p>
          <a:p>
            <a:pPr algn="l">
              <a:lnSpc>
                <a:spcPct val="100000"/>
              </a:lnSpc>
            </a:pPr>
            <a:r>
              <a:rPr sz="4000" b="0" i="0">
                <a:solidFill>
                  <a:srgbClr val="1B1B1B"/>
                </a:solidFill>
                <a:latin typeface="DM Serif Display"/>
              </a:rPr>
              <a:t>in your pocket.</a:t>
            </a:r>
          </a:p>
        </p:txBody>
      </p:sp>
      <p:sp>
        <p:nvSpPr>
          <p:cNvPr id="7" name="Rectangle 6"/>
          <p:cNvSpPr/>
          <p:nvPr/>
        </p:nvSpPr>
        <p:spPr>
          <a:xfrm>
            <a:off x="640080" y="2926080"/>
            <a:ext cx="6858000" cy="3291840"/>
          </a:xfrm>
          <a:prstGeom prst="rect">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08960"/>
            <a:ext cx="6400800" cy="365760"/>
          </a:xfrm>
          <a:prstGeom prst="rect">
            <a:avLst/>
          </a:prstGeom>
          <a:noFill/>
        </p:spPr>
        <p:txBody>
          <a:bodyPr wrap="square" lIns="0" rIns="0" tIns="0" bIns="0" anchor="t">
            <a:spAutoFit/>
          </a:bodyPr>
          <a:lstStyle/>
          <a:p>
            <a:pPr algn="l"/>
            <a:r>
              <a:rPr sz="1100" b="1" i="0">
                <a:solidFill>
                  <a:srgbClr val="D9C4A6"/>
                </a:solidFill>
                <a:latin typeface="Inter"/>
              </a:rPr>
              <a:t>TEENS WHO LEARN ON YOUTUBE EVERY WEEK</a:t>
            </a:r>
          </a:p>
        </p:txBody>
      </p:sp>
      <p:sp>
        <p:nvSpPr>
          <p:cNvPr id="9" name="TextBox 8"/>
          <p:cNvSpPr txBox="1"/>
          <p:nvPr/>
        </p:nvSpPr>
        <p:spPr>
          <a:xfrm>
            <a:off x="914400" y="3566160"/>
            <a:ext cx="6400800" cy="2286000"/>
          </a:xfrm>
          <a:prstGeom prst="rect">
            <a:avLst/>
          </a:prstGeom>
          <a:noFill/>
        </p:spPr>
        <p:txBody>
          <a:bodyPr wrap="square" lIns="0" rIns="0" tIns="0" bIns="0" anchor="ctr">
            <a:spAutoFit/>
          </a:bodyPr>
          <a:lstStyle/>
          <a:p>
            <a:pPr algn="l"/>
            <a:r>
              <a:rPr sz="16000" b="0" i="0">
                <a:solidFill>
                  <a:srgbClr val="FFFFFF"/>
                </a:solidFill>
                <a:latin typeface="DM Serif Display"/>
              </a:rPr>
              <a:t>83%</a:t>
            </a:r>
          </a:p>
        </p:txBody>
      </p:sp>
      <p:sp>
        <p:nvSpPr>
          <p:cNvPr id="10" name="TextBox 9"/>
          <p:cNvSpPr txBox="1"/>
          <p:nvPr/>
        </p:nvSpPr>
        <p:spPr>
          <a:xfrm>
            <a:off x="914400" y="5760720"/>
            <a:ext cx="6400800" cy="365760"/>
          </a:xfrm>
          <a:prstGeom prst="rect">
            <a:avLst/>
          </a:prstGeom>
          <a:noFill/>
        </p:spPr>
        <p:txBody>
          <a:bodyPr wrap="square" lIns="0" rIns="0" tIns="0" bIns="0" anchor="t">
            <a:spAutoFit/>
          </a:bodyPr>
          <a:lstStyle/>
          <a:p>
            <a:pPr algn="l"/>
            <a:r>
              <a:rPr sz="1200" b="0" i="1">
                <a:solidFill>
                  <a:srgbClr val="D9C4A6"/>
                </a:solidFill>
                <a:latin typeface="Inter"/>
              </a:rPr>
              <a:t>Pew Research, 2023</a:t>
            </a:r>
          </a:p>
        </p:txBody>
      </p:sp>
      <p:sp>
        <p:nvSpPr>
          <p:cNvPr id="11" name="TextBox 10"/>
          <p:cNvSpPr txBox="1"/>
          <p:nvPr/>
        </p:nvSpPr>
        <p:spPr>
          <a:xfrm>
            <a:off x="7955279" y="2926080"/>
            <a:ext cx="3657600" cy="457200"/>
          </a:xfrm>
          <a:prstGeom prst="rect">
            <a:avLst/>
          </a:prstGeom>
          <a:noFill/>
        </p:spPr>
        <p:txBody>
          <a:bodyPr wrap="square" lIns="0" rIns="0" tIns="0" bIns="0" anchor="t">
            <a:spAutoFit/>
          </a:bodyPr>
          <a:lstStyle/>
          <a:p>
            <a:pPr algn="l"/>
            <a:r>
              <a:rPr sz="1200" b="1" i="0">
                <a:solidFill>
                  <a:srgbClr val="F25F4C"/>
                </a:solidFill>
                <a:latin typeface="Inter"/>
              </a:rPr>
              <a:t>What changed</a:t>
            </a:r>
          </a:p>
        </p:txBody>
      </p:sp>
      <p:cxnSp>
        <p:nvCxnSpPr>
          <p:cNvPr id="12" name="Connector 11"/>
          <p:cNvCxnSpPr/>
          <p:nvPr/>
        </p:nvCxnSpPr>
        <p:spPr>
          <a:xfrm>
            <a:off x="7955279" y="3246120"/>
            <a:ext cx="18288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55279" y="3429000"/>
            <a:ext cx="274320" cy="365760"/>
          </a:xfrm>
          <a:prstGeom prst="rect">
            <a:avLst/>
          </a:prstGeom>
          <a:noFill/>
        </p:spPr>
        <p:txBody>
          <a:bodyPr wrap="square" lIns="0" rIns="0" tIns="0" bIns="0" anchor="t">
            <a:spAutoFit/>
          </a:bodyPr>
          <a:lstStyle/>
          <a:p>
            <a:pPr algn="l"/>
            <a:r>
              <a:rPr sz="1400" b="1" i="0">
                <a:solidFill>
                  <a:srgbClr val="6B7A3A"/>
                </a:solidFill>
                <a:latin typeface="Inter"/>
              </a:rPr>
              <a:t>—</a:t>
            </a:r>
          </a:p>
        </p:txBody>
      </p:sp>
      <p:sp>
        <p:nvSpPr>
          <p:cNvPr id="14" name="TextBox 13"/>
          <p:cNvSpPr txBox="1"/>
          <p:nvPr/>
        </p:nvSpPr>
        <p:spPr>
          <a:xfrm>
            <a:off x="8321039" y="3429000"/>
            <a:ext cx="3657600" cy="457200"/>
          </a:xfrm>
          <a:prstGeom prst="rect">
            <a:avLst/>
          </a:prstGeom>
          <a:noFill/>
        </p:spPr>
        <p:txBody>
          <a:bodyPr wrap="square" lIns="0" rIns="0" tIns="0" bIns="0" anchor="t">
            <a:spAutoFit/>
          </a:bodyPr>
          <a:lstStyle/>
          <a:p>
            <a:pPr algn="l"/>
            <a:r>
              <a:rPr sz="1300" b="0" i="0">
                <a:solidFill>
                  <a:srgbClr val="1B1B1B"/>
                </a:solidFill>
                <a:latin typeface="Inter"/>
              </a:rPr>
              <a:t>Free video calls with anyone, anywhere.</a:t>
            </a:r>
          </a:p>
        </p:txBody>
      </p:sp>
      <p:sp>
        <p:nvSpPr>
          <p:cNvPr id="15" name="TextBox 14"/>
          <p:cNvSpPr txBox="1"/>
          <p:nvPr/>
        </p:nvSpPr>
        <p:spPr>
          <a:xfrm>
            <a:off x="7955279" y="3931920"/>
            <a:ext cx="274320" cy="365760"/>
          </a:xfrm>
          <a:prstGeom prst="rect">
            <a:avLst/>
          </a:prstGeom>
          <a:noFill/>
        </p:spPr>
        <p:txBody>
          <a:bodyPr wrap="square" lIns="0" rIns="0" tIns="0" bIns="0" anchor="t">
            <a:spAutoFit/>
          </a:bodyPr>
          <a:lstStyle/>
          <a:p>
            <a:pPr algn="l"/>
            <a:r>
              <a:rPr sz="1400" b="1" i="0">
                <a:solidFill>
                  <a:srgbClr val="6B7A3A"/>
                </a:solidFill>
                <a:latin typeface="Inter"/>
              </a:rPr>
              <a:t>—</a:t>
            </a:r>
          </a:p>
        </p:txBody>
      </p:sp>
      <p:sp>
        <p:nvSpPr>
          <p:cNvPr id="16" name="TextBox 15"/>
          <p:cNvSpPr txBox="1"/>
          <p:nvPr/>
        </p:nvSpPr>
        <p:spPr>
          <a:xfrm>
            <a:off x="8321039" y="3931920"/>
            <a:ext cx="3657600" cy="457200"/>
          </a:xfrm>
          <a:prstGeom prst="rect">
            <a:avLst/>
          </a:prstGeom>
          <a:noFill/>
        </p:spPr>
        <p:txBody>
          <a:bodyPr wrap="square" lIns="0" rIns="0" tIns="0" bIns="0" anchor="t">
            <a:spAutoFit/>
          </a:bodyPr>
          <a:lstStyle/>
          <a:p>
            <a:pPr algn="l"/>
            <a:r>
              <a:rPr sz="1300" b="0" i="0">
                <a:solidFill>
                  <a:srgbClr val="1B1B1B"/>
                </a:solidFill>
                <a:latin typeface="Inter"/>
              </a:rPr>
              <a:t>Practice English with native speakers.</a:t>
            </a:r>
          </a:p>
        </p:txBody>
      </p:sp>
      <p:sp>
        <p:nvSpPr>
          <p:cNvPr id="17" name="TextBox 16"/>
          <p:cNvSpPr txBox="1"/>
          <p:nvPr/>
        </p:nvSpPr>
        <p:spPr>
          <a:xfrm>
            <a:off x="7955279" y="4434840"/>
            <a:ext cx="274320" cy="365760"/>
          </a:xfrm>
          <a:prstGeom prst="rect">
            <a:avLst/>
          </a:prstGeom>
          <a:noFill/>
        </p:spPr>
        <p:txBody>
          <a:bodyPr wrap="square" lIns="0" rIns="0" tIns="0" bIns="0" anchor="t">
            <a:spAutoFit/>
          </a:bodyPr>
          <a:lstStyle/>
          <a:p>
            <a:pPr algn="l"/>
            <a:r>
              <a:rPr sz="1400" b="1" i="0">
                <a:solidFill>
                  <a:srgbClr val="6B7A3A"/>
                </a:solidFill>
                <a:latin typeface="Inter"/>
              </a:rPr>
              <a:t>—</a:t>
            </a:r>
          </a:p>
        </p:txBody>
      </p:sp>
      <p:sp>
        <p:nvSpPr>
          <p:cNvPr id="18" name="TextBox 17"/>
          <p:cNvSpPr txBox="1"/>
          <p:nvPr/>
        </p:nvSpPr>
        <p:spPr>
          <a:xfrm>
            <a:off x="8321039" y="4434840"/>
            <a:ext cx="3657600" cy="457200"/>
          </a:xfrm>
          <a:prstGeom prst="rect">
            <a:avLst/>
          </a:prstGeom>
          <a:noFill/>
        </p:spPr>
        <p:txBody>
          <a:bodyPr wrap="square" lIns="0" rIns="0" tIns="0" bIns="0" anchor="t">
            <a:spAutoFit/>
          </a:bodyPr>
          <a:lstStyle/>
          <a:p>
            <a:pPr algn="l"/>
            <a:r>
              <a:rPr sz="1300" b="0" i="0">
                <a:solidFill>
                  <a:srgbClr val="1B1B1B"/>
                </a:solidFill>
                <a:latin typeface="Inter"/>
              </a:rPr>
              <a:t>Tutorials for almost every subject.</a:t>
            </a:r>
          </a:p>
        </p:txBody>
      </p:sp>
      <p:sp>
        <p:nvSpPr>
          <p:cNvPr id="19" name="TextBox 18"/>
          <p:cNvSpPr txBox="1"/>
          <p:nvPr/>
        </p:nvSpPr>
        <p:spPr>
          <a:xfrm>
            <a:off x="7955279" y="4937760"/>
            <a:ext cx="274320" cy="365760"/>
          </a:xfrm>
          <a:prstGeom prst="rect">
            <a:avLst/>
          </a:prstGeom>
          <a:noFill/>
        </p:spPr>
        <p:txBody>
          <a:bodyPr wrap="square" lIns="0" rIns="0" tIns="0" bIns="0" anchor="t">
            <a:spAutoFit/>
          </a:bodyPr>
          <a:lstStyle/>
          <a:p>
            <a:pPr algn="l"/>
            <a:r>
              <a:rPr sz="1400" b="1" i="0">
                <a:solidFill>
                  <a:srgbClr val="6B7A3A"/>
                </a:solidFill>
                <a:latin typeface="Inter"/>
              </a:rPr>
              <a:t>—</a:t>
            </a:r>
          </a:p>
        </p:txBody>
      </p:sp>
      <p:sp>
        <p:nvSpPr>
          <p:cNvPr id="20" name="TextBox 19"/>
          <p:cNvSpPr txBox="1"/>
          <p:nvPr/>
        </p:nvSpPr>
        <p:spPr>
          <a:xfrm>
            <a:off x="8321039" y="4937760"/>
            <a:ext cx="3657600" cy="457200"/>
          </a:xfrm>
          <a:prstGeom prst="rect">
            <a:avLst/>
          </a:prstGeom>
          <a:noFill/>
        </p:spPr>
        <p:txBody>
          <a:bodyPr wrap="square" lIns="0" rIns="0" tIns="0" bIns="0" anchor="t">
            <a:spAutoFit/>
          </a:bodyPr>
          <a:lstStyle/>
          <a:p>
            <a:pPr algn="l"/>
            <a:r>
              <a:rPr sz="1300" b="0" i="0">
                <a:solidFill>
                  <a:srgbClr val="1B1B1B"/>
                </a:solidFill>
                <a:latin typeface="Inter"/>
              </a:rPr>
              <a:t>Online study groups in Telegram and Reels.</a:t>
            </a:r>
          </a:p>
        </p:txBody>
      </p:sp>
      <p:sp>
        <p:nvSpPr>
          <p:cNvPr id="21" name="TextBox 20"/>
          <p:cNvSpPr txBox="1"/>
          <p:nvPr/>
        </p:nvSpPr>
        <p:spPr>
          <a:xfrm>
            <a:off x="7955279" y="5440680"/>
            <a:ext cx="274320" cy="365760"/>
          </a:xfrm>
          <a:prstGeom prst="rect">
            <a:avLst/>
          </a:prstGeom>
          <a:noFill/>
        </p:spPr>
        <p:txBody>
          <a:bodyPr wrap="square" lIns="0" rIns="0" tIns="0" bIns="0" anchor="t">
            <a:spAutoFit/>
          </a:bodyPr>
          <a:lstStyle/>
          <a:p>
            <a:pPr algn="l"/>
            <a:r>
              <a:rPr sz="1400" b="1" i="0">
                <a:solidFill>
                  <a:srgbClr val="6B7A3A"/>
                </a:solidFill>
                <a:latin typeface="Inter"/>
              </a:rPr>
              <a:t>—</a:t>
            </a:r>
          </a:p>
        </p:txBody>
      </p:sp>
      <p:sp>
        <p:nvSpPr>
          <p:cNvPr id="22" name="TextBox 21"/>
          <p:cNvSpPr txBox="1"/>
          <p:nvPr/>
        </p:nvSpPr>
        <p:spPr>
          <a:xfrm>
            <a:off x="8321039" y="5440680"/>
            <a:ext cx="3657600" cy="457200"/>
          </a:xfrm>
          <a:prstGeom prst="rect">
            <a:avLst/>
          </a:prstGeom>
          <a:noFill/>
        </p:spPr>
        <p:txBody>
          <a:bodyPr wrap="square" lIns="0" rIns="0" tIns="0" bIns="0" anchor="t">
            <a:spAutoFit/>
          </a:bodyPr>
          <a:lstStyle/>
          <a:p>
            <a:pPr algn="l"/>
            <a:r>
              <a:rPr sz="1300" b="0" i="0">
                <a:solidFill>
                  <a:srgbClr val="1B1B1B"/>
                </a:solidFill>
                <a:latin typeface="Inter"/>
              </a:rPr>
              <a:t>Quick help with homework from a community.</a:t>
            </a:r>
          </a:p>
        </p:txBody>
      </p:sp>
      <p:cxnSp>
        <p:nvCxnSpPr>
          <p:cNvPr id="23" name="Connector 22"/>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25" name="TextBox 24"/>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05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F25F4C"/>
                </a:solidFill>
                <a:latin typeface="Inter"/>
              </a:rPr>
              <a:t>05</a:t>
            </a:r>
          </a:p>
        </p:txBody>
      </p:sp>
      <p:cxnSp>
        <p:nvCxnSpPr>
          <p:cNvPr id="4" name="Connector 3"/>
          <p:cNvCxnSpPr/>
          <p:nvPr/>
        </p:nvCxnSpPr>
        <p:spPr>
          <a:xfrm>
            <a:off x="1280160" y="713232"/>
            <a:ext cx="9144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F25F4C"/>
                </a:solidFill>
                <a:latin typeface="Inter"/>
              </a:rPr>
              <a:t>THE DARK SIDE</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lnSpc>
                <a:spcPct val="100000"/>
              </a:lnSpc>
            </a:pPr>
            <a:r>
              <a:rPr sz="4200" b="0" i="0">
                <a:solidFill>
                  <a:srgbClr val="1B1B1B"/>
                </a:solidFill>
                <a:latin typeface="DM Serif Display"/>
              </a:rPr>
              <a:t>But every coin</a:t>
            </a:r>
          </a:p>
          <a:p>
            <a:pPr algn="l">
              <a:lnSpc>
                <a:spcPct val="100000"/>
              </a:lnSpc>
            </a:pPr>
            <a:r>
              <a:rPr sz="4200" b="0" i="0">
                <a:solidFill>
                  <a:srgbClr val="1B1B1B"/>
                </a:solidFill>
                <a:latin typeface="DM Serif Display"/>
              </a:rPr>
              <a:t>has two sides.</a:t>
            </a:r>
          </a:p>
        </p:txBody>
      </p:sp>
      <p:sp>
        <p:nvSpPr>
          <p:cNvPr id="7" name="Rounded Rectangle 6"/>
          <p:cNvSpPr/>
          <p:nvPr/>
        </p:nvSpPr>
        <p:spPr>
          <a:xfrm>
            <a:off x="394563" y="3108960"/>
            <a:ext cx="2148840" cy="2926080"/>
          </a:xfrm>
          <a:prstGeom prst="roundRect">
            <a:avLst>
              <a:gd name="adj" fmla="val 4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4563" y="3108960"/>
            <a:ext cx="137160" cy="2926080"/>
          </a:xfrm>
          <a:prstGeom prst="rect">
            <a:avLst/>
          </a:prstGeom>
          <a:solidFill>
            <a:srgbClr val="F2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8883" y="3566160"/>
            <a:ext cx="1783080" cy="457200"/>
          </a:xfrm>
          <a:prstGeom prst="rect">
            <a:avLst/>
          </a:prstGeom>
          <a:noFill/>
        </p:spPr>
        <p:txBody>
          <a:bodyPr wrap="square" lIns="0" rIns="0" tIns="0" bIns="0" anchor="t">
            <a:spAutoFit/>
          </a:bodyPr>
          <a:lstStyle/>
          <a:p>
            <a:pPr algn="l"/>
            <a:r>
              <a:rPr sz="1200" b="1" i="0">
                <a:solidFill>
                  <a:srgbClr val="F25F4C"/>
                </a:solidFill>
                <a:latin typeface="Inter"/>
              </a:rPr>
              <a:t>01</a:t>
            </a:r>
          </a:p>
        </p:txBody>
      </p:sp>
      <p:sp>
        <p:nvSpPr>
          <p:cNvPr id="10" name="TextBox 9"/>
          <p:cNvSpPr txBox="1"/>
          <p:nvPr/>
        </p:nvSpPr>
        <p:spPr>
          <a:xfrm>
            <a:off x="668883" y="4023360"/>
            <a:ext cx="1783080" cy="1280160"/>
          </a:xfrm>
          <a:prstGeom prst="rect">
            <a:avLst/>
          </a:prstGeom>
          <a:noFill/>
        </p:spPr>
        <p:txBody>
          <a:bodyPr wrap="square" lIns="0" rIns="0" tIns="0" bIns="0" anchor="t">
            <a:spAutoFit/>
          </a:bodyPr>
          <a:lstStyle/>
          <a:p>
            <a:pPr algn="l">
              <a:lnSpc>
                <a:spcPct val="110000"/>
              </a:lnSpc>
            </a:pPr>
            <a:r>
              <a:rPr sz="1800" b="0" i="0">
                <a:solidFill>
                  <a:srgbClr val="1B1B1B"/>
                </a:solidFill>
                <a:latin typeface="DM Serif Display"/>
              </a:rPr>
              <a:t>Too much screen time</a:t>
            </a:r>
          </a:p>
        </p:txBody>
      </p:sp>
      <p:sp>
        <p:nvSpPr>
          <p:cNvPr id="11" name="TextBox 10"/>
          <p:cNvSpPr txBox="1"/>
          <p:nvPr/>
        </p:nvSpPr>
        <p:spPr>
          <a:xfrm>
            <a:off x="668883" y="5212080"/>
            <a:ext cx="1783080" cy="822960"/>
          </a:xfrm>
          <a:prstGeom prst="rect">
            <a:avLst/>
          </a:prstGeom>
          <a:noFill/>
        </p:spPr>
        <p:txBody>
          <a:bodyPr wrap="square" lIns="0" rIns="0" tIns="0" bIns="0" anchor="t">
            <a:spAutoFit/>
          </a:bodyPr>
          <a:lstStyle/>
          <a:p>
            <a:pPr algn="l"/>
            <a:r>
              <a:rPr sz="1200" b="0" i="0">
                <a:solidFill>
                  <a:srgbClr val="555555"/>
                </a:solidFill>
                <a:latin typeface="Inter"/>
              </a:rPr>
              <a:t>Hours every day, every week.</a:t>
            </a:r>
          </a:p>
        </p:txBody>
      </p:sp>
      <p:sp>
        <p:nvSpPr>
          <p:cNvPr id="12" name="Rounded Rectangle 11"/>
          <p:cNvSpPr/>
          <p:nvPr/>
        </p:nvSpPr>
        <p:spPr>
          <a:xfrm>
            <a:off x="2707995" y="3108960"/>
            <a:ext cx="2148840" cy="2926080"/>
          </a:xfrm>
          <a:prstGeom prst="roundRect">
            <a:avLst>
              <a:gd name="adj" fmla="val 4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07995" y="3108960"/>
            <a:ext cx="137160" cy="2926080"/>
          </a:xfrm>
          <a:prstGeom prst="rect">
            <a:avLst/>
          </a:prstGeom>
          <a:solidFill>
            <a:srgbClr val="F2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2315" y="3566160"/>
            <a:ext cx="1783080" cy="457200"/>
          </a:xfrm>
          <a:prstGeom prst="rect">
            <a:avLst/>
          </a:prstGeom>
          <a:noFill/>
        </p:spPr>
        <p:txBody>
          <a:bodyPr wrap="square" lIns="0" rIns="0" tIns="0" bIns="0" anchor="t">
            <a:spAutoFit/>
          </a:bodyPr>
          <a:lstStyle/>
          <a:p>
            <a:pPr algn="l"/>
            <a:r>
              <a:rPr sz="1200" b="1" i="0">
                <a:solidFill>
                  <a:srgbClr val="F25F4C"/>
                </a:solidFill>
                <a:latin typeface="Inter"/>
              </a:rPr>
              <a:t>02</a:t>
            </a:r>
          </a:p>
        </p:txBody>
      </p:sp>
      <p:sp>
        <p:nvSpPr>
          <p:cNvPr id="15" name="TextBox 14"/>
          <p:cNvSpPr txBox="1"/>
          <p:nvPr/>
        </p:nvSpPr>
        <p:spPr>
          <a:xfrm>
            <a:off x="2982315" y="4023360"/>
            <a:ext cx="1783080" cy="1280160"/>
          </a:xfrm>
          <a:prstGeom prst="rect">
            <a:avLst/>
          </a:prstGeom>
          <a:noFill/>
        </p:spPr>
        <p:txBody>
          <a:bodyPr wrap="square" lIns="0" rIns="0" tIns="0" bIns="0" anchor="t">
            <a:spAutoFit/>
          </a:bodyPr>
          <a:lstStyle/>
          <a:p>
            <a:pPr algn="l">
              <a:lnSpc>
                <a:spcPct val="110000"/>
              </a:lnSpc>
            </a:pPr>
            <a:r>
              <a:rPr sz="1800" b="0" i="0">
                <a:solidFill>
                  <a:srgbClr val="1B1B1B"/>
                </a:solidFill>
                <a:latin typeface="DM Serif Display"/>
              </a:rPr>
              <a:t>Fake news &amp; rumors</a:t>
            </a:r>
          </a:p>
        </p:txBody>
      </p:sp>
      <p:sp>
        <p:nvSpPr>
          <p:cNvPr id="16" name="TextBox 15"/>
          <p:cNvSpPr txBox="1"/>
          <p:nvPr/>
        </p:nvSpPr>
        <p:spPr>
          <a:xfrm>
            <a:off x="2982315" y="5212080"/>
            <a:ext cx="1783080" cy="822960"/>
          </a:xfrm>
          <a:prstGeom prst="rect">
            <a:avLst/>
          </a:prstGeom>
          <a:noFill/>
        </p:spPr>
        <p:txBody>
          <a:bodyPr wrap="square" lIns="0" rIns="0" tIns="0" bIns="0" anchor="t">
            <a:spAutoFit/>
          </a:bodyPr>
          <a:lstStyle/>
          <a:p>
            <a:pPr algn="l"/>
            <a:r>
              <a:rPr sz="1200" b="0" i="0">
                <a:solidFill>
                  <a:srgbClr val="555555"/>
                </a:solidFill>
                <a:latin typeface="Inter"/>
              </a:rPr>
              <a:t>Spread in minutes, not days.</a:t>
            </a:r>
          </a:p>
        </p:txBody>
      </p:sp>
      <p:sp>
        <p:nvSpPr>
          <p:cNvPr id="17" name="Rounded Rectangle 16"/>
          <p:cNvSpPr/>
          <p:nvPr/>
        </p:nvSpPr>
        <p:spPr>
          <a:xfrm>
            <a:off x="5021427" y="3108960"/>
            <a:ext cx="2148840" cy="2926080"/>
          </a:xfrm>
          <a:prstGeom prst="roundRect">
            <a:avLst>
              <a:gd name="adj" fmla="val 4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1427" y="3108960"/>
            <a:ext cx="137160" cy="2926080"/>
          </a:xfrm>
          <a:prstGeom prst="rect">
            <a:avLst/>
          </a:prstGeom>
          <a:solidFill>
            <a:srgbClr val="F2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95747" y="3566160"/>
            <a:ext cx="1783080" cy="457200"/>
          </a:xfrm>
          <a:prstGeom prst="rect">
            <a:avLst/>
          </a:prstGeom>
          <a:noFill/>
        </p:spPr>
        <p:txBody>
          <a:bodyPr wrap="square" lIns="0" rIns="0" tIns="0" bIns="0" anchor="t">
            <a:spAutoFit/>
          </a:bodyPr>
          <a:lstStyle/>
          <a:p>
            <a:pPr algn="l"/>
            <a:r>
              <a:rPr sz="1200" b="1" i="0">
                <a:solidFill>
                  <a:srgbClr val="F25F4C"/>
                </a:solidFill>
                <a:latin typeface="Inter"/>
              </a:rPr>
              <a:t>03</a:t>
            </a:r>
          </a:p>
        </p:txBody>
      </p:sp>
      <p:sp>
        <p:nvSpPr>
          <p:cNvPr id="20" name="TextBox 19"/>
          <p:cNvSpPr txBox="1"/>
          <p:nvPr/>
        </p:nvSpPr>
        <p:spPr>
          <a:xfrm>
            <a:off x="5295747" y="4023360"/>
            <a:ext cx="1783080" cy="1280160"/>
          </a:xfrm>
          <a:prstGeom prst="rect">
            <a:avLst/>
          </a:prstGeom>
          <a:noFill/>
        </p:spPr>
        <p:txBody>
          <a:bodyPr wrap="square" lIns="0" rIns="0" tIns="0" bIns="0" anchor="t">
            <a:spAutoFit/>
          </a:bodyPr>
          <a:lstStyle/>
          <a:p>
            <a:pPr algn="l">
              <a:lnSpc>
                <a:spcPct val="110000"/>
              </a:lnSpc>
            </a:pPr>
            <a:r>
              <a:rPr sz="1800" b="0" i="0">
                <a:solidFill>
                  <a:srgbClr val="1B1B1B"/>
                </a:solidFill>
                <a:latin typeface="DM Serif Display"/>
              </a:rPr>
              <a:t>Cyberbullying</a:t>
            </a:r>
          </a:p>
        </p:txBody>
      </p:sp>
      <p:sp>
        <p:nvSpPr>
          <p:cNvPr id="21" name="TextBox 20"/>
          <p:cNvSpPr txBox="1"/>
          <p:nvPr/>
        </p:nvSpPr>
        <p:spPr>
          <a:xfrm>
            <a:off x="5295747" y="5212080"/>
            <a:ext cx="1783080" cy="822960"/>
          </a:xfrm>
          <a:prstGeom prst="rect">
            <a:avLst/>
          </a:prstGeom>
          <a:noFill/>
        </p:spPr>
        <p:txBody>
          <a:bodyPr wrap="square" lIns="0" rIns="0" tIns="0" bIns="0" anchor="t">
            <a:spAutoFit/>
          </a:bodyPr>
          <a:lstStyle/>
          <a:p>
            <a:pPr algn="l"/>
            <a:r>
              <a:rPr sz="1200" b="0" i="0">
                <a:solidFill>
                  <a:srgbClr val="555555"/>
                </a:solidFill>
                <a:latin typeface="Inter"/>
              </a:rPr>
              <a:t>Aggression in the comments.</a:t>
            </a:r>
          </a:p>
        </p:txBody>
      </p:sp>
      <p:sp>
        <p:nvSpPr>
          <p:cNvPr id="22" name="Rounded Rectangle 21"/>
          <p:cNvSpPr/>
          <p:nvPr/>
        </p:nvSpPr>
        <p:spPr>
          <a:xfrm>
            <a:off x="7334859" y="3108960"/>
            <a:ext cx="2148840" cy="2926080"/>
          </a:xfrm>
          <a:prstGeom prst="roundRect">
            <a:avLst>
              <a:gd name="adj" fmla="val 4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34859" y="3108960"/>
            <a:ext cx="137160" cy="2926080"/>
          </a:xfrm>
          <a:prstGeom prst="rect">
            <a:avLst/>
          </a:prstGeom>
          <a:solidFill>
            <a:srgbClr val="F2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9179" y="3566160"/>
            <a:ext cx="1783080" cy="457200"/>
          </a:xfrm>
          <a:prstGeom prst="rect">
            <a:avLst/>
          </a:prstGeom>
          <a:noFill/>
        </p:spPr>
        <p:txBody>
          <a:bodyPr wrap="square" lIns="0" rIns="0" tIns="0" bIns="0" anchor="t">
            <a:spAutoFit/>
          </a:bodyPr>
          <a:lstStyle/>
          <a:p>
            <a:pPr algn="l"/>
            <a:r>
              <a:rPr sz="1200" b="1" i="0">
                <a:solidFill>
                  <a:srgbClr val="F25F4C"/>
                </a:solidFill>
                <a:latin typeface="Inter"/>
              </a:rPr>
              <a:t>04</a:t>
            </a:r>
          </a:p>
        </p:txBody>
      </p:sp>
      <p:sp>
        <p:nvSpPr>
          <p:cNvPr id="25" name="TextBox 24"/>
          <p:cNvSpPr txBox="1"/>
          <p:nvPr/>
        </p:nvSpPr>
        <p:spPr>
          <a:xfrm>
            <a:off x="7609179" y="4023360"/>
            <a:ext cx="1783080" cy="1280160"/>
          </a:xfrm>
          <a:prstGeom prst="rect">
            <a:avLst/>
          </a:prstGeom>
          <a:noFill/>
        </p:spPr>
        <p:txBody>
          <a:bodyPr wrap="square" lIns="0" rIns="0" tIns="0" bIns="0" anchor="t">
            <a:spAutoFit/>
          </a:bodyPr>
          <a:lstStyle/>
          <a:p>
            <a:pPr algn="l">
              <a:lnSpc>
                <a:spcPct val="110000"/>
              </a:lnSpc>
            </a:pPr>
            <a:r>
              <a:rPr sz="1800" b="0" i="0">
                <a:solidFill>
                  <a:srgbClr val="1B1B1B"/>
                </a:solidFill>
                <a:latin typeface="DM Serif Display"/>
              </a:rPr>
              <a:t>Privacy</a:t>
            </a:r>
          </a:p>
        </p:txBody>
      </p:sp>
      <p:sp>
        <p:nvSpPr>
          <p:cNvPr id="26" name="TextBox 25"/>
          <p:cNvSpPr txBox="1"/>
          <p:nvPr/>
        </p:nvSpPr>
        <p:spPr>
          <a:xfrm>
            <a:off x="7609179" y="5212080"/>
            <a:ext cx="1783080" cy="822960"/>
          </a:xfrm>
          <a:prstGeom prst="rect">
            <a:avLst/>
          </a:prstGeom>
          <a:noFill/>
        </p:spPr>
        <p:txBody>
          <a:bodyPr wrap="square" lIns="0" rIns="0" tIns="0" bIns="0" anchor="t">
            <a:spAutoFit/>
          </a:bodyPr>
          <a:lstStyle/>
          <a:p>
            <a:pPr algn="l"/>
            <a:r>
              <a:rPr sz="1200" b="0" i="0">
                <a:solidFill>
                  <a:srgbClr val="555555"/>
                </a:solidFill>
                <a:latin typeface="Inter"/>
              </a:rPr>
              <a:t>Our data is the product.</a:t>
            </a:r>
          </a:p>
        </p:txBody>
      </p:sp>
      <p:sp>
        <p:nvSpPr>
          <p:cNvPr id="27" name="Rounded Rectangle 26"/>
          <p:cNvSpPr/>
          <p:nvPr/>
        </p:nvSpPr>
        <p:spPr>
          <a:xfrm>
            <a:off x="9648291" y="3108960"/>
            <a:ext cx="2148840" cy="2926080"/>
          </a:xfrm>
          <a:prstGeom prst="roundRect">
            <a:avLst>
              <a:gd name="adj" fmla="val 4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48291" y="3108960"/>
            <a:ext cx="137160" cy="2926080"/>
          </a:xfrm>
          <a:prstGeom prst="rect">
            <a:avLst/>
          </a:prstGeom>
          <a:solidFill>
            <a:srgbClr val="F2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22611" y="3566160"/>
            <a:ext cx="1783080" cy="457200"/>
          </a:xfrm>
          <a:prstGeom prst="rect">
            <a:avLst/>
          </a:prstGeom>
          <a:noFill/>
        </p:spPr>
        <p:txBody>
          <a:bodyPr wrap="square" lIns="0" rIns="0" tIns="0" bIns="0" anchor="t">
            <a:spAutoFit/>
          </a:bodyPr>
          <a:lstStyle/>
          <a:p>
            <a:pPr algn="l"/>
            <a:r>
              <a:rPr sz="1200" b="1" i="0">
                <a:solidFill>
                  <a:srgbClr val="F25F4C"/>
                </a:solidFill>
                <a:latin typeface="Inter"/>
              </a:rPr>
              <a:t>05</a:t>
            </a:r>
          </a:p>
        </p:txBody>
      </p:sp>
      <p:sp>
        <p:nvSpPr>
          <p:cNvPr id="30" name="TextBox 29"/>
          <p:cNvSpPr txBox="1"/>
          <p:nvPr/>
        </p:nvSpPr>
        <p:spPr>
          <a:xfrm>
            <a:off x="9922611" y="4023360"/>
            <a:ext cx="1783080" cy="1280160"/>
          </a:xfrm>
          <a:prstGeom prst="rect">
            <a:avLst/>
          </a:prstGeom>
          <a:noFill/>
        </p:spPr>
        <p:txBody>
          <a:bodyPr wrap="square" lIns="0" rIns="0" tIns="0" bIns="0" anchor="t">
            <a:spAutoFit/>
          </a:bodyPr>
          <a:lstStyle/>
          <a:p>
            <a:pPr algn="l">
              <a:lnSpc>
                <a:spcPct val="110000"/>
              </a:lnSpc>
            </a:pPr>
            <a:r>
              <a:rPr sz="1800" b="0" i="0">
                <a:solidFill>
                  <a:srgbClr val="1B1B1B"/>
                </a:solidFill>
                <a:latin typeface="DM Serif Display"/>
              </a:rPr>
              <a:t>Pressure to be perfect</a:t>
            </a:r>
          </a:p>
        </p:txBody>
      </p:sp>
      <p:sp>
        <p:nvSpPr>
          <p:cNvPr id="31" name="TextBox 30"/>
          <p:cNvSpPr txBox="1"/>
          <p:nvPr/>
        </p:nvSpPr>
        <p:spPr>
          <a:xfrm>
            <a:off x="9922611" y="5212080"/>
            <a:ext cx="1783080" cy="822960"/>
          </a:xfrm>
          <a:prstGeom prst="rect">
            <a:avLst/>
          </a:prstGeom>
          <a:noFill/>
        </p:spPr>
        <p:txBody>
          <a:bodyPr wrap="square" lIns="0" rIns="0" tIns="0" bIns="0" anchor="t">
            <a:spAutoFit/>
          </a:bodyPr>
          <a:lstStyle/>
          <a:p>
            <a:pPr algn="l"/>
            <a:r>
              <a:rPr sz="1200" b="0" i="0">
                <a:solidFill>
                  <a:srgbClr val="555555"/>
                </a:solidFill>
                <a:latin typeface="Inter"/>
              </a:rPr>
              <a:t>Filtered lives, real anxiety.</a:t>
            </a:r>
          </a:p>
        </p:txBody>
      </p:sp>
      <p:cxnSp>
        <p:nvCxnSpPr>
          <p:cNvPr id="32" name="Connector 31"/>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34" name="TextBox 33"/>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06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F25F4C"/>
                </a:solidFill>
                <a:latin typeface="Inter"/>
              </a:rPr>
              <a:t>06</a:t>
            </a:r>
          </a:p>
        </p:txBody>
      </p:sp>
      <p:cxnSp>
        <p:nvCxnSpPr>
          <p:cNvPr id="4" name="Connector 3"/>
          <p:cNvCxnSpPr/>
          <p:nvPr/>
        </p:nvCxnSpPr>
        <p:spPr>
          <a:xfrm>
            <a:off x="1280160" y="713232"/>
            <a:ext cx="9144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F25F4C"/>
                </a:solidFill>
                <a:latin typeface="Inter"/>
              </a:rPr>
              <a:t>SCREEN TIME</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r>
              <a:rPr sz="4400" b="0" i="0">
                <a:solidFill>
                  <a:srgbClr val="1B1B1B"/>
                </a:solidFill>
                <a:latin typeface="DM Serif Display"/>
              </a:rPr>
              <a:t>The endless scroll.</a:t>
            </a:r>
          </a:p>
        </p:txBody>
      </p:sp>
      <p:sp>
        <p:nvSpPr>
          <p:cNvPr id="7" name="TextBox 6"/>
          <p:cNvSpPr txBox="1"/>
          <p:nvPr/>
        </p:nvSpPr>
        <p:spPr>
          <a:xfrm>
            <a:off x="640080" y="2926080"/>
            <a:ext cx="5943600" cy="3200400"/>
          </a:xfrm>
          <a:prstGeom prst="rect">
            <a:avLst/>
          </a:prstGeom>
          <a:noFill/>
        </p:spPr>
        <p:txBody>
          <a:bodyPr wrap="square" lIns="0" rIns="0" tIns="0" bIns="0" anchor="ctr">
            <a:spAutoFit/>
          </a:bodyPr>
          <a:lstStyle/>
          <a:p>
            <a:pPr algn="l">
              <a:lnSpc>
                <a:spcPct val="85000"/>
              </a:lnSpc>
            </a:pPr>
            <a:r>
              <a:rPr sz="18000" b="0" i="0">
                <a:solidFill>
                  <a:srgbClr val="F25F4C"/>
                </a:solidFill>
                <a:latin typeface="DM Serif Display"/>
              </a:rPr>
              <a:t>2h</a:t>
            </a:r>
          </a:p>
          <a:p>
            <a:pPr algn="l">
              <a:lnSpc>
                <a:spcPct val="85000"/>
              </a:lnSpc>
            </a:pPr>
            <a:r>
              <a:rPr sz="18000" b="0" i="0">
                <a:solidFill>
                  <a:srgbClr val="F25F4C"/>
                </a:solidFill>
                <a:latin typeface="DM Serif Display"/>
              </a:rPr>
              <a:t>30m</a:t>
            </a:r>
          </a:p>
        </p:txBody>
      </p:sp>
      <p:sp>
        <p:nvSpPr>
          <p:cNvPr id="8" name="TextBox 7"/>
          <p:cNvSpPr txBox="1"/>
          <p:nvPr/>
        </p:nvSpPr>
        <p:spPr>
          <a:xfrm>
            <a:off x="640080" y="5943600"/>
            <a:ext cx="5943600" cy="365760"/>
          </a:xfrm>
          <a:prstGeom prst="rect">
            <a:avLst/>
          </a:prstGeom>
          <a:noFill/>
        </p:spPr>
        <p:txBody>
          <a:bodyPr wrap="square" lIns="0" rIns="0" tIns="0" bIns="0" anchor="t">
            <a:spAutoFit/>
          </a:bodyPr>
          <a:lstStyle/>
          <a:p>
            <a:pPr algn="l"/>
            <a:r>
              <a:rPr sz="1300" b="0" i="1">
                <a:solidFill>
                  <a:srgbClr val="555555"/>
                </a:solidFill>
                <a:latin typeface="Inter"/>
              </a:rPr>
              <a:t>average user · per day · GWI, 2024</a:t>
            </a:r>
          </a:p>
        </p:txBody>
      </p:sp>
      <p:sp>
        <p:nvSpPr>
          <p:cNvPr id="9" name="TextBox 8"/>
          <p:cNvSpPr txBox="1"/>
          <p:nvPr/>
        </p:nvSpPr>
        <p:spPr>
          <a:xfrm>
            <a:off x="7315200" y="2743200"/>
            <a:ext cx="4114800" cy="457200"/>
          </a:xfrm>
          <a:prstGeom prst="rect">
            <a:avLst/>
          </a:prstGeom>
          <a:noFill/>
        </p:spPr>
        <p:txBody>
          <a:bodyPr wrap="square" lIns="0" rIns="0" tIns="0" bIns="0" anchor="t">
            <a:spAutoFit/>
          </a:bodyPr>
          <a:lstStyle/>
          <a:p>
            <a:pPr algn="l"/>
            <a:r>
              <a:rPr sz="1200" b="1" i="0">
                <a:solidFill>
                  <a:srgbClr val="F25F4C"/>
                </a:solidFill>
                <a:latin typeface="Inter"/>
              </a:rPr>
              <a:t>What's behind it</a:t>
            </a:r>
          </a:p>
        </p:txBody>
      </p:sp>
      <p:cxnSp>
        <p:nvCxnSpPr>
          <p:cNvPr id="10" name="Connector 9"/>
          <p:cNvCxnSpPr/>
          <p:nvPr/>
        </p:nvCxnSpPr>
        <p:spPr>
          <a:xfrm>
            <a:off x="7315200" y="3063240"/>
            <a:ext cx="18288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0" y="3383280"/>
            <a:ext cx="2011680" cy="365760"/>
          </a:xfrm>
          <a:prstGeom prst="rect">
            <a:avLst/>
          </a:prstGeom>
          <a:noFill/>
        </p:spPr>
        <p:txBody>
          <a:bodyPr wrap="square" lIns="0" rIns="0" tIns="0" bIns="0" anchor="t">
            <a:spAutoFit/>
          </a:bodyPr>
          <a:lstStyle/>
          <a:p>
            <a:pPr algn="l"/>
            <a:r>
              <a:rPr sz="1800" b="0" i="0">
                <a:solidFill>
                  <a:srgbClr val="1B1B1B"/>
                </a:solidFill>
                <a:latin typeface="DM Serif Display"/>
              </a:rPr>
              <a:t>Teenagers</a:t>
            </a:r>
          </a:p>
        </p:txBody>
      </p:sp>
      <p:sp>
        <p:nvSpPr>
          <p:cNvPr id="12" name="TextBox 11"/>
          <p:cNvSpPr txBox="1"/>
          <p:nvPr/>
        </p:nvSpPr>
        <p:spPr>
          <a:xfrm>
            <a:off x="9326880" y="3429000"/>
            <a:ext cx="2743200" cy="365760"/>
          </a:xfrm>
          <a:prstGeom prst="rect">
            <a:avLst/>
          </a:prstGeom>
          <a:noFill/>
        </p:spPr>
        <p:txBody>
          <a:bodyPr wrap="square" lIns="0" rIns="0" tIns="0" bIns="0" anchor="t">
            <a:spAutoFit/>
          </a:bodyPr>
          <a:lstStyle/>
          <a:p>
            <a:pPr algn="l"/>
            <a:r>
              <a:rPr sz="1300" b="0" i="0">
                <a:solidFill>
                  <a:srgbClr val="555555"/>
                </a:solidFill>
                <a:latin typeface="Inter"/>
              </a:rPr>
              <a:t>up to 4–5 hours / day</a:t>
            </a:r>
          </a:p>
        </p:txBody>
      </p:sp>
      <p:cxnSp>
        <p:nvCxnSpPr>
          <p:cNvPr id="13" name="Connector 12"/>
          <p:cNvCxnSpPr/>
          <p:nvPr/>
        </p:nvCxnSpPr>
        <p:spPr>
          <a:xfrm>
            <a:off x="7315200" y="3886200"/>
            <a:ext cx="4572000" cy="0"/>
          </a:xfrm>
          <a:prstGeom prst="line">
            <a:avLst/>
          </a:prstGeom>
          <a:ln w="3810">
            <a:solidFill>
              <a:srgbClr val="55555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0" y="4023360"/>
            <a:ext cx="2011680" cy="365760"/>
          </a:xfrm>
          <a:prstGeom prst="rect">
            <a:avLst/>
          </a:prstGeom>
          <a:noFill/>
        </p:spPr>
        <p:txBody>
          <a:bodyPr wrap="square" lIns="0" rIns="0" tIns="0" bIns="0" anchor="t">
            <a:spAutoFit/>
          </a:bodyPr>
          <a:lstStyle/>
          <a:p>
            <a:pPr algn="l"/>
            <a:r>
              <a:rPr sz="1800" b="0" i="0">
                <a:solidFill>
                  <a:srgbClr val="1B1B1B"/>
                </a:solidFill>
                <a:latin typeface="DM Serif Display"/>
              </a:rPr>
              <a:t>Dopamine loop</a:t>
            </a:r>
          </a:p>
        </p:txBody>
      </p:sp>
      <p:sp>
        <p:nvSpPr>
          <p:cNvPr id="15" name="TextBox 14"/>
          <p:cNvSpPr txBox="1"/>
          <p:nvPr/>
        </p:nvSpPr>
        <p:spPr>
          <a:xfrm>
            <a:off x="9326880" y="4069080"/>
            <a:ext cx="2743200" cy="365760"/>
          </a:xfrm>
          <a:prstGeom prst="rect">
            <a:avLst/>
          </a:prstGeom>
          <a:noFill/>
        </p:spPr>
        <p:txBody>
          <a:bodyPr wrap="square" lIns="0" rIns="0" tIns="0" bIns="0" anchor="t">
            <a:spAutoFit/>
          </a:bodyPr>
          <a:lstStyle/>
          <a:p>
            <a:pPr algn="l"/>
            <a:r>
              <a:rPr sz="1300" b="0" i="0">
                <a:solidFill>
                  <a:srgbClr val="555555"/>
                </a:solidFill>
                <a:latin typeface="Inter"/>
              </a:rPr>
              <a:t>endless scroll, small rewards</a:t>
            </a:r>
          </a:p>
        </p:txBody>
      </p:sp>
      <p:cxnSp>
        <p:nvCxnSpPr>
          <p:cNvPr id="16" name="Connector 15"/>
          <p:cNvCxnSpPr/>
          <p:nvPr/>
        </p:nvCxnSpPr>
        <p:spPr>
          <a:xfrm>
            <a:off x="7315200" y="4526280"/>
            <a:ext cx="4572000" cy="0"/>
          </a:xfrm>
          <a:prstGeom prst="line">
            <a:avLst/>
          </a:prstGeom>
          <a:ln w="3810">
            <a:solidFill>
              <a:srgbClr val="55555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0" y="4663440"/>
            <a:ext cx="2011680" cy="365760"/>
          </a:xfrm>
          <a:prstGeom prst="rect">
            <a:avLst/>
          </a:prstGeom>
          <a:noFill/>
        </p:spPr>
        <p:txBody>
          <a:bodyPr wrap="square" lIns="0" rIns="0" tIns="0" bIns="0" anchor="t">
            <a:spAutoFit/>
          </a:bodyPr>
          <a:lstStyle/>
          <a:p>
            <a:pPr algn="l"/>
            <a:r>
              <a:rPr sz="1800" b="0" i="0">
                <a:solidFill>
                  <a:srgbClr val="1B1B1B"/>
                </a:solidFill>
                <a:latin typeface="DM Serif Display"/>
              </a:rPr>
              <a:t>Phone checks</a:t>
            </a:r>
          </a:p>
        </p:txBody>
      </p:sp>
      <p:sp>
        <p:nvSpPr>
          <p:cNvPr id="18" name="TextBox 17"/>
          <p:cNvSpPr txBox="1"/>
          <p:nvPr/>
        </p:nvSpPr>
        <p:spPr>
          <a:xfrm>
            <a:off x="9326880" y="4709160"/>
            <a:ext cx="2743200" cy="365760"/>
          </a:xfrm>
          <a:prstGeom prst="rect">
            <a:avLst/>
          </a:prstGeom>
          <a:noFill/>
        </p:spPr>
        <p:txBody>
          <a:bodyPr wrap="square" lIns="0" rIns="0" tIns="0" bIns="0" anchor="t">
            <a:spAutoFit/>
          </a:bodyPr>
          <a:lstStyle/>
          <a:p>
            <a:pPr algn="l"/>
            <a:r>
              <a:rPr sz="1300" b="0" i="0">
                <a:solidFill>
                  <a:srgbClr val="555555"/>
                </a:solidFill>
                <a:latin typeface="Inter"/>
              </a:rPr>
              <a:t>100+ times a day</a:t>
            </a:r>
          </a:p>
        </p:txBody>
      </p:sp>
      <p:cxnSp>
        <p:nvCxnSpPr>
          <p:cNvPr id="19" name="Connector 18"/>
          <p:cNvCxnSpPr/>
          <p:nvPr/>
        </p:nvCxnSpPr>
        <p:spPr>
          <a:xfrm>
            <a:off x="7315200" y="5166360"/>
            <a:ext cx="4572000" cy="0"/>
          </a:xfrm>
          <a:prstGeom prst="line">
            <a:avLst/>
          </a:prstGeom>
          <a:ln w="3810">
            <a:solidFill>
              <a:srgbClr val="5555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0" y="5303520"/>
            <a:ext cx="2011680" cy="365760"/>
          </a:xfrm>
          <a:prstGeom prst="rect">
            <a:avLst/>
          </a:prstGeom>
          <a:noFill/>
        </p:spPr>
        <p:txBody>
          <a:bodyPr wrap="square" lIns="0" rIns="0" tIns="0" bIns="0" anchor="t">
            <a:spAutoFit/>
          </a:bodyPr>
          <a:lstStyle/>
          <a:p>
            <a:pPr algn="l"/>
            <a:r>
              <a:rPr sz="1800" b="0" i="0">
                <a:solidFill>
                  <a:srgbClr val="1B1B1B"/>
                </a:solidFill>
                <a:latin typeface="DM Serif Display"/>
              </a:rPr>
              <a:t>Most addictive</a:t>
            </a:r>
          </a:p>
        </p:txBody>
      </p:sp>
      <p:sp>
        <p:nvSpPr>
          <p:cNvPr id="21" name="TextBox 20"/>
          <p:cNvSpPr txBox="1"/>
          <p:nvPr/>
        </p:nvSpPr>
        <p:spPr>
          <a:xfrm>
            <a:off x="9326880" y="5349240"/>
            <a:ext cx="2743200" cy="365760"/>
          </a:xfrm>
          <a:prstGeom prst="rect">
            <a:avLst/>
          </a:prstGeom>
          <a:noFill/>
        </p:spPr>
        <p:txBody>
          <a:bodyPr wrap="square" lIns="0" rIns="0" tIns="0" bIns="0" anchor="t">
            <a:spAutoFit/>
          </a:bodyPr>
          <a:lstStyle/>
          <a:p>
            <a:pPr algn="l"/>
            <a:r>
              <a:rPr sz="1300" b="0" i="0">
                <a:solidFill>
                  <a:srgbClr val="555555"/>
                </a:solidFill>
                <a:latin typeface="Inter"/>
              </a:rPr>
              <a:t>TikTok &amp; Instagram Reels</a:t>
            </a:r>
          </a:p>
        </p:txBody>
      </p:sp>
      <p:cxnSp>
        <p:nvCxnSpPr>
          <p:cNvPr id="22" name="Connector 21"/>
          <p:cNvCxnSpPr/>
          <p:nvPr/>
        </p:nvCxnSpPr>
        <p:spPr>
          <a:xfrm>
            <a:off x="7315200" y="5806440"/>
            <a:ext cx="4572000" cy="0"/>
          </a:xfrm>
          <a:prstGeom prst="line">
            <a:avLst/>
          </a:prstGeom>
          <a:ln w="381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25" name="TextBox 24"/>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07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F25F4C"/>
                </a:solidFill>
                <a:latin typeface="Inter"/>
              </a:rPr>
              <a:t>07</a:t>
            </a:r>
          </a:p>
        </p:txBody>
      </p:sp>
      <p:cxnSp>
        <p:nvCxnSpPr>
          <p:cNvPr id="4" name="Connector 3"/>
          <p:cNvCxnSpPr/>
          <p:nvPr/>
        </p:nvCxnSpPr>
        <p:spPr>
          <a:xfrm>
            <a:off x="1280160" y="713232"/>
            <a:ext cx="9144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F25F4C"/>
                </a:solidFill>
                <a:latin typeface="Inter"/>
              </a:rPr>
              <a:t>MENTAL HEALTH</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lnSpc>
                <a:spcPct val="100000"/>
              </a:lnSpc>
            </a:pPr>
            <a:r>
              <a:rPr sz="4200" b="0" i="0">
                <a:solidFill>
                  <a:srgbClr val="FFFFFF"/>
                </a:solidFill>
                <a:latin typeface="DM Serif Display"/>
              </a:rPr>
              <a:t>Likes feel good.</a:t>
            </a:r>
          </a:p>
          <a:p>
            <a:pPr algn="l">
              <a:lnSpc>
                <a:spcPct val="100000"/>
              </a:lnSpc>
            </a:pPr>
            <a:r>
              <a:rPr sz="4200" b="0" i="0">
                <a:solidFill>
                  <a:srgbClr val="FFFFFF"/>
                </a:solidFill>
                <a:latin typeface="DM Serif Display"/>
              </a:rPr>
              <a:t>Until they don't.</a:t>
            </a:r>
          </a:p>
        </p:txBody>
      </p:sp>
      <p:sp>
        <p:nvSpPr>
          <p:cNvPr id="7" name="TextBox 6"/>
          <p:cNvSpPr txBox="1"/>
          <p:nvPr/>
        </p:nvSpPr>
        <p:spPr>
          <a:xfrm>
            <a:off x="640080" y="3108960"/>
            <a:ext cx="5943600" cy="2743200"/>
          </a:xfrm>
          <a:prstGeom prst="rect">
            <a:avLst/>
          </a:prstGeom>
          <a:noFill/>
        </p:spPr>
        <p:txBody>
          <a:bodyPr wrap="square" lIns="0" rIns="0" tIns="0" bIns="0" anchor="ctr">
            <a:spAutoFit/>
          </a:bodyPr>
          <a:lstStyle/>
          <a:p>
            <a:pPr algn="l"/>
            <a:r>
              <a:rPr sz="20000" b="0" i="0">
                <a:solidFill>
                  <a:srgbClr val="F25F4C"/>
                </a:solidFill>
                <a:latin typeface="DM Serif Display"/>
              </a:rPr>
              <a:t>+27%</a:t>
            </a:r>
          </a:p>
        </p:txBody>
      </p:sp>
      <p:sp>
        <p:nvSpPr>
          <p:cNvPr id="8" name="TextBox 7"/>
          <p:cNvSpPr txBox="1"/>
          <p:nvPr/>
        </p:nvSpPr>
        <p:spPr>
          <a:xfrm>
            <a:off x="640080" y="5943600"/>
            <a:ext cx="5943600" cy="365760"/>
          </a:xfrm>
          <a:prstGeom prst="rect">
            <a:avLst/>
          </a:prstGeom>
          <a:noFill/>
        </p:spPr>
        <p:txBody>
          <a:bodyPr wrap="square" lIns="0" rIns="0" tIns="0" bIns="0" anchor="t">
            <a:spAutoFit/>
          </a:bodyPr>
          <a:lstStyle/>
          <a:p>
            <a:pPr algn="l"/>
            <a:r>
              <a:rPr sz="1200" b="0" i="1">
                <a:solidFill>
                  <a:srgbClr val="D9C4A6"/>
                </a:solidFill>
                <a:latin typeface="Inter"/>
              </a:rPr>
              <a:t>rise in teen depression, 2010–2020 · CDC, 2021</a:t>
            </a:r>
          </a:p>
        </p:txBody>
      </p:sp>
      <p:sp>
        <p:nvSpPr>
          <p:cNvPr id="9" name="TextBox 8"/>
          <p:cNvSpPr txBox="1"/>
          <p:nvPr/>
        </p:nvSpPr>
        <p:spPr>
          <a:xfrm>
            <a:off x="7315200" y="3108960"/>
            <a:ext cx="4114800" cy="457200"/>
          </a:xfrm>
          <a:prstGeom prst="rect">
            <a:avLst/>
          </a:prstGeom>
          <a:noFill/>
        </p:spPr>
        <p:txBody>
          <a:bodyPr wrap="square" lIns="0" rIns="0" tIns="0" bIns="0" anchor="t">
            <a:spAutoFit/>
          </a:bodyPr>
          <a:lstStyle/>
          <a:p>
            <a:pPr algn="l"/>
            <a:r>
              <a:rPr sz="1200" b="1" i="0">
                <a:solidFill>
                  <a:srgbClr val="F25F4C"/>
                </a:solidFill>
                <a:latin typeface="Inter"/>
              </a:rPr>
              <a:t>Common effects</a:t>
            </a:r>
          </a:p>
        </p:txBody>
      </p:sp>
      <p:cxnSp>
        <p:nvCxnSpPr>
          <p:cNvPr id="10" name="Connector 9"/>
          <p:cNvCxnSpPr/>
          <p:nvPr/>
        </p:nvCxnSpPr>
        <p:spPr>
          <a:xfrm>
            <a:off x="7315200" y="3429000"/>
            <a:ext cx="18288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0" y="3657600"/>
            <a:ext cx="274320" cy="365760"/>
          </a:xfrm>
          <a:prstGeom prst="rect">
            <a:avLst/>
          </a:prstGeom>
          <a:noFill/>
        </p:spPr>
        <p:txBody>
          <a:bodyPr wrap="square" lIns="0" rIns="0" tIns="0" bIns="0" anchor="t">
            <a:spAutoFit/>
          </a:bodyPr>
          <a:lstStyle/>
          <a:p>
            <a:pPr algn="l"/>
            <a:r>
              <a:rPr sz="1400" b="1" i="0">
                <a:solidFill>
                  <a:srgbClr val="F25F4C"/>
                </a:solidFill>
                <a:latin typeface="Inter"/>
              </a:rPr>
              <a:t>—</a:t>
            </a:r>
          </a:p>
        </p:txBody>
      </p:sp>
      <p:sp>
        <p:nvSpPr>
          <p:cNvPr id="12" name="TextBox 11"/>
          <p:cNvSpPr txBox="1"/>
          <p:nvPr/>
        </p:nvSpPr>
        <p:spPr>
          <a:xfrm>
            <a:off x="7680960" y="3657600"/>
            <a:ext cx="4114800" cy="457200"/>
          </a:xfrm>
          <a:prstGeom prst="rect">
            <a:avLst/>
          </a:prstGeom>
          <a:noFill/>
        </p:spPr>
        <p:txBody>
          <a:bodyPr wrap="square" lIns="0" rIns="0" tIns="0" bIns="0" anchor="t">
            <a:spAutoFit/>
          </a:bodyPr>
          <a:lstStyle/>
          <a:p>
            <a:pPr algn="l"/>
            <a:r>
              <a:rPr sz="1400" b="0" i="0">
                <a:solidFill>
                  <a:srgbClr val="FFFFFF"/>
                </a:solidFill>
                <a:latin typeface="Inter"/>
              </a:rPr>
              <a:t>Higher risk of anxiety.</a:t>
            </a:r>
          </a:p>
        </p:txBody>
      </p:sp>
      <p:sp>
        <p:nvSpPr>
          <p:cNvPr id="13" name="TextBox 12"/>
          <p:cNvSpPr txBox="1"/>
          <p:nvPr/>
        </p:nvSpPr>
        <p:spPr>
          <a:xfrm>
            <a:off x="7315200" y="4160520"/>
            <a:ext cx="274320" cy="365760"/>
          </a:xfrm>
          <a:prstGeom prst="rect">
            <a:avLst/>
          </a:prstGeom>
          <a:noFill/>
        </p:spPr>
        <p:txBody>
          <a:bodyPr wrap="square" lIns="0" rIns="0" tIns="0" bIns="0" anchor="t">
            <a:spAutoFit/>
          </a:bodyPr>
          <a:lstStyle/>
          <a:p>
            <a:pPr algn="l"/>
            <a:r>
              <a:rPr sz="1400" b="1" i="0">
                <a:solidFill>
                  <a:srgbClr val="F25F4C"/>
                </a:solidFill>
                <a:latin typeface="Inter"/>
              </a:rPr>
              <a:t>—</a:t>
            </a:r>
          </a:p>
        </p:txBody>
      </p:sp>
      <p:sp>
        <p:nvSpPr>
          <p:cNvPr id="14" name="TextBox 13"/>
          <p:cNvSpPr txBox="1"/>
          <p:nvPr/>
        </p:nvSpPr>
        <p:spPr>
          <a:xfrm>
            <a:off x="7680960" y="4160520"/>
            <a:ext cx="4114800" cy="457200"/>
          </a:xfrm>
          <a:prstGeom prst="rect">
            <a:avLst/>
          </a:prstGeom>
          <a:noFill/>
        </p:spPr>
        <p:txBody>
          <a:bodyPr wrap="square" lIns="0" rIns="0" tIns="0" bIns="0" anchor="t">
            <a:spAutoFit/>
          </a:bodyPr>
          <a:lstStyle/>
          <a:p>
            <a:pPr algn="l"/>
            <a:r>
              <a:rPr sz="1400" b="0" i="0">
                <a:solidFill>
                  <a:srgbClr val="FFFFFF"/>
                </a:solidFill>
                <a:latin typeface="Inter"/>
              </a:rPr>
              <a:t>More depression in teens.</a:t>
            </a:r>
          </a:p>
        </p:txBody>
      </p:sp>
      <p:sp>
        <p:nvSpPr>
          <p:cNvPr id="15" name="TextBox 14"/>
          <p:cNvSpPr txBox="1"/>
          <p:nvPr/>
        </p:nvSpPr>
        <p:spPr>
          <a:xfrm>
            <a:off x="7315200" y="4663440"/>
            <a:ext cx="274320" cy="365760"/>
          </a:xfrm>
          <a:prstGeom prst="rect">
            <a:avLst/>
          </a:prstGeom>
          <a:noFill/>
        </p:spPr>
        <p:txBody>
          <a:bodyPr wrap="square" lIns="0" rIns="0" tIns="0" bIns="0" anchor="t">
            <a:spAutoFit/>
          </a:bodyPr>
          <a:lstStyle/>
          <a:p>
            <a:pPr algn="l"/>
            <a:r>
              <a:rPr sz="1400" b="1" i="0">
                <a:solidFill>
                  <a:srgbClr val="F25F4C"/>
                </a:solidFill>
                <a:latin typeface="Inter"/>
              </a:rPr>
              <a:t>—</a:t>
            </a:r>
          </a:p>
        </p:txBody>
      </p:sp>
      <p:sp>
        <p:nvSpPr>
          <p:cNvPr id="16" name="TextBox 15"/>
          <p:cNvSpPr txBox="1"/>
          <p:nvPr/>
        </p:nvSpPr>
        <p:spPr>
          <a:xfrm>
            <a:off x="7680960" y="4663440"/>
            <a:ext cx="4114800" cy="457200"/>
          </a:xfrm>
          <a:prstGeom prst="rect">
            <a:avLst/>
          </a:prstGeom>
          <a:noFill/>
        </p:spPr>
        <p:txBody>
          <a:bodyPr wrap="square" lIns="0" rIns="0" tIns="0" bIns="0" anchor="t">
            <a:spAutoFit/>
          </a:bodyPr>
          <a:lstStyle/>
          <a:p>
            <a:pPr algn="l"/>
            <a:r>
              <a:rPr sz="1400" b="0" i="0">
                <a:solidFill>
                  <a:srgbClr val="FFFFFF"/>
                </a:solidFill>
                <a:latin typeface="Inter"/>
              </a:rPr>
              <a:t>Low self-esteem from comparison.</a:t>
            </a:r>
          </a:p>
        </p:txBody>
      </p:sp>
      <p:sp>
        <p:nvSpPr>
          <p:cNvPr id="17" name="TextBox 16"/>
          <p:cNvSpPr txBox="1"/>
          <p:nvPr/>
        </p:nvSpPr>
        <p:spPr>
          <a:xfrm>
            <a:off x="7315200" y="5166360"/>
            <a:ext cx="274320" cy="365760"/>
          </a:xfrm>
          <a:prstGeom prst="rect">
            <a:avLst/>
          </a:prstGeom>
          <a:noFill/>
        </p:spPr>
        <p:txBody>
          <a:bodyPr wrap="square" lIns="0" rIns="0" tIns="0" bIns="0" anchor="t">
            <a:spAutoFit/>
          </a:bodyPr>
          <a:lstStyle/>
          <a:p>
            <a:pPr algn="l"/>
            <a:r>
              <a:rPr sz="1400" b="1" i="0">
                <a:solidFill>
                  <a:srgbClr val="F25F4C"/>
                </a:solidFill>
                <a:latin typeface="Inter"/>
              </a:rPr>
              <a:t>—</a:t>
            </a:r>
          </a:p>
        </p:txBody>
      </p:sp>
      <p:sp>
        <p:nvSpPr>
          <p:cNvPr id="18" name="TextBox 17"/>
          <p:cNvSpPr txBox="1"/>
          <p:nvPr/>
        </p:nvSpPr>
        <p:spPr>
          <a:xfrm>
            <a:off x="7680960" y="5166360"/>
            <a:ext cx="4114800" cy="457200"/>
          </a:xfrm>
          <a:prstGeom prst="rect">
            <a:avLst/>
          </a:prstGeom>
          <a:noFill/>
        </p:spPr>
        <p:txBody>
          <a:bodyPr wrap="square" lIns="0" rIns="0" tIns="0" bIns="0" anchor="t">
            <a:spAutoFit/>
          </a:bodyPr>
          <a:lstStyle/>
          <a:p>
            <a:pPr algn="l"/>
            <a:r>
              <a:rPr sz="1400" b="0" i="0">
                <a:solidFill>
                  <a:srgbClr val="FFFFFF"/>
                </a:solidFill>
                <a:latin typeface="Inter"/>
              </a:rPr>
              <a:t>Sleep problems.</a:t>
            </a:r>
          </a:p>
        </p:txBody>
      </p:sp>
      <p:sp>
        <p:nvSpPr>
          <p:cNvPr id="19" name="TextBox 18"/>
          <p:cNvSpPr txBox="1"/>
          <p:nvPr/>
        </p:nvSpPr>
        <p:spPr>
          <a:xfrm>
            <a:off x="7315200" y="5669280"/>
            <a:ext cx="274320" cy="365760"/>
          </a:xfrm>
          <a:prstGeom prst="rect">
            <a:avLst/>
          </a:prstGeom>
          <a:noFill/>
        </p:spPr>
        <p:txBody>
          <a:bodyPr wrap="square" lIns="0" rIns="0" tIns="0" bIns="0" anchor="t">
            <a:spAutoFit/>
          </a:bodyPr>
          <a:lstStyle/>
          <a:p>
            <a:pPr algn="l"/>
            <a:r>
              <a:rPr sz="1400" b="1" i="0">
                <a:solidFill>
                  <a:srgbClr val="F25F4C"/>
                </a:solidFill>
                <a:latin typeface="Inter"/>
              </a:rPr>
              <a:t>—</a:t>
            </a:r>
          </a:p>
        </p:txBody>
      </p:sp>
      <p:sp>
        <p:nvSpPr>
          <p:cNvPr id="20" name="TextBox 19"/>
          <p:cNvSpPr txBox="1"/>
          <p:nvPr/>
        </p:nvSpPr>
        <p:spPr>
          <a:xfrm>
            <a:off x="7680960" y="5669280"/>
            <a:ext cx="4114800" cy="457200"/>
          </a:xfrm>
          <a:prstGeom prst="rect">
            <a:avLst/>
          </a:prstGeom>
          <a:noFill/>
        </p:spPr>
        <p:txBody>
          <a:bodyPr wrap="square" lIns="0" rIns="0" tIns="0" bIns="0" anchor="t">
            <a:spAutoFit/>
          </a:bodyPr>
          <a:lstStyle/>
          <a:p>
            <a:pPr algn="l"/>
            <a:r>
              <a:rPr sz="1400" b="0" i="0">
                <a:solidFill>
                  <a:srgbClr val="FFFFFF"/>
                </a:solidFill>
                <a:latin typeface="Inter"/>
              </a:rPr>
              <a:t>FOMO — fear of missing out.</a:t>
            </a:r>
          </a:p>
        </p:txBody>
      </p:sp>
      <p:cxnSp>
        <p:nvCxnSpPr>
          <p:cNvPr id="21" name="Connector 20"/>
          <p:cNvCxnSpPr/>
          <p:nvPr/>
        </p:nvCxnSpPr>
        <p:spPr>
          <a:xfrm>
            <a:off x="640080" y="6355080"/>
            <a:ext cx="10911535" cy="0"/>
          </a:xfrm>
          <a:prstGeom prst="line">
            <a:avLst/>
          </a:prstGeom>
          <a:ln w="6350">
            <a:solidFill>
              <a:srgbClr val="D9C4A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D9C4A6"/>
                </a:solidFill>
                <a:latin typeface="Inter"/>
              </a:rPr>
              <a:t>Social Media Influence on People  ·  Anastasia Mogileva  ·  2026</a:t>
            </a:r>
          </a:p>
        </p:txBody>
      </p:sp>
      <p:sp>
        <p:nvSpPr>
          <p:cNvPr id="23" name="TextBox 22"/>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D9C4A6"/>
                </a:solidFill>
                <a:latin typeface="Inter"/>
              </a:rPr>
              <a:t>— 08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914400" cy="274320"/>
          </a:xfrm>
          <a:prstGeom prst="rect">
            <a:avLst/>
          </a:prstGeom>
          <a:noFill/>
        </p:spPr>
        <p:txBody>
          <a:bodyPr wrap="square" lIns="0" rIns="0" tIns="0" bIns="0" anchor="t">
            <a:spAutoFit/>
          </a:bodyPr>
          <a:lstStyle/>
          <a:p>
            <a:pPr algn="l"/>
            <a:r>
              <a:rPr sz="1200" b="1" i="0">
                <a:solidFill>
                  <a:srgbClr val="6B7A3A"/>
                </a:solidFill>
                <a:latin typeface="Inter"/>
              </a:rPr>
              <a:t>08</a:t>
            </a:r>
          </a:p>
        </p:txBody>
      </p:sp>
      <p:cxnSp>
        <p:nvCxnSpPr>
          <p:cNvPr id="4" name="Connector 3"/>
          <p:cNvCxnSpPr/>
          <p:nvPr/>
        </p:nvCxnSpPr>
        <p:spPr>
          <a:xfrm>
            <a:off x="1280160" y="713232"/>
            <a:ext cx="914400" cy="0"/>
          </a:xfrm>
          <a:prstGeom prst="line">
            <a:avLst/>
          </a:prstGeom>
          <a:ln w="12700">
            <a:solidFill>
              <a:srgbClr val="6B7A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331720" y="548640"/>
            <a:ext cx="7315200" cy="274320"/>
          </a:xfrm>
          <a:prstGeom prst="rect">
            <a:avLst/>
          </a:prstGeom>
          <a:noFill/>
        </p:spPr>
        <p:txBody>
          <a:bodyPr wrap="square" lIns="0" rIns="0" tIns="0" bIns="0" anchor="t">
            <a:spAutoFit/>
          </a:bodyPr>
          <a:lstStyle/>
          <a:p>
            <a:pPr algn="l"/>
            <a:r>
              <a:rPr sz="1200" b="1" i="0">
                <a:solidFill>
                  <a:srgbClr val="6B7A3A"/>
                </a:solidFill>
                <a:latin typeface="Inter"/>
              </a:rPr>
              <a:t>TAKE CONTROL</a:t>
            </a:r>
          </a:p>
        </p:txBody>
      </p:sp>
      <p:sp>
        <p:nvSpPr>
          <p:cNvPr id="6" name="TextBox 5"/>
          <p:cNvSpPr txBox="1"/>
          <p:nvPr/>
        </p:nvSpPr>
        <p:spPr>
          <a:xfrm>
            <a:off x="640080" y="1097280"/>
            <a:ext cx="10058400" cy="1280160"/>
          </a:xfrm>
          <a:prstGeom prst="rect">
            <a:avLst/>
          </a:prstGeom>
          <a:noFill/>
        </p:spPr>
        <p:txBody>
          <a:bodyPr wrap="square" lIns="0" rIns="0" tIns="0" bIns="0" anchor="t">
            <a:spAutoFit/>
          </a:bodyPr>
          <a:lstStyle/>
          <a:p>
            <a:pPr algn="l"/>
            <a:r>
              <a:rPr sz="4400" b="0" i="0">
                <a:solidFill>
                  <a:srgbClr val="1B1B1B"/>
                </a:solidFill>
                <a:latin typeface="DM Serif Display"/>
              </a:rPr>
              <a:t>Six small habits.</a:t>
            </a:r>
          </a:p>
        </p:txBody>
      </p:sp>
      <p:sp>
        <p:nvSpPr>
          <p:cNvPr id="7" name="TextBox 6"/>
          <p:cNvSpPr txBox="1"/>
          <p:nvPr/>
        </p:nvSpPr>
        <p:spPr>
          <a:xfrm>
            <a:off x="640080" y="2286000"/>
            <a:ext cx="10058400" cy="365760"/>
          </a:xfrm>
          <a:prstGeom prst="rect">
            <a:avLst/>
          </a:prstGeom>
          <a:noFill/>
        </p:spPr>
        <p:txBody>
          <a:bodyPr wrap="square" lIns="0" rIns="0" tIns="0" bIns="0" anchor="t">
            <a:spAutoFit/>
          </a:bodyPr>
          <a:lstStyle/>
          <a:p>
            <a:pPr algn="l"/>
            <a:r>
              <a:rPr sz="1400" b="0" i="1">
                <a:solidFill>
                  <a:srgbClr val="555555"/>
                </a:solidFill>
                <a:latin typeface="Inter"/>
              </a:rPr>
              <a:t>Tiny daily changes that bring back your attention.</a:t>
            </a:r>
          </a:p>
        </p:txBody>
      </p:sp>
      <p:sp>
        <p:nvSpPr>
          <p:cNvPr id="8" name="Rounded Rectangle 7"/>
          <p:cNvSpPr/>
          <p:nvPr/>
        </p:nvSpPr>
        <p:spPr>
          <a:xfrm>
            <a:off x="640080" y="2926080"/>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108960"/>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108960"/>
            <a:ext cx="548640" cy="457200"/>
          </a:xfrm>
          <a:prstGeom prst="rect">
            <a:avLst/>
          </a:prstGeom>
          <a:noFill/>
        </p:spPr>
        <p:txBody>
          <a:bodyPr wrap="square" lIns="0" rIns="0" tIns="0" bIns="0" anchor="ctr">
            <a:spAutoFit/>
          </a:bodyPr>
          <a:lstStyle/>
          <a:p>
            <a:pPr algn="ctr"/>
            <a:r>
              <a:rPr sz="1100" b="1" i="0">
                <a:solidFill>
                  <a:srgbClr val="FFFFFF"/>
                </a:solidFill>
                <a:latin typeface="Inter"/>
              </a:rPr>
              <a:t>01</a:t>
            </a:r>
          </a:p>
        </p:txBody>
      </p:sp>
      <p:sp>
        <p:nvSpPr>
          <p:cNvPr id="11" name="TextBox 10"/>
          <p:cNvSpPr txBox="1"/>
          <p:nvPr/>
        </p:nvSpPr>
        <p:spPr>
          <a:xfrm>
            <a:off x="1463040" y="3108960"/>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Set a daily time limit.</a:t>
            </a:r>
          </a:p>
        </p:txBody>
      </p:sp>
      <p:sp>
        <p:nvSpPr>
          <p:cNvPr id="12" name="TextBox 11"/>
          <p:cNvSpPr txBox="1"/>
          <p:nvPr/>
        </p:nvSpPr>
        <p:spPr>
          <a:xfrm>
            <a:off x="1463040" y="3611880"/>
            <a:ext cx="2743200" cy="640080"/>
          </a:xfrm>
          <a:prstGeom prst="rect">
            <a:avLst/>
          </a:prstGeom>
          <a:noFill/>
        </p:spPr>
        <p:txBody>
          <a:bodyPr wrap="square" lIns="0" rIns="0" tIns="0" bIns="0" anchor="t">
            <a:spAutoFit/>
          </a:bodyPr>
          <a:lstStyle/>
          <a:p>
            <a:pPr algn="l"/>
            <a:r>
              <a:rPr sz="1200" b="0" i="0">
                <a:solidFill>
                  <a:srgbClr val="555555"/>
                </a:solidFill>
                <a:latin typeface="Inter"/>
              </a:rPr>
              <a:t>Every phone has this option.</a:t>
            </a:r>
          </a:p>
        </p:txBody>
      </p:sp>
      <p:sp>
        <p:nvSpPr>
          <p:cNvPr id="13" name="Rounded Rectangle 12"/>
          <p:cNvSpPr/>
          <p:nvPr/>
        </p:nvSpPr>
        <p:spPr>
          <a:xfrm>
            <a:off x="4462272" y="2926080"/>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45152" y="3108960"/>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3108960"/>
            <a:ext cx="548640" cy="457200"/>
          </a:xfrm>
          <a:prstGeom prst="rect">
            <a:avLst/>
          </a:prstGeom>
          <a:noFill/>
        </p:spPr>
        <p:txBody>
          <a:bodyPr wrap="square" lIns="0" rIns="0" tIns="0" bIns="0" anchor="ctr">
            <a:spAutoFit/>
          </a:bodyPr>
          <a:lstStyle/>
          <a:p>
            <a:pPr algn="ctr"/>
            <a:r>
              <a:rPr sz="1100" b="1" i="0">
                <a:solidFill>
                  <a:srgbClr val="FFFFFF"/>
                </a:solidFill>
                <a:latin typeface="Inter"/>
              </a:rPr>
              <a:t>02</a:t>
            </a:r>
          </a:p>
        </p:txBody>
      </p:sp>
      <p:sp>
        <p:nvSpPr>
          <p:cNvPr id="16" name="TextBox 15"/>
          <p:cNvSpPr txBox="1"/>
          <p:nvPr/>
        </p:nvSpPr>
        <p:spPr>
          <a:xfrm>
            <a:off x="5285232" y="3108960"/>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Turn off notifications.</a:t>
            </a:r>
          </a:p>
        </p:txBody>
      </p:sp>
      <p:sp>
        <p:nvSpPr>
          <p:cNvPr id="17" name="TextBox 16"/>
          <p:cNvSpPr txBox="1"/>
          <p:nvPr/>
        </p:nvSpPr>
        <p:spPr>
          <a:xfrm>
            <a:off x="5285232" y="3611880"/>
            <a:ext cx="2743200" cy="640080"/>
          </a:xfrm>
          <a:prstGeom prst="rect">
            <a:avLst/>
          </a:prstGeom>
          <a:noFill/>
        </p:spPr>
        <p:txBody>
          <a:bodyPr wrap="square" lIns="0" rIns="0" tIns="0" bIns="0" anchor="t">
            <a:spAutoFit/>
          </a:bodyPr>
          <a:lstStyle/>
          <a:p>
            <a:pPr algn="l"/>
            <a:r>
              <a:rPr sz="1200" b="0" i="0">
                <a:solidFill>
                  <a:srgbClr val="555555"/>
                </a:solidFill>
                <a:latin typeface="Inter"/>
              </a:rPr>
              <a:t>They break your focus.</a:t>
            </a:r>
          </a:p>
        </p:txBody>
      </p:sp>
      <p:sp>
        <p:nvSpPr>
          <p:cNvPr id="18" name="Rounded Rectangle 17"/>
          <p:cNvSpPr/>
          <p:nvPr/>
        </p:nvSpPr>
        <p:spPr>
          <a:xfrm>
            <a:off x="8284464" y="2926080"/>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67344" y="3108960"/>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4" y="3108960"/>
            <a:ext cx="548640" cy="457200"/>
          </a:xfrm>
          <a:prstGeom prst="rect">
            <a:avLst/>
          </a:prstGeom>
          <a:noFill/>
        </p:spPr>
        <p:txBody>
          <a:bodyPr wrap="square" lIns="0" rIns="0" tIns="0" bIns="0" anchor="ctr">
            <a:spAutoFit/>
          </a:bodyPr>
          <a:lstStyle/>
          <a:p>
            <a:pPr algn="ctr"/>
            <a:r>
              <a:rPr sz="1100" b="1" i="0">
                <a:solidFill>
                  <a:srgbClr val="FFFFFF"/>
                </a:solidFill>
                <a:latin typeface="Inter"/>
              </a:rPr>
              <a:t>03</a:t>
            </a:r>
          </a:p>
        </p:txBody>
      </p:sp>
      <p:sp>
        <p:nvSpPr>
          <p:cNvPr id="21" name="TextBox 20"/>
          <p:cNvSpPr txBox="1"/>
          <p:nvPr/>
        </p:nvSpPr>
        <p:spPr>
          <a:xfrm>
            <a:off x="9107424" y="3108960"/>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Follow positive accounts.</a:t>
            </a:r>
          </a:p>
        </p:txBody>
      </p:sp>
      <p:sp>
        <p:nvSpPr>
          <p:cNvPr id="22" name="TextBox 21"/>
          <p:cNvSpPr txBox="1"/>
          <p:nvPr/>
        </p:nvSpPr>
        <p:spPr>
          <a:xfrm>
            <a:off x="9107424" y="3611880"/>
            <a:ext cx="2743200" cy="640080"/>
          </a:xfrm>
          <a:prstGeom prst="rect">
            <a:avLst/>
          </a:prstGeom>
          <a:noFill/>
        </p:spPr>
        <p:txBody>
          <a:bodyPr wrap="square" lIns="0" rIns="0" tIns="0" bIns="0" anchor="t">
            <a:spAutoFit/>
          </a:bodyPr>
          <a:lstStyle/>
          <a:p>
            <a:pPr algn="l"/>
            <a:r>
              <a:rPr sz="1200" b="0" i="0">
                <a:solidFill>
                  <a:srgbClr val="555555"/>
                </a:solidFill>
                <a:latin typeface="Inter"/>
              </a:rPr>
              <a:t>Unfollow the rest.</a:t>
            </a:r>
          </a:p>
        </p:txBody>
      </p:sp>
      <p:sp>
        <p:nvSpPr>
          <p:cNvPr id="23" name="Rounded Rectangle 22"/>
          <p:cNvSpPr/>
          <p:nvPr/>
        </p:nvSpPr>
        <p:spPr>
          <a:xfrm>
            <a:off x="640080" y="4462272"/>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60" y="4645152"/>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645152"/>
            <a:ext cx="548640" cy="457200"/>
          </a:xfrm>
          <a:prstGeom prst="rect">
            <a:avLst/>
          </a:prstGeom>
          <a:noFill/>
        </p:spPr>
        <p:txBody>
          <a:bodyPr wrap="square" lIns="0" rIns="0" tIns="0" bIns="0" anchor="ctr">
            <a:spAutoFit/>
          </a:bodyPr>
          <a:lstStyle/>
          <a:p>
            <a:pPr algn="ctr"/>
            <a:r>
              <a:rPr sz="1100" b="1" i="0">
                <a:solidFill>
                  <a:srgbClr val="FFFFFF"/>
                </a:solidFill>
                <a:latin typeface="Inter"/>
              </a:rPr>
              <a:t>04</a:t>
            </a:r>
          </a:p>
        </p:txBody>
      </p:sp>
      <p:sp>
        <p:nvSpPr>
          <p:cNvPr id="26" name="TextBox 25"/>
          <p:cNvSpPr txBox="1"/>
          <p:nvPr/>
        </p:nvSpPr>
        <p:spPr>
          <a:xfrm>
            <a:off x="1463040" y="4645152"/>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Protect your personal data.</a:t>
            </a:r>
          </a:p>
        </p:txBody>
      </p:sp>
      <p:sp>
        <p:nvSpPr>
          <p:cNvPr id="27" name="TextBox 26"/>
          <p:cNvSpPr txBox="1"/>
          <p:nvPr/>
        </p:nvSpPr>
        <p:spPr>
          <a:xfrm>
            <a:off x="1463040" y="5148072"/>
            <a:ext cx="2743200" cy="640080"/>
          </a:xfrm>
          <a:prstGeom prst="rect">
            <a:avLst/>
          </a:prstGeom>
          <a:noFill/>
        </p:spPr>
        <p:txBody>
          <a:bodyPr wrap="square" lIns="0" rIns="0" tIns="0" bIns="0" anchor="t">
            <a:spAutoFit/>
          </a:bodyPr>
          <a:lstStyle/>
          <a:p>
            <a:pPr algn="l"/>
            <a:r>
              <a:rPr sz="1200" b="0" i="0">
                <a:solidFill>
                  <a:srgbClr val="555555"/>
                </a:solidFill>
                <a:latin typeface="Inter"/>
              </a:rPr>
              <a:t>Read what you share.</a:t>
            </a:r>
          </a:p>
        </p:txBody>
      </p:sp>
      <p:sp>
        <p:nvSpPr>
          <p:cNvPr id="28" name="Rounded Rectangle 27"/>
          <p:cNvSpPr/>
          <p:nvPr/>
        </p:nvSpPr>
        <p:spPr>
          <a:xfrm>
            <a:off x="4462272" y="4462272"/>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45152" y="4645152"/>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4645152"/>
            <a:ext cx="548640" cy="457200"/>
          </a:xfrm>
          <a:prstGeom prst="rect">
            <a:avLst/>
          </a:prstGeom>
          <a:noFill/>
        </p:spPr>
        <p:txBody>
          <a:bodyPr wrap="square" lIns="0" rIns="0" tIns="0" bIns="0" anchor="ctr">
            <a:spAutoFit/>
          </a:bodyPr>
          <a:lstStyle/>
          <a:p>
            <a:pPr algn="ctr"/>
            <a:r>
              <a:rPr sz="1100" b="1" i="0">
                <a:solidFill>
                  <a:srgbClr val="FFFFFF"/>
                </a:solidFill>
                <a:latin typeface="Inter"/>
              </a:rPr>
              <a:t>05</a:t>
            </a:r>
          </a:p>
        </p:txBody>
      </p:sp>
      <p:sp>
        <p:nvSpPr>
          <p:cNvPr id="31" name="TextBox 30"/>
          <p:cNvSpPr txBox="1"/>
          <p:nvPr/>
        </p:nvSpPr>
        <p:spPr>
          <a:xfrm>
            <a:off x="5285232" y="4645152"/>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Take a digital detox day.</a:t>
            </a:r>
          </a:p>
        </p:txBody>
      </p:sp>
      <p:sp>
        <p:nvSpPr>
          <p:cNvPr id="32" name="TextBox 31"/>
          <p:cNvSpPr txBox="1"/>
          <p:nvPr/>
        </p:nvSpPr>
        <p:spPr>
          <a:xfrm>
            <a:off x="5285232" y="5148072"/>
            <a:ext cx="2743200" cy="640080"/>
          </a:xfrm>
          <a:prstGeom prst="rect">
            <a:avLst/>
          </a:prstGeom>
          <a:noFill/>
        </p:spPr>
        <p:txBody>
          <a:bodyPr wrap="square" lIns="0" rIns="0" tIns="0" bIns="0" anchor="t">
            <a:spAutoFit/>
          </a:bodyPr>
          <a:lstStyle/>
          <a:p>
            <a:pPr algn="l"/>
            <a:r>
              <a:rPr sz="1200" b="0" i="0">
                <a:solidFill>
                  <a:srgbClr val="555555"/>
                </a:solidFill>
                <a:latin typeface="Inter"/>
              </a:rPr>
              <a:t>One day a week, no phone.</a:t>
            </a:r>
          </a:p>
        </p:txBody>
      </p:sp>
      <p:sp>
        <p:nvSpPr>
          <p:cNvPr id="33" name="Rounded Rectangle 32"/>
          <p:cNvSpPr/>
          <p:nvPr/>
        </p:nvSpPr>
        <p:spPr>
          <a:xfrm>
            <a:off x="8284464" y="4462272"/>
            <a:ext cx="3657600" cy="1371600"/>
          </a:xfrm>
          <a:prstGeom prst="roundRect">
            <a:avLst>
              <a:gd name="adj" fmla="val 6000"/>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7344" y="4645152"/>
            <a:ext cx="457200" cy="45720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7344" y="4645152"/>
            <a:ext cx="548640" cy="457200"/>
          </a:xfrm>
          <a:prstGeom prst="rect">
            <a:avLst/>
          </a:prstGeom>
          <a:noFill/>
        </p:spPr>
        <p:txBody>
          <a:bodyPr wrap="square" lIns="0" rIns="0" tIns="0" bIns="0" anchor="ctr">
            <a:spAutoFit/>
          </a:bodyPr>
          <a:lstStyle/>
          <a:p>
            <a:pPr algn="ctr"/>
            <a:r>
              <a:rPr sz="1100" b="1" i="0">
                <a:solidFill>
                  <a:srgbClr val="FFFFFF"/>
                </a:solidFill>
                <a:latin typeface="Inter"/>
              </a:rPr>
              <a:t>06</a:t>
            </a:r>
          </a:p>
        </p:txBody>
      </p:sp>
      <p:sp>
        <p:nvSpPr>
          <p:cNvPr id="36" name="TextBox 35"/>
          <p:cNvSpPr txBox="1"/>
          <p:nvPr/>
        </p:nvSpPr>
        <p:spPr>
          <a:xfrm>
            <a:off x="9107424" y="4645152"/>
            <a:ext cx="2743200" cy="457200"/>
          </a:xfrm>
          <a:prstGeom prst="rect">
            <a:avLst/>
          </a:prstGeom>
          <a:noFill/>
        </p:spPr>
        <p:txBody>
          <a:bodyPr wrap="square" lIns="0" rIns="0" tIns="0" bIns="0" anchor="t">
            <a:spAutoFit/>
          </a:bodyPr>
          <a:lstStyle/>
          <a:p>
            <a:pPr algn="l"/>
            <a:r>
              <a:rPr sz="1600" b="0" i="0">
                <a:solidFill>
                  <a:srgbClr val="1B1B1B"/>
                </a:solidFill>
                <a:latin typeface="DM Serif Display"/>
              </a:rPr>
              <a:t>Don't scroll before sleep.</a:t>
            </a:r>
          </a:p>
        </p:txBody>
      </p:sp>
      <p:sp>
        <p:nvSpPr>
          <p:cNvPr id="37" name="TextBox 36"/>
          <p:cNvSpPr txBox="1"/>
          <p:nvPr/>
        </p:nvSpPr>
        <p:spPr>
          <a:xfrm>
            <a:off x="9107424" y="5148072"/>
            <a:ext cx="2743200" cy="640080"/>
          </a:xfrm>
          <a:prstGeom prst="rect">
            <a:avLst/>
          </a:prstGeom>
          <a:noFill/>
        </p:spPr>
        <p:txBody>
          <a:bodyPr wrap="square" lIns="0" rIns="0" tIns="0" bIns="0" anchor="t">
            <a:spAutoFit/>
          </a:bodyPr>
          <a:lstStyle/>
          <a:p>
            <a:pPr algn="l"/>
            <a:r>
              <a:rPr sz="1200" b="0" i="0">
                <a:solidFill>
                  <a:srgbClr val="555555"/>
                </a:solidFill>
                <a:latin typeface="Inter"/>
              </a:rPr>
              <a:t>Use a book instead.</a:t>
            </a:r>
          </a:p>
        </p:txBody>
      </p:sp>
      <p:cxnSp>
        <p:nvCxnSpPr>
          <p:cNvPr id="38" name="Connector 37"/>
          <p:cNvCxnSpPr/>
          <p:nvPr/>
        </p:nvCxnSpPr>
        <p:spPr>
          <a:xfrm>
            <a:off x="640080" y="6355080"/>
            <a:ext cx="10911535"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6446520"/>
            <a:ext cx="7315200" cy="274320"/>
          </a:xfrm>
          <a:prstGeom prst="rect">
            <a:avLst/>
          </a:prstGeom>
          <a:noFill/>
        </p:spPr>
        <p:txBody>
          <a:bodyPr wrap="square" lIns="0" rIns="0" tIns="0" bIns="0" anchor="t">
            <a:spAutoFit/>
          </a:bodyPr>
          <a:lstStyle/>
          <a:p>
            <a:pPr algn="l"/>
            <a:r>
              <a:rPr sz="1000" b="0" i="0">
                <a:solidFill>
                  <a:srgbClr val="555555"/>
                </a:solidFill>
                <a:latin typeface="Inter"/>
              </a:rPr>
              <a:t>Social Media Influence on People  ·  Anastasia Mogileva  ·  2026</a:t>
            </a:r>
          </a:p>
        </p:txBody>
      </p:sp>
      <p:sp>
        <p:nvSpPr>
          <p:cNvPr id="40" name="TextBox 39"/>
          <p:cNvSpPr txBox="1"/>
          <p:nvPr/>
        </p:nvSpPr>
        <p:spPr>
          <a:xfrm>
            <a:off x="10362895" y="6446520"/>
            <a:ext cx="1280160" cy="274320"/>
          </a:xfrm>
          <a:prstGeom prst="rect">
            <a:avLst/>
          </a:prstGeom>
          <a:noFill/>
        </p:spPr>
        <p:txBody>
          <a:bodyPr wrap="square" lIns="0" rIns="0" tIns="0" bIns="0" anchor="t">
            <a:spAutoFit/>
          </a:bodyPr>
          <a:lstStyle/>
          <a:p>
            <a:pPr algn="r"/>
            <a:r>
              <a:rPr sz="1000" b="0" i="0">
                <a:solidFill>
                  <a:srgbClr val="555555"/>
                </a:solidFill>
                <a:latin typeface="Inter"/>
              </a:rPr>
              <a:t>— 09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7772400" cy="365760"/>
          </a:xfrm>
          <a:prstGeom prst="rect">
            <a:avLst/>
          </a:prstGeom>
          <a:noFill/>
        </p:spPr>
        <p:txBody>
          <a:bodyPr wrap="square" lIns="0" rIns="0" tIns="0" bIns="0" anchor="t">
            <a:spAutoFit/>
          </a:bodyPr>
          <a:lstStyle/>
          <a:p>
            <a:pPr algn="l"/>
            <a:r>
              <a:rPr sz="1200" b="1" i="0">
                <a:solidFill>
                  <a:srgbClr val="F25F4C"/>
                </a:solidFill>
                <a:latin typeface="Inter"/>
              </a:rPr>
              <a:t>CONCLUSION</a:t>
            </a:r>
          </a:p>
        </p:txBody>
      </p:sp>
      <p:cxnSp>
        <p:nvCxnSpPr>
          <p:cNvPr id="4" name="Connector 3"/>
          <p:cNvCxnSpPr/>
          <p:nvPr/>
        </p:nvCxnSpPr>
        <p:spPr>
          <a:xfrm>
            <a:off x="640080" y="1280160"/>
            <a:ext cx="182880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645920"/>
            <a:ext cx="7772400" cy="2743200"/>
          </a:xfrm>
          <a:prstGeom prst="rect">
            <a:avLst/>
          </a:prstGeom>
          <a:noFill/>
        </p:spPr>
        <p:txBody>
          <a:bodyPr wrap="square" lIns="0" rIns="0" tIns="0" bIns="0" anchor="t">
            <a:spAutoFit/>
          </a:bodyPr>
          <a:lstStyle/>
          <a:p>
            <a:pPr algn="l"/>
            <a:r>
              <a:rPr sz="11000" b="0" i="0">
                <a:solidFill>
                  <a:srgbClr val="1B1B1B"/>
                </a:solidFill>
                <a:latin typeface="DM Serif Display"/>
              </a:rPr>
              <a:t>Thank you.</a:t>
            </a:r>
          </a:p>
        </p:txBody>
      </p:sp>
      <p:sp>
        <p:nvSpPr>
          <p:cNvPr id="6" name="TextBox 5"/>
          <p:cNvSpPr txBox="1"/>
          <p:nvPr/>
        </p:nvSpPr>
        <p:spPr>
          <a:xfrm>
            <a:off x="640080" y="4206240"/>
            <a:ext cx="7772400" cy="1828800"/>
          </a:xfrm>
          <a:prstGeom prst="rect">
            <a:avLst/>
          </a:prstGeom>
          <a:noFill/>
        </p:spPr>
        <p:txBody>
          <a:bodyPr wrap="square" lIns="0" rIns="0" tIns="0" bIns="0" anchor="t">
            <a:spAutoFit/>
          </a:bodyPr>
          <a:lstStyle/>
          <a:p>
            <a:pPr algn="l">
              <a:lnSpc>
                <a:spcPct val="130000"/>
              </a:lnSpc>
            </a:pPr>
            <a:r>
              <a:rPr sz="2200" b="0" i="0">
                <a:solidFill>
                  <a:srgbClr val="555555"/>
                </a:solidFill>
                <a:latin typeface="DM Serif Display"/>
              </a:rPr>
              <a:t>Social media is a strong tool.</a:t>
            </a:r>
          </a:p>
          <a:p>
            <a:pPr algn="l">
              <a:lnSpc>
                <a:spcPct val="130000"/>
              </a:lnSpc>
            </a:pPr>
            <a:r>
              <a:rPr sz="2200" b="0" i="0">
                <a:solidFill>
                  <a:srgbClr val="555555"/>
                </a:solidFill>
                <a:latin typeface="DM Serif Display"/>
              </a:rPr>
              <a:t>It has good and bad sides.</a:t>
            </a:r>
          </a:p>
          <a:p>
            <a:pPr algn="l">
              <a:lnSpc>
                <a:spcPct val="130000"/>
              </a:lnSpc>
            </a:pPr>
            <a:r>
              <a:rPr sz="2200" b="0" i="0">
                <a:solidFill>
                  <a:srgbClr val="555555"/>
                </a:solidFill>
                <a:latin typeface="DM Serif Display"/>
              </a:rPr>
              <a:t>Balance is the answer.</a:t>
            </a:r>
          </a:p>
        </p:txBody>
      </p:sp>
      <p:sp>
        <p:nvSpPr>
          <p:cNvPr id="7" name="TextBox 6"/>
          <p:cNvSpPr txBox="1"/>
          <p:nvPr/>
        </p:nvSpPr>
        <p:spPr>
          <a:xfrm>
            <a:off x="640080" y="5943600"/>
            <a:ext cx="7315200" cy="365760"/>
          </a:xfrm>
          <a:prstGeom prst="rect">
            <a:avLst/>
          </a:prstGeom>
          <a:noFill/>
        </p:spPr>
        <p:txBody>
          <a:bodyPr wrap="square" lIns="0" rIns="0" tIns="0" bIns="0" anchor="t">
            <a:spAutoFit/>
          </a:bodyPr>
          <a:lstStyle/>
          <a:p>
            <a:pPr algn="l"/>
            <a:r>
              <a:rPr sz="1100" b="0" i="0">
                <a:solidFill>
                  <a:srgbClr val="555555"/>
                </a:solidFill>
                <a:latin typeface="Inter"/>
              </a:rPr>
              <a:t>Anastasia Mogileva  ·  University · Faculty · 2026</a:t>
            </a:r>
          </a:p>
        </p:txBody>
      </p:sp>
      <p:sp>
        <p:nvSpPr>
          <p:cNvPr id="8" name="Rectangle 7"/>
          <p:cNvSpPr/>
          <p:nvPr/>
        </p:nvSpPr>
        <p:spPr>
          <a:xfrm>
            <a:off x="8686800" y="0"/>
            <a:ext cx="3504895" cy="6858000"/>
          </a:xfrm>
          <a:prstGeom prst="rect">
            <a:avLst/>
          </a:prstGeom>
          <a:solidFill>
            <a:srgbClr val="1C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914400"/>
            <a:ext cx="3200400" cy="365760"/>
          </a:xfrm>
          <a:prstGeom prst="rect">
            <a:avLst/>
          </a:prstGeom>
          <a:noFill/>
        </p:spPr>
        <p:txBody>
          <a:bodyPr wrap="square" lIns="0" rIns="0" tIns="0" bIns="0" anchor="t">
            <a:spAutoFit/>
          </a:bodyPr>
          <a:lstStyle/>
          <a:p>
            <a:pPr algn="l"/>
            <a:r>
              <a:rPr sz="1200" b="1" i="0">
                <a:solidFill>
                  <a:srgbClr val="F25F4C"/>
                </a:solidFill>
                <a:latin typeface="Inter"/>
              </a:rPr>
              <a:t>QUESTIONS?</a:t>
            </a:r>
          </a:p>
        </p:txBody>
      </p:sp>
      <p:cxnSp>
        <p:nvCxnSpPr>
          <p:cNvPr id="10" name="Connector 9"/>
          <p:cNvCxnSpPr/>
          <p:nvPr/>
        </p:nvCxnSpPr>
        <p:spPr>
          <a:xfrm>
            <a:off x="8961120" y="1280160"/>
            <a:ext cx="109728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961120" y="1554480"/>
            <a:ext cx="3200400" cy="2286000"/>
          </a:xfrm>
          <a:prstGeom prst="rect">
            <a:avLst/>
          </a:prstGeom>
          <a:noFill/>
        </p:spPr>
        <p:txBody>
          <a:bodyPr wrap="square" lIns="0" rIns="0" tIns="0" bIns="0" anchor="t">
            <a:spAutoFit/>
          </a:bodyPr>
          <a:lstStyle/>
          <a:p>
            <a:pPr algn="l">
              <a:lnSpc>
                <a:spcPct val="100000"/>
              </a:lnSpc>
            </a:pPr>
            <a:r>
              <a:rPr sz="3200" b="0" i="0">
                <a:solidFill>
                  <a:srgbClr val="FFFFFF"/>
                </a:solidFill>
                <a:latin typeface="DM Serif Display"/>
              </a:rPr>
              <a:t>I'm happy</a:t>
            </a:r>
          </a:p>
          <a:p>
            <a:pPr algn="l">
              <a:lnSpc>
                <a:spcPct val="100000"/>
              </a:lnSpc>
            </a:pPr>
            <a:r>
              <a:rPr sz="3200" b="0" i="0">
                <a:solidFill>
                  <a:srgbClr val="FFFFFF"/>
                </a:solidFill>
                <a:latin typeface="DM Serif Display"/>
              </a:rPr>
              <a:t>to answer.</a:t>
            </a:r>
          </a:p>
        </p:txBody>
      </p:sp>
      <p:sp>
        <p:nvSpPr>
          <p:cNvPr id="12" name="TextBox 11"/>
          <p:cNvSpPr txBox="1"/>
          <p:nvPr/>
        </p:nvSpPr>
        <p:spPr>
          <a:xfrm>
            <a:off x="8961120" y="4114800"/>
            <a:ext cx="3200400" cy="365760"/>
          </a:xfrm>
          <a:prstGeom prst="rect">
            <a:avLst/>
          </a:prstGeom>
          <a:noFill/>
        </p:spPr>
        <p:txBody>
          <a:bodyPr wrap="square" lIns="0" rIns="0" tIns="0" bIns="0" anchor="t">
            <a:spAutoFit/>
          </a:bodyPr>
          <a:lstStyle/>
          <a:p>
            <a:pPr algn="l"/>
            <a:r>
              <a:rPr sz="1000" b="1" i="0">
                <a:solidFill>
                  <a:srgbClr val="F25F4C"/>
                </a:solidFill>
                <a:latin typeface="Inter"/>
              </a:rPr>
              <a:t>PLATFORMS MENTIONED</a:t>
            </a:r>
          </a:p>
        </p:txBody>
      </p:sp>
      <p:cxnSp>
        <p:nvCxnSpPr>
          <p:cNvPr id="13" name="Connector 12"/>
          <p:cNvCxnSpPr/>
          <p:nvPr/>
        </p:nvCxnSpPr>
        <p:spPr>
          <a:xfrm>
            <a:off x="8961120" y="4434840"/>
            <a:ext cx="1097280" cy="0"/>
          </a:xfrm>
          <a:prstGeom prst="line">
            <a:avLst/>
          </a:prstGeom>
          <a:ln w="12700">
            <a:solidFill>
              <a:srgbClr val="F25F4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0" y="4572000"/>
            <a:ext cx="3200400" cy="1371600"/>
          </a:xfrm>
          <a:prstGeom prst="rect">
            <a:avLst/>
          </a:prstGeom>
          <a:noFill/>
        </p:spPr>
        <p:txBody>
          <a:bodyPr wrap="square" lIns="0" rIns="0" tIns="0" bIns="0" anchor="t">
            <a:spAutoFit/>
          </a:bodyPr>
          <a:lstStyle/>
          <a:p>
            <a:pPr algn="l">
              <a:lnSpc>
                <a:spcPct val="140000"/>
              </a:lnSpc>
            </a:pPr>
            <a:r>
              <a:rPr sz="1400" b="0" i="0">
                <a:solidFill>
                  <a:srgbClr val="FFFFFF"/>
                </a:solidFill>
                <a:latin typeface="Inter"/>
              </a:rPr>
              <a:t>TikTok</a:t>
            </a:r>
          </a:p>
          <a:p>
            <a:pPr algn="l">
              <a:lnSpc>
                <a:spcPct val="140000"/>
              </a:lnSpc>
            </a:pPr>
            <a:r>
              <a:rPr sz="1400" b="0" i="0">
                <a:solidFill>
                  <a:srgbClr val="FFFFFF"/>
                </a:solidFill>
                <a:latin typeface="Inter"/>
              </a:rPr>
              <a:t>Instagram</a:t>
            </a:r>
          </a:p>
          <a:p>
            <a:pPr algn="l">
              <a:lnSpc>
                <a:spcPct val="140000"/>
              </a:lnSpc>
            </a:pPr>
            <a:r>
              <a:rPr sz="1400" b="0" i="0">
                <a:solidFill>
                  <a:srgbClr val="FFFFFF"/>
                </a:solidFill>
                <a:latin typeface="Inter"/>
              </a:rPr>
              <a:t>YouTube</a:t>
            </a:r>
          </a:p>
          <a:p>
            <a:pPr algn="l">
              <a:lnSpc>
                <a:spcPct val="140000"/>
              </a:lnSpc>
            </a:pPr>
            <a:r>
              <a:rPr sz="1400" b="0" i="0">
                <a:solidFill>
                  <a:srgbClr val="FFFFFF"/>
                </a:solidFill>
                <a:latin typeface="Inter"/>
              </a:rPr>
              <a:t>Facebook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