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1A3C5E"/>
                </a:solidFill>
                <a:latin typeface="Calibri"/>
              </a:rPr>
              <a:t>Схема преступления по сериалу «Во все тяжкие»</a:t>
            </a:r>
          </a:p>
          <a:p>
            <a:pPr algn="ctr"/>
            <a:r>
              <a:rPr sz="1800" b="0" i="1">
                <a:solidFill>
                  <a:srgbClr val="C01C28"/>
                </a:solidFill>
                <a:latin typeface="Calibri"/>
              </a:rPr>
              <a:t>Визуальный анализ связей: персонажи • события • доказательства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Лабораторное занятие №9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Создание схемы преступления в визуальной аналитической среде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Выполнила: Могилёва Анастасия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 i="0">
                <a:solidFill>
                  <a:srgbClr val="1A3C5E"/>
                </a:solidFill>
                <a:latin typeface="Calibri"/>
              </a:rPr>
              <a:t>• Цель: построить схему преступления, отображающую связи между персонажами, событиями и доказательствами, средствами визуальной аналитической среды.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Задачи:</a:t>
            </a:r>
          </a:p>
          <a:p>
            <a:pPr lvl="1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выбрать произведение с детективной/криминальной линией;</a:t>
            </a:r>
          </a:p>
          <a:p>
            <a:pPr lvl="1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выделить ключевые сущности: персонажей, события, улики;</a:t>
            </a:r>
          </a:p>
          <a:p>
            <a:pPr lvl="1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построить связи и обозначить их характер (прямые/косвенные);</a:t>
            </a:r>
          </a:p>
          <a:p>
            <a:pPr lvl="1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проанализировать схему, выявить логику и пробелы;</a:t>
            </a:r>
          </a:p>
          <a:p>
            <a:pPr lvl="1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оформить отчёт и презентацию.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555555"/>
                </a:solidFill>
                <a:latin typeface="Calibri"/>
              </a:rPr>
              <a:t>• Инструмент: IBM i2 Analyst's Notebook (link-анализ), импорт данных из CSV.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Краткий обзор произведения</a:t>
            </a:r>
          </a:p>
          <a:p>
            <a:r>
              <a:rPr sz="1400" b="0" i="0">
                <a:solidFill>
                  <a:srgbClr val="CFDDEC"/>
                </a:solidFill>
                <a:latin typeface="Calibri"/>
              </a:rPr>
              <a:t>«Во все тяжкие» (Breaking Bad), AMC, 2008–2013, 5 сезонов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Уолтер Уайт — школьный учитель химии, узнаёт о смертельном диагнозе (рак лёгких).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Чтобы обеспечить семью, он начинает подпольно производить метамфетамин вместе с бывшим учеником Джесси Пинкманом.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Под псевдонимом «Хайзенберг» Уолт превращается из жертвы обстоятельств в безжалостного главу наркоимперии.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Жанр: криминальная драма. Центральная линия — производство и сбыт наркотиков и расследование DEA.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Почему удобно для схемы: множество персонажей, чёткая преступная сеть, узнаваемые улики и причинно-следственные связи.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Методология: ключевые сущности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3040"/>
            <a:ext cx="3657600" cy="548640"/>
          </a:xfrm>
          <a:prstGeom prst="rect">
            <a:avLst/>
          </a:prstGeom>
          <a:solidFill>
            <a:srgbClr val="BBD7F2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222"/>
                </a:solidFill>
                <a:latin typeface="Calibri"/>
              </a:rPr>
              <a:t>ПЕРСОНАЖИ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3657600" cy="4297680"/>
          </a:xfrm>
          <a:prstGeom prst="rect">
            <a:avLst/>
          </a:prstGeom>
          <a:solidFill>
            <a:srgbClr val="F2F4F7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Уолт «Хайзенберг» — организатор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Джесси Пинкман — сообщник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Густаво Фринг — дистрибьютор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Майк, Сол, Лидия — инфраструктура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Хэнк (DEA) — детектив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Гейл, Брок — жертвы</a:t>
            </a:r>
          </a:p>
        </p:txBody>
      </p:sp>
      <p:sp>
        <p:nvSpPr>
          <p:cNvPr id="6" name="Rectangle 5"/>
          <p:cNvSpPr/>
          <p:nvPr/>
        </p:nvSpPr>
        <p:spPr>
          <a:xfrm>
            <a:off x="4407408" y="1463040"/>
            <a:ext cx="3657600" cy="548640"/>
          </a:xfrm>
          <a:prstGeom prst="rect">
            <a:avLst/>
          </a:prstGeom>
          <a:solidFill>
            <a:srgbClr val="F8B5B0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222"/>
                </a:solidFill>
                <a:latin typeface="Calibri"/>
              </a:rPr>
              <a:t>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2011680"/>
            <a:ext cx="3657600" cy="4297680"/>
          </a:xfrm>
          <a:prstGeom prst="rect">
            <a:avLst/>
          </a:prstGeom>
          <a:solidFill>
            <a:srgbClr val="F2F4F7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Производство «голубого мета»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Убийство Гейла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Отравление Брока (рицин)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Взрыв — гибель Гуса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Гибель Хэнка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8311896" y="1463040"/>
            <a:ext cx="3657600" cy="548640"/>
          </a:xfrm>
          <a:prstGeom prst="rect">
            <a:avLst/>
          </a:prstGeom>
          <a:solidFill>
            <a:srgbClr val="BFE3B6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222"/>
                </a:solidFill>
                <a:latin typeface="Calibri"/>
              </a:rPr>
              <a:t>ДОКАЗАТЕЛЬСТВА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2011680"/>
            <a:ext cx="3657600" cy="4297680"/>
          </a:xfrm>
          <a:prstGeom prst="rect">
            <a:avLst/>
          </a:prstGeom>
          <a:solidFill>
            <a:srgbClr val="F2F4F7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Голубой метамфетамин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Книга «Leaves of Grass» («G.B.»)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Рицин (яд)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Суперлаборатория / RV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Метиламин (сырьё)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Деньги / автомойка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Хронология ключевых событий</a:t>
            </a:r>
          </a:p>
        </p:txBody>
      </p:sp>
      <p:pic>
        <p:nvPicPr>
          <p:cNvPr id="4" name="Picture 3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83877"/>
            <a:ext cx="11430000" cy="42960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Схема преступления в IBM i2 (link-граф связей)</a:t>
            </a:r>
          </a:p>
        </p:txBody>
      </p:sp>
      <p:pic>
        <p:nvPicPr>
          <p:cNvPr id="4" name="Picture 3" descr="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57" y="1143000"/>
            <a:ext cx="4488405" cy="5486400"/>
          </a:xfrm>
          <a:prstGeom prst="rect">
            <a:avLst/>
          </a:prstGeom>
        </p:spPr>
      </p:pic>
      <p:pic>
        <p:nvPicPr>
          <p:cNvPr id="5" name="Picture 4" descr="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278796"/>
            <a:ext cx="3291839" cy="1294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2520" y="448056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22222"/>
                </a:solidFill>
                <a:latin typeface="Calibri"/>
              </a:rPr>
              <a:t>Граф построен в IBM i2 Analyst's Notebook импортом из CSV (23 узла, 36 связей). </a:t>
            </a:r>
            <a:r>
              <a:rPr sz="1200" b="0" i="0">
                <a:solidFill>
                  <a:srgbClr val="222222"/>
                </a:solidFill>
                <a:latin typeface="Calibri"/>
              </a:rPr>
              <a:t>Узлы — сущности, рёбра — связи с подписью характера отношения.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Разбор ключевых связей · ядро группы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1A3C5E"/>
                </a:solidFill>
                <a:latin typeface="Calibri"/>
              </a:rPr>
              <a:t>• Уолт ⇄ Джесси — партнёры по производству; центральная связь всей сети.</a:t>
            </a:r>
          </a:p>
          <a:p>
            <a:pPr>
              <a:spcAft>
                <a:spcPts val="13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Уолт ⇄ Скайлер — брак; жена легализует доходы через автомойку A1.</a:t>
            </a:r>
          </a:p>
          <a:p>
            <a:pPr>
              <a:spcAft>
                <a:spcPts val="13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Уолт ⇄ Сол Гудман — адвокат-«прикрытие», связывает Уолта с Майком и теневой логистикой.</a:t>
            </a:r>
          </a:p>
          <a:p>
            <a:pPr>
              <a:spcAft>
                <a:spcPts val="13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Уолт ⇄ Гус Фринг — Уолт нанят как повар; Гус обеспечивает сбыт через сеть Los Pollos Hermanos.</a:t>
            </a:r>
          </a:p>
          <a:p>
            <a:pPr>
              <a:spcAft>
                <a:spcPts val="13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Гус → Майк, Лидия — охрана и поставки метиламина (сырьё → производство).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Вывод: преступление держится не на одном человеке, а на устойчивой сети ролей.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Разбор ключевых связей · улики и расследование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 b="1" i="0">
                <a:solidFill>
                  <a:srgbClr val="C01C28"/>
                </a:solidFill>
                <a:latin typeface="Calibri"/>
              </a:rPr>
              <a:t>• «Голубой метамфетамин» — фирменная улика: именно она выводит DEA на след «Хайзенберга».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C01C28"/>
                </a:solidFill>
                <a:latin typeface="Calibri"/>
              </a:rPr>
              <a:t>• Книга «Leaves of Grass» с надписью «G.B.» (Гейл Боттикер) — ключевое доказательство: по ней Хэнк понимает, что Уолт и есть Хайзенберг.</a:t>
            </a:r>
          </a:p>
          <a:p>
            <a:pPr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Рицин — орудие отравления Брока; инструмент манипуляции Джесси (Уолт подставляет Гуса).</a:t>
            </a:r>
          </a:p>
          <a:p>
            <a:pPr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Линия DEA (золотая): Хэнк ⇄ Уолт — родство (зять) + расследование; косвенные связи долго маскируют истину.</a:t>
            </a:r>
          </a:p>
          <a:p>
            <a:pPr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Красные связи ведут к насилию: убийство Гейла, взрыв (гибель Гуса), гибель Хэнка.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Анализ построенной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1" i="0">
                <a:solidFill>
                  <a:srgbClr val="1A3C5E"/>
                </a:solidFill>
                <a:latin typeface="Calibri"/>
              </a:rPr>
              <a:t>• Логика связей замкнута и непротиворечива: каждое преступление имеет мотив, исполнителя и улику.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Косвенные связи (пунктир) — самые опасные для следствия: родство Хэнк↔Уолт маскирует подозреваемого.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Уязвимая точка сети — Уолт: он связан со всеми кластерами, его устранение разрушает всю империю.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Потенциально «пропущенные» связи в реальном следствии: финансовый след денег и поставки метиламина (Лидия) — их раскрытие ускорило бы дело.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Уточнение ролей: Гус — одновременно «дистрибьютор» и «жертва»; Джесси — «сообщник» и «жертва манипуляций».</a:t>
            </a:r>
          </a:p>
          <a:p>
            <a:pPr>
              <a:spcAft>
                <a:spcPts val="11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• Значимость: схема наглядно показывает, как бытовая мотивация перерастает в организованную преступность.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ЛР №9  •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• Визуальная аналитическая среда (link-анализ) позволяет компактно представить сложную криминальную сеть.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EF6"/>
                </a:solidFill>
                <a:latin typeface="Calibri"/>
              </a:rPr>
              <a:t>• Схема выявляет ключевую фигуру, характер связей и роль каждой улики в раскрытии преступления.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EF6"/>
                </a:solidFill>
                <a:latin typeface="Calibri"/>
              </a:rPr>
              <a:t>• Метод применим в реальной аналитике: расследования, OSINT, анализ организованных групп.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FFE08A"/>
                </a:solidFill>
                <a:latin typeface="Calibri"/>
              </a:rPr>
              <a:t>• Результат работы: схема преступления, отчёт и презентация на 10 слайдов.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1">
                <a:solidFill>
                  <a:srgbClr val="FFFFFF"/>
                </a:solidFill>
                <a:latin typeface="Calibri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