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AA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le_b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975"/>
            <a:ext cx="1371600" cy="1359809"/>
          </a:xfrm>
          <a:prstGeom prst="rect">
            <a:avLst/>
          </a:prstGeom>
        </p:spPr>
      </p:pic>
      <p:pic>
        <p:nvPicPr>
          <p:cNvPr id="4" name="Picture 3" descr="tile_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645975"/>
            <a:ext cx="1371600" cy="13598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28600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Calibri"/>
              </a:rPr>
              <a:t>Схема преступления</a:t>
            </a:r>
          </a:p>
          <a:p>
            <a:r>
              <a:rPr sz="4000" b="1" i="0">
                <a:solidFill>
                  <a:srgbClr val="5AA634"/>
                </a:solidFill>
                <a:latin typeface="Calibri"/>
              </a:rPr>
              <a:t>по сериалу «Во все тяжкие»</a:t>
            </a:r>
          </a:p>
          <a:p>
            <a:pPr>
              <a:spcBef>
                <a:spcPts val="1000"/>
              </a:spcBef>
            </a:pPr>
            <a:r>
              <a:rPr sz="1800" b="0" i="1">
                <a:solidFill>
                  <a:srgbClr val="C7D92D"/>
                </a:solidFill>
                <a:latin typeface="Calibri"/>
              </a:rPr>
              <a:t>Визуальный анализ связей: персонажи · события · доказательства</a:t>
            </a:r>
          </a:p>
        </p:txBody>
      </p:sp>
      <p:pic>
        <p:nvPicPr>
          <p:cNvPr id="6" name="Picture 5" descr="av_wa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892040"/>
            <a:ext cx="960120" cy="960120"/>
          </a:xfrm>
          <a:prstGeom prst="rect">
            <a:avLst/>
          </a:prstGeom>
        </p:spPr>
      </p:pic>
      <p:pic>
        <p:nvPicPr>
          <p:cNvPr id="7" name="Picture 6" descr="av_jes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9072" y="4892040"/>
            <a:ext cx="960120" cy="960120"/>
          </a:xfrm>
          <a:prstGeom prst="rect">
            <a:avLst/>
          </a:prstGeom>
        </p:spPr>
      </p:pic>
      <p:pic>
        <p:nvPicPr>
          <p:cNvPr id="8" name="Picture 7" descr="av_g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8064" y="4892040"/>
            <a:ext cx="960120" cy="960120"/>
          </a:xfrm>
          <a:prstGeom prst="rect">
            <a:avLst/>
          </a:prstGeom>
        </p:spPr>
      </p:pic>
      <p:pic>
        <p:nvPicPr>
          <p:cNvPr id="9" name="Picture 8" descr="av_ha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7056" y="4892040"/>
            <a:ext cx="960120" cy="960120"/>
          </a:xfrm>
          <a:prstGeom prst="rect">
            <a:avLst/>
          </a:prstGeom>
        </p:spPr>
      </p:pic>
      <p:pic>
        <p:nvPicPr>
          <p:cNvPr id="10" name="Picture 9" descr="av_skyl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6048" y="4892040"/>
            <a:ext cx="960120" cy="960120"/>
          </a:xfrm>
          <a:prstGeom prst="rect">
            <a:avLst/>
          </a:prstGeom>
        </p:spPr>
      </p:pic>
      <p:pic>
        <p:nvPicPr>
          <p:cNvPr id="11" name="Picture 10" descr="av_sau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5040" y="4892040"/>
            <a:ext cx="960120" cy="960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126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9D6CC"/>
                </a:solidFill>
                <a:latin typeface="Calibri"/>
              </a:rPr>
              <a:t>Лабораторное занятие №9  ·  IBM i2 Analyst's Notebook  ·  Выполнила: Могилёва Анастасия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2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5AA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ile_b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149448"/>
            <a:ext cx="731520" cy="725231"/>
          </a:xfrm>
          <a:prstGeom prst="rect">
            <a:avLst/>
          </a:prstGeom>
        </p:spPr>
      </p:pic>
      <p:pic>
        <p:nvPicPr>
          <p:cNvPr id="5" name="Picture 4" descr="tile_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149448"/>
            <a:ext cx="731520" cy="7252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91440"/>
            <a:ext cx="10241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Цель и задачи работы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 i="0">
                <a:solidFill>
                  <a:srgbClr val="5AA634"/>
                </a:solidFill>
                <a:latin typeface="Calibri"/>
              </a:rPr>
              <a:t>●  </a:t>
            </a:r>
            <a:r>
              <a:rPr sz="1900" b="1" i="0">
                <a:solidFill>
                  <a:srgbClr val="1E2A24"/>
                </a:solidFill>
                <a:latin typeface="Calibri"/>
              </a:rPr>
              <a:t>Цель: построить схему преступления, отражающую связи между персонажами, событиями и доказательствами, средствами визуальной аналитической среды.</a:t>
            </a:r>
          </a:p>
          <a:p>
            <a:pPr>
              <a:spcAft>
                <a:spcPts val="1200"/>
              </a:spcAft>
            </a:pPr>
            <a:r>
              <a:rPr sz="1900" b="1" i="0">
                <a:solidFill>
                  <a:srgbClr val="5AA634"/>
                </a:solidFill>
                <a:latin typeface="Calibri"/>
              </a:rPr>
              <a:t>●  </a:t>
            </a:r>
            <a:r>
              <a:rPr sz="1900" b="1" i="0">
                <a:solidFill>
                  <a:srgbClr val="3E7A24"/>
                </a:solidFill>
                <a:latin typeface="Calibri"/>
              </a:rPr>
              <a:t>Задачи:</a:t>
            </a:r>
          </a:p>
          <a:p>
            <a:pPr lvl="1">
              <a:spcAft>
                <a:spcPts val="1200"/>
              </a:spcAft>
            </a:pPr>
            <a:r>
              <a:rPr sz="1700" b="1" i="0">
                <a:solidFill>
                  <a:srgbClr val="5B6B63"/>
                </a:solidFill>
                <a:latin typeface="Calibri"/>
              </a:rPr>
              <a:t>–  </a:t>
            </a:r>
            <a:r>
              <a:rPr sz="1700" b="0" i="0">
                <a:solidFill>
                  <a:srgbClr val="1E2A24"/>
                </a:solidFill>
                <a:latin typeface="Calibri"/>
              </a:rPr>
              <a:t>выбрать произведение с криминальной линией — сериал «Во все тяжкие»;</a:t>
            </a:r>
          </a:p>
          <a:p>
            <a:pPr lvl="1">
              <a:spcAft>
                <a:spcPts val="1200"/>
              </a:spcAft>
            </a:pPr>
            <a:r>
              <a:rPr sz="1700" b="1" i="0">
                <a:solidFill>
                  <a:srgbClr val="5B6B63"/>
                </a:solidFill>
                <a:latin typeface="Calibri"/>
              </a:rPr>
              <a:t>–  </a:t>
            </a:r>
            <a:r>
              <a:rPr sz="1700" b="0" i="0">
                <a:solidFill>
                  <a:srgbClr val="1E2A24"/>
                </a:solidFill>
                <a:latin typeface="Calibri"/>
              </a:rPr>
              <a:t>выделить ключевые сущности: персонажей, события, улики;</a:t>
            </a:r>
          </a:p>
          <a:p>
            <a:pPr lvl="1">
              <a:spcAft>
                <a:spcPts val="1200"/>
              </a:spcAft>
            </a:pPr>
            <a:r>
              <a:rPr sz="1700" b="1" i="0">
                <a:solidFill>
                  <a:srgbClr val="5B6B63"/>
                </a:solidFill>
                <a:latin typeface="Calibri"/>
              </a:rPr>
              <a:t>–  </a:t>
            </a:r>
            <a:r>
              <a:rPr sz="1700" b="0" i="0">
                <a:solidFill>
                  <a:srgbClr val="1E2A24"/>
                </a:solidFill>
                <a:latin typeface="Calibri"/>
              </a:rPr>
              <a:t>построить связи и обозначить их характер (прямые / косвенные);</a:t>
            </a:r>
          </a:p>
          <a:p>
            <a:pPr lvl="1">
              <a:spcAft>
                <a:spcPts val="1200"/>
              </a:spcAft>
            </a:pPr>
            <a:r>
              <a:rPr sz="1700" b="1" i="0">
                <a:solidFill>
                  <a:srgbClr val="5B6B63"/>
                </a:solidFill>
                <a:latin typeface="Calibri"/>
              </a:rPr>
              <a:t>–  </a:t>
            </a:r>
            <a:r>
              <a:rPr sz="1700" b="0" i="0">
                <a:solidFill>
                  <a:srgbClr val="1E2A24"/>
                </a:solidFill>
                <a:latin typeface="Calibri"/>
              </a:rPr>
              <a:t>проанализировать схему, выявить логику и пробелы;</a:t>
            </a:r>
          </a:p>
          <a:p>
            <a:pPr lvl="1">
              <a:spcAft>
                <a:spcPts val="1200"/>
              </a:spcAft>
            </a:pPr>
            <a:r>
              <a:rPr sz="1700" b="1" i="0">
                <a:solidFill>
                  <a:srgbClr val="5B6B63"/>
                </a:solidFill>
                <a:latin typeface="Calibri"/>
              </a:rPr>
              <a:t>–  </a:t>
            </a:r>
            <a:r>
              <a:rPr sz="1700" b="0" i="0">
                <a:solidFill>
                  <a:srgbClr val="1E2A24"/>
                </a:solidFill>
                <a:latin typeface="Calibri"/>
              </a:rPr>
              <a:t>оформить отчёт и презентацию.</a:t>
            </a:r>
          </a:p>
          <a:p>
            <a:pPr>
              <a:spcAft>
                <a:spcPts val="1200"/>
              </a:spcAft>
            </a:pPr>
            <a:r>
              <a:rPr sz="1900" b="1" i="0">
                <a:solidFill>
                  <a:srgbClr val="5AA634"/>
                </a:solidFill>
                <a:latin typeface="Calibri"/>
              </a:rPr>
              <a:t>●  </a:t>
            </a:r>
            <a:r>
              <a:rPr sz="1900" b="1" i="0">
                <a:solidFill>
                  <a:srgbClr val="B8860B"/>
                </a:solidFill>
                <a:latin typeface="Calibri"/>
              </a:rPr>
              <a:t>Инструмент: IBM i2 Analyst's Notebook — импорт данных из CSV (Import Design).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455664"/>
            <a:ext cx="2926080" cy="27940"/>
          </a:xfrm>
          <a:prstGeom prst="rect">
            <a:avLst/>
          </a:prstGeom>
          <a:solidFill>
            <a:srgbClr val="5AA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0" y="6355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B63"/>
                </a:solidFill>
                <a:latin typeface="Calibri"/>
              </a:rPr>
              <a:t>Во все тяжкие · ЛР №9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2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5AA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ile_b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149448"/>
            <a:ext cx="731520" cy="725231"/>
          </a:xfrm>
          <a:prstGeom prst="rect">
            <a:avLst/>
          </a:prstGeom>
        </p:spPr>
      </p:pic>
      <p:pic>
        <p:nvPicPr>
          <p:cNvPr id="5" name="Picture 4" descr="tile_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149448"/>
            <a:ext cx="731520" cy="7252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91440"/>
            <a:ext cx="10241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Краткий обзор произведения</a:t>
            </a:r>
          </a:p>
          <a:p>
            <a:r>
              <a:rPr sz="1300" b="0" i="0">
                <a:solidFill>
                  <a:srgbClr val="C7D92D"/>
                </a:solidFill>
                <a:latin typeface="Calibri"/>
              </a:rPr>
              <a:t>«Во все тяжкие» (Breaking Bad) · AMC · 2008–2013 · 5 сезонов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7406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 i="0">
                <a:solidFill>
                  <a:srgbClr val="5AA634"/>
                </a:solidFill>
                <a:latin typeface="Calibri"/>
              </a:rPr>
              <a:t>●  </a:t>
            </a:r>
            <a:r>
              <a:rPr sz="1800" b="1" i="0">
                <a:solidFill>
                  <a:srgbClr val="1E2A24"/>
                </a:solidFill>
                <a:latin typeface="Calibri"/>
              </a:rPr>
              <a:t>Уолтер Уайт — школьный учитель химии, узнаёт о смертельном диагнозе.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5AA634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1E2A24"/>
                </a:solidFill>
                <a:latin typeface="Calibri"/>
              </a:rPr>
              <a:t>Чтобы обеспечить семью, начинает подпольно производить метамфетамин вместе с бывшим учеником Джесси Пинкманом.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5AA634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1E2A24"/>
                </a:solidFill>
                <a:latin typeface="Calibri"/>
              </a:rPr>
              <a:t>Под псевдонимом «Хайзенберг» превращается из жертвы обстоятельств в главу наркоимперии.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5AA634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1E2A24"/>
                </a:solidFill>
                <a:latin typeface="Calibri"/>
              </a:rPr>
              <a:t>Жанр: криминальная драма; центральная линия — производство, сбыт и расследование DEA.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5AA634"/>
                </a:solidFill>
                <a:latin typeface="Calibri"/>
              </a:rPr>
              <a:t>●  </a:t>
            </a:r>
            <a:r>
              <a:rPr sz="1800" b="1" i="0">
                <a:solidFill>
                  <a:srgbClr val="3E7A24"/>
                </a:solidFill>
                <a:latin typeface="Calibri"/>
              </a:rPr>
              <a:t>Удобно для схемы: большая преступная сеть, узнаваемые улики, чёткие причинно-следственные связи.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463040"/>
            <a:ext cx="3566160" cy="4480560"/>
          </a:xfrm>
          <a:prstGeom prst="roundRect">
            <a:avLst/>
          </a:prstGeom>
          <a:solidFill>
            <a:srgbClr val="F1F5F0"/>
          </a:solidFill>
          <a:ln w="20320">
            <a:solidFill>
              <a:srgbClr val="5AA63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463040"/>
            <a:ext cx="356616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5AA634"/>
                </a:solidFill>
                <a:latin typeface="Calibri"/>
              </a:rPr>
              <a:t>Кадр из сериала</a:t>
            </a:r>
          </a:p>
          <a:p>
            <a:pPr algn="ctr"/>
            <a:r>
              <a:rPr sz="1300" b="0" i="0">
                <a:solidFill>
                  <a:srgbClr val="5AA634"/>
                </a:solidFill>
                <a:latin typeface="Calibri"/>
              </a:rPr>
              <a:t>(вставьте фото)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455664"/>
            <a:ext cx="2926080" cy="27940"/>
          </a:xfrm>
          <a:prstGeom prst="rect">
            <a:avLst/>
          </a:prstGeom>
          <a:solidFill>
            <a:srgbClr val="5AA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0" y="6355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B63"/>
                </a:solidFill>
                <a:latin typeface="Calibri"/>
              </a:rPr>
              <a:t>Во все тяжкие · ЛР №9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2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5AA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ile_b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149448"/>
            <a:ext cx="731520" cy="725231"/>
          </a:xfrm>
          <a:prstGeom prst="rect">
            <a:avLst/>
          </a:prstGeom>
        </p:spPr>
      </p:pic>
      <p:pic>
        <p:nvPicPr>
          <p:cNvPr id="5" name="Picture 4" descr="tile_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149448"/>
            <a:ext cx="731520" cy="7252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91440"/>
            <a:ext cx="10241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Действующие лица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2670048" cy="2331720"/>
          </a:xfrm>
          <a:prstGeom prst="roundRect">
            <a:avLst/>
          </a:prstGeom>
          <a:solidFill>
            <a:srgbClr val="F1F5F0"/>
          </a:solidFill>
          <a:ln w="15240">
            <a:solidFill>
              <a:srgbClr val="DD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2670048" cy="109728"/>
          </a:xfrm>
          <a:prstGeom prst="rect">
            <a:avLst/>
          </a:prstGeom>
          <a:solidFill>
            <a:srgbClr val="3E7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v_wa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724" y="1527048"/>
            <a:ext cx="1234440" cy="1234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2807208"/>
            <a:ext cx="2487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2A24"/>
                </a:solidFill>
                <a:latin typeface="Calibri"/>
              </a:rPr>
              <a:t>Уолтер Уайт</a:t>
            </a:r>
          </a:p>
          <a:p>
            <a:pPr algn="ctr"/>
            <a:r>
              <a:rPr sz="1200" b="0" i="0">
                <a:solidFill>
                  <a:srgbClr val="5B6B63"/>
                </a:solidFill>
                <a:latin typeface="Calibri"/>
              </a:rPr>
              <a:t>«Хайзенберг» — организатор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136" y="1325880"/>
            <a:ext cx="2670048" cy="2331720"/>
          </a:xfrm>
          <a:prstGeom prst="roundRect">
            <a:avLst/>
          </a:prstGeom>
          <a:solidFill>
            <a:srgbClr val="F1F5F0"/>
          </a:solidFill>
          <a:ln w="15240">
            <a:solidFill>
              <a:srgbClr val="DD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74136" y="1325880"/>
            <a:ext cx="2670048" cy="109728"/>
          </a:xfrm>
          <a:prstGeom prst="rect">
            <a:avLst/>
          </a:prstGeom>
          <a:solidFill>
            <a:srgbClr val="2C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v_jes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1940" y="1527048"/>
            <a:ext cx="1234440" cy="12344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65576" y="2807208"/>
            <a:ext cx="2487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2A24"/>
                </a:solidFill>
                <a:latin typeface="Calibri"/>
              </a:rPr>
              <a:t>Джесси Пинкман</a:t>
            </a:r>
          </a:p>
          <a:p>
            <a:pPr algn="ctr"/>
            <a:r>
              <a:rPr sz="1200" b="0" i="0">
                <a:solidFill>
                  <a:srgbClr val="5B6B63"/>
                </a:solidFill>
                <a:latin typeface="Calibri"/>
              </a:rPr>
              <a:t>сообщник, «повар»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1325880"/>
            <a:ext cx="2670048" cy="2331720"/>
          </a:xfrm>
          <a:prstGeom prst="roundRect">
            <a:avLst/>
          </a:prstGeom>
          <a:solidFill>
            <a:srgbClr val="F1F5F0"/>
          </a:solidFill>
          <a:ln w="15240">
            <a:solidFill>
              <a:srgbClr val="DD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5352" y="1325880"/>
            <a:ext cx="2670048" cy="109728"/>
          </a:xfrm>
          <a:prstGeom prst="rect">
            <a:avLst/>
          </a:prstGeom>
          <a:solidFill>
            <a:srgbClr val="7A4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v_g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3156" y="1527048"/>
            <a:ext cx="1234440" cy="12344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36792" y="2807208"/>
            <a:ext cx="2487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2A24"/>
                </a:solidFill>
                <a:latin typeface="Calibri"/>
              </a:rPr>
              <a:t>Густаво Фринг</a:t>
            </a:r>
          </a:p>
          <a:p>
            <a:pPr algn="ctr"/>
            <a:r>
              <a:rPr sz="1200" b="0" i="0">
                <a:solidFill>
                  <a:srgbClr val="5B6B63"/>
                </a:solidFill>
                <a:latin typeface="Calibri"/>
              </a:rPr>
              <a:t>дистрибьютор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16568" y="1325880"/>
            <a:ext cx="2670048" cy="2331720"/>
          </a:xfrm>
          <a:prstGeom prst="roundRect">
            <a:avLst/>
          </a:prstGeom>
          <a:solidFill>
            <a:srgbClr val="F1F5F0"/>
          </a:solidFill>
          <a:ln w="15240">
            <a:solidFill>
              <a:srgbClr val="DD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16568" y="1325880"/>
            <a:ext cx="2670048" cy="10972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av_ha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34372" y="1527048"/>
            <a:ext cx="1234440" cy="12344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08008" y="2807208"/>
            <a:ext cx="2487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2A24"/>
                </a:solidFill>
                <a:latin typeface="Calibri"/>
              </a:rPr>
              <a:t>Хэнк Шрейдер</a:t>
            </a:r>
          </a:p>
          <a:p>
            <a:pPr algn="ctr"/>
            <a:r>
              <a:rPr sz="1200" b="0" i="0">
                <a:solidFill>
                  <a:srgbClr val="5B6B63"/>
                </a:solidFill>
                <a:latin typeface="Calibri"/>
              </a:rPr>
              <a:t>агент DEA (детектив)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840480"/>
            <a:ext cx="2670048" cy="2331720"/>
          </a:xfrm>
          <a:prstGeom prst="roundRect">
            <a:avLst/>
          </a:prstGeom>
          <a:solidFill>
            <a:srgbClr val="F1F5F0"/>
          </a:solidFill>
          <a:ln w="15240">
            <a:solidFill>
              <a:srgbClr val="DD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840480"/>
            <a:ext cx="2670048" cy="109728"/>
          </a:xfrm>
          <a:prstGeom prst="rect">
            <a:avLst/>
          </a:prstGeom>
          <a:solidFill>
            <a:srgbClr val="B04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av_skyl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724" y="4041648"/>
            <a:ext cx="1234440" cy="12344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94360" y="5321808"/>
            <a:ext cx="2487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2A24"/>
                </a:solidFill>
                <a:latin typeface="Calibri"/>
              </a:rPr>
              <a:t>Скайлер Уайт</a:t>
            </a:r>
          </a:p>
          <a:p>
            <a:pPr algn="ctr"/>
            <a:r>
              <a:rPr sz="1200" b="0" i="0">
                <a:solidFill>
                  <a:srgbClr val="5B6B63"/>
                </a:solidFill>
                <a:latin typeface="Calibri"/>
              </a:rPr>
              <a:t>жена, отмывание денег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74136" y="3840480"/>
            <a:ext cx="2670048" cy="2331720"/>
          </a:xfrm>
          <a:prstGeom prst="roundRect">
            <a:avLst/>
          </a:prstGeom>
          <a:solidFill>
            <a:srgbClr val="F1F5F0"/>
          </a:solidFill>
          <a:ln w="15240">
            <a:solidFill>
              <a:srgbClr val="DD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74136" y="3840480"/>
            <a:ext cx="2670048" cy="109728"/>
          </a:xfrm>
          <a:prstGeom prst="rect">
            <a:avLst/>
          </a:prstGeom>
          <a:solidFill>
            <a:srgbClr val="D26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av_sau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91940" y="4041648"/>
            <a:ext cx="1234440" cy="123444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465576" y="5321808"/>
            <a:ext cx="2487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2A24"/>
                </a:solidFill>
                <a:latin typeface="Calibri"/>
              </a:rPr>
              <a:t>Сол Гудман</a:t>
            </a:r>
          </a:p>
          <a:p>
            <a:pPr algn="ctr"/>
            <a:r>
              <a:rPr sz="1200" b="0" i="0">
                <a:solidFill>
                  <a:srgbClr val="5B6B63"/>
                </a:solidFill>
                <a:latin typeface="Calibri"/>
              </a:rPr>
              <a:t>адвокат, прикрытие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5352" y="3840480"/>
            <a:ext cx="2670048" cy="2331720"/>
          </a:xfrm>
          <a:prstGeom prst="roundRect">
            <a:avLst/>
          </a:prstGeom>
          <a:solidFill>
            <a:srgbClr val="F1F5F0"/>
          </a:solidFill>
          <a:ln w="15240">
            <a:solidFill>
              <a:srgbClr val="DD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45352" y="3840480"/>
            <a:ext cx="2670048" cy="109728"/>
          </a:xfrm>
          <a:prstGeom prst="rect">
            <a:avLst/>
          </a:prstGeom>
          <a:solidFill>
            <a:srgbClr val="5A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av_mik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63156" y="4041648"/>
            <a:ext cx="1234440" cy="123444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336792" y="5321808"/>
            <a:ext cx="2487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2A24"/>
                </a:solidFill>
                <a:latin typeface="Calibri"/>
              </a:rPr>
              <a:t>Майк Эрмантраут</a:t>
            </a:r>
          </a:p>
          <a:p>
            <a:pPr algn="ctr"/>
            <a:r>
              <a:rPr sz="1200" b="0" i="0">
                <a:solidFill>
                  <a:srgbClr val="5B6B63"/>
                </a:solidFill>
                <a:latin typeface="Calibri"/>
              </a:rPr>
              <a:t>охрана, «решала»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16568" y="3840480"/>
            <a:ext cx="2670048" cy="2331720"/>
          </a:xfrm>
          <a:prstGeom prst="roundRect">
            <a:avLst/>
          </a:prstGeom>
          <a:solidFill>
            <a:srgbClr val="F1F5F0"/>
          </a:solidFill>
          <a:ln w="15240">
            <a:solidFill>
              <a:srgbClr val="DD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16568" y="3840480"/>
            <a:ext cx="2670048" cy="109728"/>
          </a:xfrm>
          <a:prstGeom prst="rect">
            <a:avLst/>
          </a:prstGeom>
          <a:solidFill>
            <a:srgbClr val="6E7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av_ga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34372" y="4041648"/>
            <a:ext cx="1234440" cy="123444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208008" y="5321808"/>
            <a:ext cx="2487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2A24"/>
                </a:solidFill>
                <a:latin typeface="Calibri"/>
              </a:rPr>
              <a:t>Гейл Боттикер</a:t>
            </a:r>
          </a:p>
          <a:p>
            <a:pPr algn="ctr"/>
            <a:r>
              <a:rPr sz="1200" b="0" i="0">
                <a:solidFill>
                  <a:srgbClr val="5B6B63"/>
                </a:solidFill>
                <a:latin typeface="Calibri"/>
              </a:rPr>
              <a:t>химик — жертва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6455664"/>
            <a:ext cx="2926080" cy="27940"/>
          </a:xfrm>
          <a:prstGeom prst="rect">
            <a:avLst/>
          </a:prstGeom>
          <a:solidFill>
            <a:srgbClr val="5AA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0" y="6355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B63"/>
                </a:solidFill>
                <a:latin typeface="Calibri"/>
              </a:rPr>
              <a:t>Во все тяжкие · ЛР №9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2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5AA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ile_b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149448"/>
            <a:ext cx="731520" cy="725231"/>
          </a:xfrm>
          <a:prstGeom prst="rect">
            <a:avLst/>
          </a:prstGeom>
        </p:spPr>
      </p:pic>
      <p:pic>
        <p:nvPicPr>
          <p:cNvPr id="5" name="Picture 4" descr="tile_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149448"/>
            <a:ext cx="731520" cy="7252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91440"/>
            <a:ext cx="10241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Ключевые сущности схемы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657600" cy="566928"/>
          </a:xfrm>
          <a:prstGeom prst="roundRect">
            <a:avLst/>
          </a:prstGeom>
          <a:solidFill>
            <a:srgbClr val="BBD7F2"/>
          </a:solidFill>
          <a:ln w="1524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E2A24"/>
                </a:solidFill>
                <a:latin typeface="Calibri"/>
              </a:rPr>
              <a:t>ПЕРСОНАЖИ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3657600" cy="4206240"/>
          </a:xfrm>
          <a:prstGeom prst="roundRect">
            <a:avLst/>
          </a:prstGeom>
          <a:solidFill>
            <a:srgbClr val="F1F5F0"/>
          </a:solidFill>
          <a:ln w="15240">
            <a:solidFill>
              <a:srgbClr val="DD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spcAft>
                <a:spcPts val="900"/>
              </a:spcAft>
            </a:pPr>
            <a:r>
              <a:rPr sz="1400" b="1" i="0">
                <a:solidFill>
                  <a:srgbClr val="5AA634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2A24"/>
                </a:solidFill>
                <a:latin typeface="Calibri"/>
              </a:rPr>
              <a:t>Уолт «Хайзенберг» — организатор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5AA634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2A24"/>
                </a:solidFill>
                <a:latin typeface="Calibri"/>
              </a:rPr>
              <a:t>Джесси Пинкман — сообщник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5AA634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2A24"/>
                </a:solidFill>
                <a:latin typeface="Calibri"/>
              </a:rPr>
              <a:t>Густаво Фринг — дистрибьютор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5AA634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2A24"/>
                </a:solidFill>
                <a:latin typeface="Calibri"/>
              </a:rPr>
              <a:t>Майк · Сол · Лидия — инфраструктура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5AA634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2A24"/>
                </a:solidFill>
                <a:latin typeface="Calibri"/>
              </a:rPr>
              <a:t>Хэнк (DEA) — детектив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5AA634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2A24"/>
                </a:solidFill>
                <a:latin typeface="Calibri"/>
              </a:rPr>
              <a:t>Гейл, Брок — жертвы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371600"/>
            <a:ext cx="3657600" cy="566928"/>
          </a:xfrm>
          <a:prstGeom prst="roundRect">
            <a:avLst/>
          </a:prstGeom>
          <a:solidFill>
            <a:srgbClr val="F8B5B0"/>
          </a:solidFill>
          <a:ln w="1524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E2A24"/>
                </a:solidFill>
                <a:latin typeface="Calibri"/>
              </a:rPr>
              <a:t>СОБЫТИЯ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2011680"/>
            <a:ext cx="3657600" cy="4206240"/>
          </a:xfrm>
          <a:prstGeom prst="roundRect">
            <a:avLst/>
          </a:prstGeom>
          <a:solidFill>
            <a:srgbClr val="F1F5F0"/>
          </a:solidFill>
          <a:ln w="15240">
            <a:solidFill>
              <a:srgbClr val="DD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spcAft>
                <a:spcPts val="900"/>
              </a:spcAft>
            </a:pPr>
            <a:r>
              <a:rPr sz="1400" b="1" i="0">
                <a:solidFill>
                  <a:srgbClr val="5AA634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2A24"/>
                </a:solidFill>
                <a:latin typeface="Calibri"/>
              </a:rPr>
              <a:t>Производство «голубого мета»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5AA634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2A24"/>
                </a:solidFill>
                <a:latin typeface="Calibri"/>
              </a:rPr>
              <a:t>Убийство Гейла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5AA634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2A24"/>
                </a:solidFill>
                <a:latin typeface="Calibri"/>
              </a:rPr>
              <a:t>Отравление Брока (рицин)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5AA634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2A24"/>
                </a:solidFill>
                <a:latin typeface="Calibri"/>
              </a:rPr>
              <a:t>Взрыв — гибель Гуса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5AA634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2A24"/>
                </a:solidFill>
                <a:latin typeface="Calibri"/>
              </a:rPr>
              <a:t>Гибель Хэнка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11896" y="1371600"/>
            <a:ext cx="3657600" cy="566928"/>
          </a:xfrm>
          <a:prstGeom prst="roundRect">
            <a:avLst/>
          </a:prstGeom>
          <a:solidFill>
            <a:srgbClr val="BFE3B6"/>
          </a:solidFill>
          <a:ln w="1524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E2A24"/>
                </a:solidFill>
                <a:latin typeface="Calibri"/>
              </a:rPr>
              <a:t>ДОКАЗАТЕЛЬСТВА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11896" y="2011680"/>
            <a:ext cx="3657600" cy="4206240"/>
          </a:xfrm>
          <a:prstGeom prst="roundRect">
            <a:avLst/>
          </a:prstGeom>
          <a:solidFill>
            <a:srgbClr val="F1F5F0"/>
          </a:solidFill>
          <a:ln w="15240">
            <a:solidFill>
              <a:srgbClr val="DD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spcAft>
                <a:spcPts val="900"/>
              </a:spcAft>
            </a:pPr>
            <a:r>
              <a:rPr sz="1400" b="1" i="0">
                <a:solidFill>
                  <a:srgbClr val="5AA634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2A24"/>
                </a:solidFill>
                <a:latin typeface="Calibri"/>
              </a:rPr>
              <a:t>Голубой метамфетамин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5AA634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2A24"/>
                </a:solidFill>
                <a:latin typeface="Calibri"/>
              </a:rPr>
              <a:t>Книга «Leaves of Grass» («G.B.»)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5AA634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2A24"/>
                </a:solidFill>
                <a:latin typeface="Calibri"/>
              </a:rPr>
              <a:t>Рицин (яд)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5AA634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2A24"/>
                </a:solidFill>
                <a:latin typeface="Calibri"/>
              </a:rPr>
              <a:t>Суперлаборатория / RV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5AA634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2A24"/>
                </a:solidFill>
                <a:latin typeface="Calibri"/>
              </a:rPr>
              <a:t>Метиламин (сырьё)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5AA634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2A24"/>
                </a:solidFill>
                <a:latin typeface="Calibri"/>
              </a:rPr>
              <a:t>Деньги / автомойка A1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455664"/>
            <a:ext cx="2926080" cy="27940"/>
          </a:xfrm>
          <a:prstGeom prst="rect">
            <a:avLst/>
          </a:prstGeom>
          <a:solidFill>
            <a:srgbClr val="5AA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0" y="6355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B63"/>
                </a:solidFill>
                <a:latin typeface="Calibri"/>
              </a:rPr>
              <a:t>Во все тяжкие · ЛР №9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2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5AA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ile_b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149448"/>
            <a:ext cx="731520" cy="725231"/>
          </a:xfrm>
          <a:prstGeom prst="rect">
            <a:avLst/>
          </a:prstGeom>
        </p:spPr>
      </p:pic>
      <p:pic>
        <p:nvPicPr>
          <p:cNvPr id="5" name="Picture 4" descr="tile_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149448"/>
            <a:ext cx="731520" cy="7252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91440"/>
            <a:ext cx="10241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Хронология ключевых событий</a:t>
            </a:r>
          </a:p>
        </p:txBody>
      </p:sp>
      <p:pic>
        <p:nvPicPr>
          <p:cNvPr id="7" name="Picture 6" descr="tim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692437"/>
            <a:ext cx="11430000" cy="429608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1480" y="6455664"/>
            <a:ext cx="2926080" cy="27940"/>
          </a:xfrm>
          <a:prstGeom prst="rect">
            <a:avLst/>
          </a:prstGeom>
          <a:solidFill>
            <a:srgbClr val="5AA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0" y="6355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B63"/>
                </a:solidFill>
                <a:latin typeface="Calibri"/>
              </a:rPr>
              <a:t>Во все тяжкие · ЛР №9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2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5AA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ile_b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149448"/>
            <a:ext cx="731520" cy="725231"/>
          </a:xfrm>
          <a:prstGeom prst="rect">
            <a:avLst/>
          </a:prstGeom>
        </p:spPr>
      </p:pic>
      <p:pic>
        <p:nvPicPr>
          <p:cNvPr id="5" name="Picture 4" descr="tile_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149448"/>
            <a:ext cx="731520" cy="7252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91440"/>
            <a:ext cx="10241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Схема преступления — круговой граф (IBM i2)</a:t>
            </a:r>
          </a:p>
        </p:txBody>
      </p:sp>
      <p:pic>
        <p:nvPicPr>
          <p:cNvPr id="7" name="Picture 6" descr="scheme_circul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236" y="1097280"/>
            <a:ext cx="6644647" cy="5532120"/>
          </a:xfrm>
          <a:prstGeom prst="rect">
            <a:avLst/>
          </a:prstGeom>
        </p:spPr>
      </p:pic>
      <p:pic>
        <p:nvPicPr>
          <p:cNvPr id="8" name="Picture 7" descr="leg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2123656"/>
            <a:ext cx="3383280" cy="13305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0" y="438912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1E2A24"/>
                </a:solidFill>
                <a:latin typeface="Calibri"/>
              </a:rPr>
              <a:t>23 узла и 36 связей. Все сущности соединены в единую сеть; узлы расположены по кругу, связи проходят внутри.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455664"/>
            <a:ext cx="2926080" cy="27940"/>
          </a:xfrm>
          <a:prstGeom prst="rect">
            <a:avLst/>
          </a:prstGeom>
          <a:solidFill>
            <a:srgbClr val="5AA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0" y="6355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B63"/>
                </a:solidFill>
                <a:latin typeface="Calibri"/>
              </a:rPr>
              <a:t>Во все тяжкие · ЛР №9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2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5AA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ile_b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149448"/>
            <a:ext cx="731520" cy="725231"/>
          </a:xfrm>
          <a:prstGeom prst="rect">
            <a:avLst/>
          </a:prstGeom>
        </p:spPr>
      </p:pic>
      <p:pic>
        <p:nvPicPr>
          <p:cNvPr id="5" name="Picture 4" descr="tile_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149448"/>
            <a:ext cx="731520" cy="7252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91440"/>
            <a:ext cx="10241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Разбор ключевых связей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800" b="1" i="0">
                <a:solidFill>
                  <a:srgbClr val="5AA634"/>
                </a:solidFill>
                <a:latin typeface="Calibri"/>
              </a:rPr>
              <a:t>●  </a:t>
            </a:r>
            <a:r>
              <a:rPr sz="1800" b="1" i="0">
                <a:solidFill>
                  <a:srgbClr val="3E7A24"/>
                </a:solidFill>
                <a:latin typeface="Calibri"/>
              </a:rPr>
              <a:t>Уолт ⇄ Джесси — ядро сети: партнёры по производству.</a:t>
            </a:r>
          </a:p>
          <a:p>
            <a:pPr>
              <a:spcAft>
                <a:spcPts val="1300"/>
              </a:spcAft>
            </a:pPr>
            <a:r>
              <a:rPr sz="1800" b="1" i="0">
                <a:solidFill>
                  <a:srgbClr val="5AA634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1E2A24"/>
                </a:solidFill>
                <a:latin typeface="Calibri"/>
              </a:rPr>
              <a:t>Уолт ⇄ Гус Фринг — наём «повара» и канал сбыта (Los Pollos Hermanos); Майк и Лидия обеспечивают охрану и сырьё.</a:t>
            </a:r>
          </a:p>
          <a:p>
            <a:pPr>
              <a:spcAft>
                <a:spcPts val="1300"/>
              </a:spcAft>
            </a:pPr>
            <a:r>
              <a:rPr sz="1800" b="1" i="0">
                <a:solidFill>
                  <a:srgbClr val="5AA634"/>
                </a:solidFill>
                <a:latin typeface="Calibri"/>
              </a:rPr>
              <a:t>●  </a:t>
            </a:r>
            <a:r>
              <a:rPr sz="1800" b="1" i="0">
                <a:solidFill>
                  <a:srgbClr val="C0392B"/>
                </a:solidFill>
                <a:latin typeface="Calibri"/>
              </a:rPr>
              <a:t>«Голубой мет» — фирменная улика, выводит DEA на след «Хайзенберга».</a:t>
            </a:r>
          </a:p>
          <a:p>
            <a:pPr>
              <a:spcAft>
                <a:spcPts val="1300"/>
              </a:spcAft>
            </a:pPr>
            <a:r>
              <a:rPr sz="1800" b="1" i="0">
                <a:solidFill>
                  <a:srgbClr val="5AA634"/>
                </a:solidFill>
                <a:latin typeface="Calibri"/>
              </a:rPr>
              <a:t>●  </a:t>
            </a:r>
            <a:r>
              <a:rPr sz="1800" b="1" i="0">
                <a:solidFill>
                  <a:srgbClr val="C0392B"/>
                </a:solidFill>
                <a:latin typeface="Calibri"/>
              </a:rPr>
              <a:t>Книга «Leaves of Grass» с надписью «G.B.» — ключевое доказательство: Хэнк понимает, кто такой Хайзенберг.</a:t>
            </a:r>
          </a:p>
          <a:p>
            <a:pPr>
              <a:spcAft>
                <a:spcPts val="1300"/>
              </a:spcAft>
            </a:pPr>
            <a:r>
              <a:rPr sz="1800" b="1" i="0">
                <a:solidFill>
                  <a:srgbClr val="5AA634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1E2A24"/>
                </a:solidFill>
                <a:latin typeface="Calibri"/>
              </a:rPr>
              <a:t>Рицин — орудие отравления Брока и инструмент манипуляции Джесси.</a:t>
            </a:r>
          </a:p>
          <a:p>
            <a:pPr>
              <a:spcAft>
                <a:spcPts val="1300"/>
              </a:spcAft>
            </a:pPr>
            <a:r>
              <a:rPr sz="1800" b="1" i="0">
                <a:solidFill>
                  <a:srgbClr val="5AA634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1E2A24"/>
                </a:solidFill>
                <a:latin typeface="Calibri"/>
              </a:rPr>
              <a:t>Красные связи ведут к насилию: убийство Гейла, взрыв (гибель Гуса), гибель Хэнка.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455664"/>
            <a:ext cx="2926080" cy="27940"/>
          </a:xfrm>
          <a:prstGeom prst="rect">
            <a:avLst/>
          </a:prstGeom>
          <a:solidFill>
            <a:srgbClr val="5AA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0" y="6355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B63"/>
                </a:solidFill>
                <a:latin typeface="Calibri"/>
              </a:rPr>
              <a:t>Во все тяжкие · ЛР №9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42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5AA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ile_b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149448"/>
            <a:ext cx="731520" cy="725231"/>
          </a:xfrm>
          <a:prstGeom prst="rect">
            <a:avLst/>
          </a:prstGeom>
        </p:spPr>
      </p:pic>
      <p:pic>
        <p:nvPicPr>
          <p:cNvPr id="5" name="Picture 4" descr="tile_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149448"/>
            <a:ext cx="731520" cy="7252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91440"/>
            <a:ext cx="10241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Анализ построенной схемы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800" b="1" i="0">
                <a:solidFill>
                  <a:srgbClr val="5AA634"/>
                </a:solidFill>
                <a:latin typeface="Calibri"/>
              </a:rPr>
              <a:t>●  </a:t>
            </a:r>
            <a:r>
              <a:rPr sz="1800" b="1" i="0">
                <a:solidFill>
                  <a:srgbClr val="3E7A24"/>
                </a:solidFill>
                <a:latin typeface="Calibri"/>
              </a:rPr>
              <a:t>Логика связей непротиворечива: у каждого преступления есть мотив, исполнитель и улика.</a:t>
            </a:r>
          </a:p>
          <a:p>
            <a:pPr>
              <a:spcAft>
                <a:spcPts val="1300"/>
              </a:spcAft>
            </a:pPr>
            <a:r>
              <a:rPr sz="1800" b="1" i="0">
                <a:solidFill>
                  <a:srgbClr val="5AA634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1E2A24"/>
                </a:solidFill>
                <a:latin typeface="Calibri"/>
              </a:rPr>
              <a:t>Косвенные связи (пунктир) — самые опасные для следствия: родство Хэнк↔Уолт долго маскирует подозреваемого.</a:t>
            </a:r>
          </a:p>
          <a:p>
            <a:pPr>
              <a:spcAft>
                <a:spcPts val="1300"/>
              </a:spcAft>
            </a:pPr>
            <a:r>
              <a:rPr sz="1800" b="1" i="0">
                <a:solidFill>
                  <a:srgbClr val="5AA634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1E2A24"/>
                </a:solidFill>
                <a:latin typeface="Calibri"/>
              </a:rPr>
              <a:t>Уязвимая точка сети — Уолт: связан со всеми кластерами; его устранение разрушает всю империю (подтверждается SNA-анализом).</a:t>
            </a:r>
          </a:p>
          <a:p>
            <a:pPr>
              <a:spcAft>
                <a:spcPts val="1300"/>
              </a:spcAft>
            </a:pPr>
            <a:r>
              <a:rPr sz="1800" b="1" i="0">
                <a:solidFill>
                  <a:srgbClr val="5AA634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1E2A24"/>
                </a:solidFill>
                <a:latin typeface="Calibri"/>
              </a:rPr>
              <a:t>Потенциально «пропущенные» связи: финансовый след денег и поставки метиламина (Лидия) — их раскрытие ускорило бы дело.</a:t>
            </a:r>
          </a:p>
          <a:p>
            <a:pPr>
              <a:spcAft>
                <a:spcPts val="1300"/>
              </a:spcAft>
            </a:pPr>
            <a:r>
              <a:rPr sz="1800" b="1" i="0">
                <a:solidFill>
                  <a:srgbClr val="5AA634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1E2A24"/>
                </a:solidFill>
                <a:latin typeface="Calibri"/>
              </a:rPr>
              <a:t>Двойные роли: Гус — «дистрибьютор» и «жертва»; Джесси — «сообщник» и «жертва манипуляций».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455664"/>
            <a:ext cx="2926080" cy="27940"/>
          </a:xfrm>
          <a:prstGeom prst="rect">
            <a:avLst/>
          </a:prstGeom>
          <a:solidFill>
            <a:srgbClr val="5AA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0" y="6355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B63"/>
                </a:solidFill>
                <a:latin typeface="Calibri"/>
              </a:rPr>
              <a:t>Во все тяжкие · ЛР №9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AA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le_b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552963"/>
            <a:ext cx="1005840" cy="997193"/>
          </a:xfrm>
          <a:prstGeom prst="rect">
            <a:avLst/>
          </a:prstGeom>
        </p:spPr>
      </p:pic>
      <p:pic>
        <p:nvPicPr>
          <p:cNvPr id="4" name="Picture 3" descr="tile_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1695963"/>
            <a:ext cx="1005840" cy="9971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486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Выводы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1" i="0">
                <a:solidFill>
                  <a:srgbClr val="5AA634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Визуальная аналитическая среда (link-анализ в IBM i2) компактно представляет сложную криминальную сеть.</a:t>
            </a:r>
          </a:p>
          <a:p>
            <a:pPr>
              <a:spcAft>
                <a:spcPts val="1800"/>
              </a:spcAft>
            </a:pPr>
            <a:r>
              <a:rPr sz="2000" b="1" i="0">
                <a:solidFill>
                  <a:srgbClr val="5AA634"/>
                </a:solidFill>
                <a:latin typeface="Calibri"/>
              </a:rPr>
              <a:t>●  </a:t>
            </a:r>
            <a:r>
              <a:rPr sz="2000" b="0" i="0">
                <a:solidFill>
                  <a:srgbClr val="DCE6DD"/>
                </a:solidFill>
                <a:latin typeface="Calibri"/>
              </a:rPr>
              <a:t>Схема выявляет ключевую фигуру, характер связей и роль каждой улики в раскрытии преступления.</a:t>
            </a:r>
          </a:p>
          <a:p>
            <a:pPr>
              <a:spcAft>
                <a:spcPts val="1800"/>
              </a:spcAft>
            </a:pPr>
            <a:r>
              <a:rPr sz="2000" b="1" i="0">
                <a:solidFill>
                  <a:srgbClr val="5AA634"/>
                </a:solidFill>
                <a:latin typeface="Calibri"/>
              </a:rPr>
              <a:t>●  </a:t>
            </a:r>
            <a:r>
              <a:rPr sz="2000" b="0" i="0">
                <a:solidFill>
                  <a:srgbClr val="DCE6DD"/>
                </a:solidFill>
                <a:latin typeface="Calibri"/>
              </a:rPr>
              <a:t>Метод применим в реальной аналитике: расследования, OSINT, анализ организованных групп.</a:t>
            </a:r>
          </a:p>
          <a:p>
            <a:pPr>
              <a:spcAft>
                <a:spcPts val="1800"/>
              </a:spcAft>
            </a:pPr>
            <a:r>
              <a:rPr sz="2000" b="1" i="0">
                <a:solidFill>
                  <a:srgbClr val="5AA634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C7D92D"/>
                </a:solidFill>
                <a:latin typeface="Calibri"/>
              </a:rPr>
              <a:t>Результат работы: круговая схема преступления, отчёт и презентация.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1">
                <a:solidFill>
                  <a:srgbClr val="FFFFFF"/>
                </a:solidFill>
                <a:latin typeface="Calibri"/>
              </a:rP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