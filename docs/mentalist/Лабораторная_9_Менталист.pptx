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i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554480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317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Calibri"/>
              </a:rPr>
              <a:t>Схема преступления</a:t>
            </a:r>
          </a:p>
          <a:p>
            <a:r>
              <a:rPr sz="4000" b="1" i="0">
                <a:solidFill>
                  <a:srgbClr val="C0392B"/>
                </a:solidFill>
                <a:latin typeface="Calibri"/>
              </a:rPr>
              <a:t>по сериалу «Менталист»</a:t>
            </a:r>
          </a:p>
          <a:p>
            <a:pPr>
              <a:spcBef>
                <a:spcPts val="1000"/>
              </a:spcBef>
            </a:pPr>
            <a:r>
              <a:rPr sz="1800" b="0" i="1">
                <a:solidFill>
                  <a:srgbClr val="C79A1E"/>
                </a:solidFill>
                <a:latin typeface="Calibri"/>
              </a:rPr>
              <a:t>Дело Red John: персонажи · события · доказательства</a:t>
            </a:r>
          </a:p>
        </p:txBody>
      </p:sp>
      <p:pic>
        <p:nvPicPr>
          <p:cNvPr id="5" name="Picture 4" descr="av_j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937760"/>
            <a:ext cx="960120" cy="960120"/>
          </a:xfrm>
          <a:prstGeom prst="rect">
            <a:avLst/>
          </a:prstGeom>
        </p:spPr>
      </p:pic>
      <p:pic>
        <p:nvPicPr>
          <p:cNvPr id="6" name="Picture 5" descr="av_lisb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4937760"/>
            <a:ext cx="960120" cy="960120"/>
          </a:xfrm>
          <a:prstGeom prst="rect">
            <a:avLst/>
          </a:prstGeom>
        </p:spPr>
      </p:pic>
      <p:pic>
        <p:nvPicPr>
          <p:cNvPr id="7" name="Picture 6" descr="av_redjoh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064" y="4937760"/>
            <a:ext cx="960120" cy="960120"/>
          </a:xfrm>
          <a:prstGeom prst="rect">
            <a:avLst/>
          </a:prstGeom>
        </p:spPr>
      </p:pic>
      <p:pic>
        <p:nvPicPr>
          <p:cNvPr id="8" name="Picture 7" descr="av_mcallis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056" y="4937760"/>
            <a:ext cx="960120" cy="960120"/>
          </a:xfrm>
          <a:prstGeom prst="rect">
            <a:avLst/>
          </a:prstGeom>
        </p:spPr>
      </p:pic>
      <p:pic>
        <p:nvPicPr>
          <p:cNvPr id="9" name="Picture 8" descr="av_stil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4937760"/>
            <a:ext cx="960120" cy="960120"/>
          </a:xfrm>
          <a:prstGeom prst="rect">
            <a:avLst/>
          </a:prstGeom>
        </p:spPr>
      </p:pic>
      <p:pic>
        <p:nvPicPr>
          <p:cNvPr id="10" name="Picture 9" descr="av_ch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4937760"/>
            <a:ext cx="960120" cy="960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126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C9D0D6"/>
                </a:solidFill>
                <a:latin typeface="Calibri"/>
              </a:rPr>
              <a:t>Лабораторное занятие №9  ·  IBM i2 Analyst's Notebook  ·  Выполнила: Могилёва Анастасия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C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i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46304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Цель и задачи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9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1E2A24"/>
                </a:solidFill>
                <a:latin typeface="Calibri"/>
              </a:rPr>
              <a:t>Цель: построить схему преступления, отражающую связи между персонажами, событиями и доказательствами, средствами IBM i2 Analyst's Notebook.</a:t>
            </a:r>
          </a:p>
          <a:p>
            <a:pPr>
              <a:spcAft>
                <a:spcPts val="1100"/>
              </a:spcAft>
            </a:pPr>
            <a:r>
              <a:rPr sz="19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C0392B"/>
                </a:solidFill>
                <a:latin typeface="Calibri"/>
              </a:rPr>
              <a:t>Задачи:</a:t>
            </a:r>
          </a:p>
          <a:p>
            <a:pPr lvl="1">
              <a:spcAft>
                <a:spcPts val="1100"/>
              </a:spcAft>
            </a:pPr>
            <a:r>
              <a:rPr sz="1700" b="1" i="0">
                <a:solidFill>
                  <a:srgbClr val="5B636B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1E2A24"/>
                </a:solidFill>
                <a:latin typeface="Calibri"/>
              </a:rPr>
              <a:t>выбрать произведение с детективной линией — сериал «Менталист»;</a:t>
            </a:r>
          </a:p>
          <a:p>
            <a:pPr lvl="1">
              <a:spcAft>
                <a:spcPts val="1100"/>
              </a:spcAft>
            </a:pPr>
            <a:r>
              <a:rPr sz="1700" b="1" i="0">
                <a:solidFill>
                  <a:srgbClr val="5B636B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1E2A24"/>
                </a:solidFill>
                <a:latin typeface="Calibri"/>
              </a:rPr>
              <a:t>сосредоточиться на сквозной арке поиска Red John;</a:t>
            </a:r>
          </a:p>
          <a:p>
            <a:pPr lvl="1">
              <a:spcAft>
                <a:spcPts val="1100"/>
              </a:spcAft>
            </a:pPr>
            <a:r>
              <a:rPr sz="1700" b="1" i="0">
                <a:solidFill>
                  <a:srgbClr val="5B636B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1E2A24"/>
                </a:solidFill>
                <a:latin typeface="Calibri"/>
              </a:rPr>
              <a:t>выделить персонажей, события и улики; построить связи;</a:t>
            </a:r>
          </a:p>
          <a:p>
            <a:pPr lvl="1">
              <a:spcAft>
                <a:spcPts val="1100"/>
              </a:spcAft>
            </a:pPr>
            <a:r>
              <a:rPr sz="1700" b="1" i="0">
                <a:solidFill>
                  <a:srgbClr val="5B636B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1E2A24"/>
                </a:solidFill>
                <a:latin typeface="Calibri"/>
              </a:rPr>
              <a:t>обозначить характер связей (прямые / косвенные);</a:t>
            </a:r>
          </a:p>
          <a:p>
            <a:pPr lvl="1">
              <a:spcAft>
                <a:spcPts val="1100"/>
              </a:spcAft>
            </a:pPr>
            <a:r>
              <a:rPr sz="1700" b="1" i="0">
                <a:solidFill>
                  <a:srgbClr val="5B636B"/>
                </a:solidFill>
                <a:latin typeface="Calibri"/>
              </a:rPr>
              <a:t>–  </a:t>
            </a:r>
            <a:r>
              <a:rPr sz="1700" b="0" i="0">
                <a:solidFill>
                  <a:srgbClr val="1E2A24"/>
                </a:solidFill>
                <a:latin typeface="Calibri"/>
              </a:rPr>
              <a:t>проанализировать схему и оформить отчёт и презентацию.</a:t>
            </a:r>
          </a:p>
          <a:p>
            <a:pPr>
              <a:spcAft>
                <a:spcPts val="1100"/>
              </a:spcAft>
            </a:pPr>
            <a:r>
              <a:rPr sz="19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900" b="1" i="0">
                <a:solidFill>
                  <a:srgbClr val="C79A1E"/>
                </a:solidFill>
                <a:latin typeface="Calibri"/>
              </a:rPr>
              <a:t>Инструмент: IBM i2 Analyst's Notebook — импорт данных из CSV.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6B"/>
                </a:solidFill>
                <a:latin typeface="Calibri"/>
              </a:rPr>
              <a:t>Менталист · ЛР №9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C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i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46304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Краткий обзор произведения</a:t>
            </a:r>
          </a:p>
          <a:p>
            <a:r>
              <a:rPr sz="1300" b="0" i="0">
                <a:solidFill>
                  <a:srgbClr val="C79A1E"/>
                </a:solidFill>
                <a:latin typeface="Calibri"/>
              </a:rPr>
              <a:t>«Менталист» (The Mentalist) · CBS · 2008–2015 · 7 сезонов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7406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1E2A24"/>
                </a:solidFill>
                <a:latin typeface="Calibri"/>
              </a:rPr>
              <a:t>Патрик Джейн — бывший псевдо-экстрасенс с феноменальной наблюдательностью, консультирует Калифорнийское бюро расследований (CBI).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Когда-то в телеэфире он публично оскорбил серийного убийцу Red John — и тот убил его жену и дочь.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Сквозная линия сериала — личная охота Джейна на Red John и его тайную сеть сообщников.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Жанр: процедурный детектив с криминальной аркой. Метод Джейна — дедукция и психология.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3E7A24"/>
                </a:solidFill>
                <a:latin typeface="Calibri"/>
              </a:rPr>
              <a:t>Удобно для схемы: чёткий убийца, список подозреваемых, узнаваемые улики и разветвлённая сеть.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463040"/>
            <a:ext cx="3566160" cy="4480560"/>
          </a:xfrm>
          <a:prstGeom prst="roundRect">
            <a:avLst/>
          </a:prstGeom>
          <a:solidFill>
            <a:srgbClr val="F2F3F5"/>
          </a:solidFill>
          <a:ln w="20320">
            <a:solidFill>
              <a:srgbClr val="C03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3566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Calibri"/>
              </a:rPr>
              <a:t>Кадр из сериала</a:t>
            </a:r>
          </a:p>
          <a:p>
            <a:pPr algn="ctr"/>
            <a:r>
              <a:rPr sz="1300" b="0" i="0">
                <a:solidFill>
                  <a:srgbClr val="C0392B"/>
                </a:solidFill>
                <a:latin typeface="Calibri"/>
              </a:rPr>
              <a:t>(вставьте фото)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6B"/>
                </a:solidFill>
                <a:latin typeface="Calibri"/>
              </a:rPr>
              <a:t>Менталист · ЛР №9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C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i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46304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Действующие лица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670048" cy="2331720"/>
          </a:xfrm>
          <a:prstGeom prst="roundRect">
            <a:avLst/>
          </a:prstGeom>
          <a:solidFill>
            <a:srgbClr val="F2F3F5"/>
          </a:solidFill>
          <a:ln w="1524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2670048" cy="10972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v_j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724" y="1527048"/>
            <a:ext cx="1234440" cy="1234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8072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Патрик Джейн</a:t>
            </a:r>
          </a:p>
          <a:p>
            <a:pPr algn="ctr"/>
            <a:r>
              <a:rPr sz="1200" b="0" i="0">
                <a:solidFill>
                  <a:srgbClr val="5B636B"/>
                </a:solidFill>
                <a:latin typeface="Calibri"/>
              </a:rPr>
              <a:t>консультант-менталист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325880"/>
            <a:ext cx="2670048" cy="2331720"/>
          </a:xfrm>
          <a:prstGeom prst="roundRect">
            <a:avLst/>
          </a:prstGeom>
          <a:solidFill>
            <a:srgbClr val="F2F3F5"/>
          </a:solidFill>
          <a:ln w="1524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1325880"/>
            <a:ext cx="2670048" cy="109728"/>
          </a:xfrm>
          <a:prstGeom prst="rect">
            <a:avLst/>
          </a:prstGeom>
          <a:solidFill>
            <a:srgbClr val="2C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v_lisb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940" y="1527048"/>
            <a:ext cx="1234440" cy="1234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65576" y="28072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Тереза Лисбон</a:t>
            </a:r>
          </a:p>
          <a:p>
            <a:pPr algn="ctr"/>
            <a:r>
              <a:rPr sz="1200" b="0" i="0">
                <a:solidFill>
                  <a:srgbClr val="5B636B"/>
                </a:solidFill>
                <a:latin typeface="Calibri"/>
              </a:rPr>
              <a:t>старший агент CBI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325880"/>
            <a:ext cx="2670048" cy="2331720"/>
          </a:xfrm>
          <a:prstGeom prst="roundRect">
            <a:avLst/>
          </a:prstGeom>
          <a:solidFill>
            <a:srgbClr val="F2F3F5"/>
          </a:solidFill>
          <a:ln w="1524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325880"/>
            <a:ext cx="2670048" cy="109728"/>
          </a:xfrm>
          <a:prstGeom prst="rect">
            <a:avLst/>
          </a:prstGeom>
          <a:solidFill>
            <a:srgbClr val="2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v_ch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3156" y="1527048"/>
            <a:ext cx="1234440" cy="12344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36792" y="28072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Кимбелл Чо</a:t>
            </a:r>
          </a:p>
          <a:p>
            <a:pPr algn="ctr"/>
            <a:r>
              <a:rPr sz="1200" b="0" i="0">
                <a:solidFill>
                  <a:srgbClr val="5B636B"/>
                </a:solidFill>
                <a:latin typeface="Calibri"/>
              </a:rPr>
              <a:t>агент CBI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16568" y="1325880"/>
            <a:ext cx="2670048" cy="2331720"/>
          </a:xfrm>
          <a:prstGeom prst="roundRect">
            <a:avLst/>
          </a:prstGeom>
          <a:solidFill>
            <a:srgbClr val="F2F3F5"/>
          </a:solidFill>
          <a:ln w="1524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16568" y="1325880"/>
            <a:ext cx="2670048" cy="109728"/>
          </a:xfrm>
          <a:prstGeom prst="rect">
            <a:avLst/>
          </a:prstGeom>
          <a:solidFill>
            <a:srgbClr val="4C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v_vanpe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4372" y="1527048"/>
            <a:ext cx="1234440" cy="1234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08008" y="28072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Грейс Ван Пелт</a:t>
            </a:r>
          </a:p>
          <a:p>
            <a:pPr algn="ctr"/>
            <a:r>
              <a:rPr sz="1200" b="0" i="0">
                <a:solidFill>
                  <a:srgbClr val="5B636B"/>
                </a:solidFill>
                <a:latin typeface="Calibri"/>
              </a:rPr>
              <a:t>агент CBI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40480"/>
            <a:ext cx="2670048" cy="2331720"/>
          </a:xfrm>
          <a:prstGeom prst="roundRect">
            <a:avLst/>
          </a:prstGeom>
          <a:solidFill>
            <a:srgbClr val="F2F3F5"/>
          </a:solidFill>
          <a:ln w="1524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840480"/>
            <a:ext cx="2670048" cy="109728"/>
          </a:xfrm>
          <a:prstGeom prst="rect">
            <a:avLst/>
          </a:prstGeom>
          <a:solidFill>
            <a:srgbClr val="A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v_redjoh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0724" y="4041648"/>
            <a:ext cx="1234440" cy="12344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53218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Red John</a:t>
            </a:r>
          </a:p>
          <a:p>
            <a:pPr algn="ctr"/>
            <a:r>
              <a:rPr sz="1200" b="0" i="0">
                <a:solidFill>
                  <a:srgbClr val="5B636B"/>
                </a:solidFill>
                <a:latin typeface="Calibri"/>
              </a:rPr>
              <a:t>серийный убийца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74136" y="3840480"/>
            <a:ext cx="2670048" cy="2331720"/>
          </a:xfrm>
          <a:prstGeom prst="roundRect">
            <a:avLst/>
          </a:prstGeom>
          <a:solidFill>
            <a:srgbClr val="F2F3F5"/>
          </a:solidFill>
          <a:ln w="1524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74136" y="3840480"/>
            <a:ext cx="2670048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v_mcallis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1940" y="4041648"/>
            <a:ext cx="1234440" cy="12344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465576" y="53218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Т. Макаллистер</a:t>
            </a:r>
          </a:p>
          <a:p>
            <a:pPr algn="ctr"/>
            <a:r>
              <a:rPr sz="1200" b="0" i="0">
                <a:solidFill>
                  <a:srgbClr val="5B636B"/>
                </a:solidFill>
                <a:latin typeface="Calibri"/>
              </a:rPr>
              <a:t>шериф — это Red John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3840480"/>
            <a:ext cx="2670048" cy="2331720"/>
          </a:xfrm>
          <a:prstGeom prst="roundRect">
            <a:avLst/>
          </a:prstGeom>
          <a:solidFill>
            <a:srgbClr val="F2F3F5"/>
          </a:solidFill>
          <a:ln w="1524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45352" y="3840480"/>
            <a:ext cx="2670048" cy="109728"/>
          </a:xfrm>
          <a:prstGeom prst="rect">
            <a:avLst/>
          </a:prstGeom>
          <a:solidFill>
            <a:srgbClr val="7A4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av_stil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3156" y="4041648"/>
            <a:ext cx="1234440" cy="12344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36792" y="53218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Брет Стайлз</a:t>
            </a:r>
          </a:p>
          <a:p>
            <a:pPr algn="ctr"/>
            <a:r>
              <a:rPr sz="1200" b="0" i="0">
                <a:solidFill>
                  <a:srgbClr val="5B636B"/>
                </a:solidFill>
                <a:latin typeface="Calibri"/>
              </a:rPr>
              <a:t>лидер культа (подозреваемый)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16568" y="3840480"/>
            <a:ext cx="2670048" cy="2331720"/>
          </a:xfrm>
          <a:prstGeom prst="roundRect">
            <a:avLst/>
          </a:prstGeom>
          <a:solidFill>
            <a:srgbClr val="F2F3F5"/>
          </a:solidFill>
          <a:ln w="1524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16568" y="3840480"/>
            <a:ext cx="2670048" cy="109728"/>
          </a:xfrm>
          <a:prstGeom prst="rect">
            <a:avLst/>
          </a:prstGeom>
          <a:solidFill>
            <a:srgbClr val="5A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v_rigsb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4372" y="4041648"/>
            <a:ext cx="1234440" cy="12344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208008" y="5321808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A24"/>
                </a:solidFill>
                <a:latin typeface="Calibri"/>
              </a:rPr>
              <a:t>Уэйн Ригсби</a:t>
            </a:r>
          </a:p>
          <a:p>
            <a:pPr algn="ctr"/>
            <a:r>
              <a:rPr sz="1200" b="0" i="0">
                <a:solidFill>
                  <a:srgbClr val="5B636B"/>
                </a:solidFill>
                <a:latin typeface="Calibri"/>
              </a:rPr>
              <a:t>агент CBI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6B"/>
                </a:solidFill>
                <a:latin typeface="Calibri"/>
              </a:rPr>
              <a:t>Менталист · ЛР №9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C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i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46304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Ключевые сущности схемы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57600" cy="566928"/>
          </a:xfrm>
          <a:prstGeom prst="roundRect">
            <a:avLst/>
          </a:prstGeom>
          <a:solidFill>
            <a:srgbClr val="BBD7F2"/>
          </a:solidFill>
          <a:ln w="1524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E2A24"/>
                </a:solidFill>
                <a:latin typeface="Calibri"/>
              </a:rPr>
              <a:t>ПЕРСОНАЖИ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3657600" cy="4206240"/>
          </a:xfrm>
          <a:prstGeom prst="roundRect">
            <a:avLst/>
          </a:prstGeom>
          <a:solidFill>
            <a:srgbClr val="F2F3F5"/>
          </a:solidFill>
          <a:ln w="1524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Патрик Джейн — детектив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Команда CBI: Лисбон, Чо, Ригсби, Ван Пелт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Red John — убийца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«Список семи» подозреваемых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Семья Джейна — жертвы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371600"/>
            <a:ext cx="3657600" cy="566928"/>
          </a:xfrm>
          <a:prstGeom prst="roundRect">
            <a:avLst/>
          </a:prstGeom>
          <a:solidFill>
            <a:srgbClr val="F8B5B0"/>
          </a:solidFill>
          <a:ln w="1524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E2A24"/>
                </a:solidFill>
                <a:latin typeface="Calibri"/>
              </a:rPr>
              <a:t>СОБЫТИЯ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011680"/>
            <a:ext cx="3657600" cy="4206240"/>
          </a:xfrm>
          <a:prstGeom prst="roundRect">
            <a:avLst/>
          </a:prstGeom>
          <a:solidFill>
            <a:srgbClr val="F2F3F5"/>
          </a:solidFill>
          <a:ln w="1524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Оскорбление Red John в эфире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Убийство семьи Джейна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Крот Red John в CBI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Рукопожатие с убийцей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Развязка: гибель Макаллистера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11896" y="1371600"/>
            <a:ext cx="3657600" cy="566928"/>
          </a:xfrm>
          <a:prstGeom prst="roundRect">
            <a:avLst/>
          </a:prstGeom>
          <a:solidFill>
            <a:srgbClr val="BFE3B6"/>
          </a:solidFill>
          <a:ln w="1524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E2A24"/>
                </a:solidFill>
                <a:latin typeface="Calibri"/>
              </a:rPr>
              <a:t>ДОКАЗАТЕЛЬСТВА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1896" y="2011680"/>
            <a:ext cx="3657600" cy="4206240"/>
          </a:xfrm>
          <a:prstGeom prst="roundRect">
            <a:avLst/>
          </a:prstGeom>
          <a:solidFill>
            <a:srgbClr val="F2F3F5"/>
          </a:solidFill>
          <a:ln w="15240">
            <a:solidFill>
              <a:srgbClr val="DDDF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46304"/>
          <a:lstStyle/>
          <a:p>
            <a:pPr algn="ctr"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Кровавый смайлик (почерк)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Стих У. Блейка «Tyger»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Список 7 подозреваемых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Метка «Ассоциации Блейка»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E2A24"/>
                </a:solidFill>
                <a:latin typeface="Calibri"/>
              </a:rPr>
              <a:t>Запомнившаяся деталь встречи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6B"/>
                </a:solidFill>
                <a:latin typeface="Calibri"/>
              </a:rPr>
              <a:t>Менталист · ЛР №9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C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i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46304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Хронология ключевых событий</a:t>
            </a:r>
          </a:p>
        </p:txBody>
      </p:sp>
      <p:pic>
        <p:nvPicPr>
          <p:cNvPr id="6" name="Picture 5" descr="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35614"/>
            <a:ext cx="11430000" cy="42097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6B"/>
                </a:solidFill>
                <a:latin typeface="Calibri"/>
              </a:rPr>
              <a:t>Менталист · ЛР №9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C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i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46304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Схема преступления — круговой граф (IBM i2)</a:t>
            </a:r>
          </a:p>
        </p:txBody>
      </p:sp>
      <p:pic>
        <p:nvPicPr>
          <p:cNvPr id="6" name="Picture 5" descr="scheme_circu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17" y="1097280"/>
            <a:ext cx="6754485" cy="5532120"/>
          </a:xfrm>
          <a:prstGeom prst="rect">
            <a:avLst/>
          </a:prstGeom>
        </p:spPr>
      </p:pic>
      <p:pic>
        <p:nvPicPr>
          <p:cNvPr id="7" name="Picture 6" descr="leg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158470"/>
            <a:ext cx="3383280" cy="14437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0" y="461772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E2A24"/>
                </a:solidFill>
                <a:latin typeface="Calibri"/>
              </a:rPr>
              <a:t>25 узлов и ~45 связей. Все сущности соединены в единую сеть; узлы расположены по кругу, связи проходят внутри.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6B"/>
                </a:solidFill>
                <a:latin typeface="Calibri"/>
              </a:rPr>
              <a:t>Менталист · ЛР №9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C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i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46304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Разбор ключевых связей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C0392B"/>
                </a:solidFill>
                <a:latin typeface="Calibri"/>
              </a:rPr>
              <a:t>Джейн ⇄ Red John — центральная ось схемы: личная вендетта длиною в сериал.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700" b="0" i="0">
                <a:solidFill>
                  <a:srgbClr val="1E2A24"/>
                </a:solidFill>
                <a:latin typeface="Calibri"/>
              </a:rPr>
              <a:t>Триггер: Джейн оскорбил Red John в эфире → убийство жены и дочери (жертвы).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C0392B"/>
                </a:solidFill>
                <a:latin typeface="Calibri"/>
              </a:rPr>
              <a:t>Кровавый смайлик — фирменный почерк убийцы, связывает все эпизоды.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C79A1E"/>
                </a:solidFill>
                <a:latin typeface="Calibri"/>
              </a:rPr>
              <a:t>Стих Уильяма Блейка «Tyger» — ключ к личности Red John (линия дедукции Джейна).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700" b="0" i="0">
                <a:solidFill>
                  <a:srgbClr val="1E2A24"/>
                </a:solidFill>
                <a:latin typeface="Calibri"/>
              </a:rPr>
              <a:t>«Список семи» подозреваемых связывает Джейна со всеми фигурантами.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700" b="0" i="0">
                <a:solidFill>
                  <a:srgbClr val="1E2A24"/>
                </a:solidFill>
                <a:latin typeface="Calibri"/>
              </a:rPr>
              <a:t>«Ассоциация Блейка» — тайная сеть сообщников (Бертрам, Киркланд, Хаффнер, Смит).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700" b="1" i="0">
                <a:solidFill>
                  <a:srgbClr val="1E2A24"/>
                </a:solidFill>
                <a:latin typeface="Calibri"/>
              </a:rPr>
              <a:t>Развязка: шериф Макаллистер оказался Red John — Джейн вычисляет и устраняет его.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6B"/>
                </a:solidFill>
                <a:latin typeface="Calibri"/>
              </a:rPr>
              <a:t>Менталист · ЛР №9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C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i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146304"/>
            <a:ext cx="74980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914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Анализ построенной схемы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800" b="1" i="0">
                <a:solidFill>
                  <a:srgbClr val="3E7A24"/>
                </a:solidFill>
                <a:latin typeface="Calibri"/>
              </a:rPr>
              <a:t>Логика связей непротиворечива: у преступления есть мотив (месть убийцы), исполнитель и узнаваемая улика.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Центральные узлы — Джейн и Red John: через них проходит большинство связей (подтверждается SNA-анализом центральности).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Косвенные связи (пунктир) маскируют истину: членство в «Ассоциации Блейка» долго остаётся скрытым.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«Список семи» сужает круг: схема наглядно показывает, как из множества подозреваемых выделяется Макаллистер.</a:t>
            </a:r>
          </a:p>
          <a:p>
            <a:pPr>
              <a:spcAft>
                <a:spcPts val="13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1E2A24"/>
                </a:solidFill>
                <a:latin typeface="Calibri"/>
              </a:rPr>
              <a:t>Двойные роли: Стайлз и Смит — одновременно «подозреваемые» и «помощники» Джейна.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455664"/>
            <a:ext cx="2926080" cy="279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6355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B636B"/>
                </a:solidFill>
                <a:latin typeface="Calibri"/>
              </a:rPr>
              <a:t>Менталист · ЛР №9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mil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4864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Визуальный link-анализ в IBM i2 компактно представляет сложную детективную арку Red John.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 i="0">
                <a:solidFill>
                  <a:srgbClr val="DCE0E6"/>
                </a:solidFill>
                <a:latin typeface="Calibri"/>
              </a:rPr>
              <a:t>Схема выявляет ключевые фигуры (Джейн, Red John), характер связей и роль каждой улики.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2000" b="0" i="0">
                <a:solidFill>
                  <a:srgbClr val="DCE0E6"/>
                </a:solidFill>
                <a:latin typeface="Calibri"/>
              </a:rPr>
              <a:t>Метод применим в реальной аналитике: расследования, OSINT, анализ преступных сетей.</a:t>
            </a:r>
          </a:p>
          <a:p>
            <a:pPr>
              <a:spcAft>
                <a:spcPts val="18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●  </a:t>
            </a:r>
            <a:r>
              <a:rPr sz="2000" b="1" i="0">
                <a:solidFill>
                  <a:srgbClr val="C79A1E"/>
                </a:solidFill>
                <a:latin typeface="Calibri"/>
              </a:rPr>
              <a:t>Результат работы: круговая схема преступления, отчёт и презентация.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